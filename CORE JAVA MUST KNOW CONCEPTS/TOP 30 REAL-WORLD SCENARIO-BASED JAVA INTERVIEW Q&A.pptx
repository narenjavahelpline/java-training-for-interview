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303" r:id="rId2"/>
    <p:sldId id="256" r:id="rId3"/>
    <p:sldId id="257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4" r:id="rId14"/>
    <p:sldId id="276" r:id="rId15"/>
    <p:sldId id="277" r:id="rId16"/>
    <p:sldId id="278" r:id="rId17"/>
    <p:sldId id="307" r:id="rId18"/>
    <p:sldId id="308" r:id="rId19"/>
    <p:sldId id="284" r:id="rId20"/>
    <p:sldId id="285" r:id="rId21"/>
    <p:sldId id="286" r:id="rId22"/>
    <p:sldId id="288" r:id="rId23"/>
    <p:sldId id="289" r:id="rId24"/>
    <p:sldId id="291" r:id="rId25"/>
    <p:sldId id="292" r:id="rId26"/>
    <p:sldId id="319" r:id="rId27"/>
    <p:sldId id="296" r:id="rId28"/>
    <p:sldId id="320" r:id="rId29"/>
    <p:sldId id="280" r:id="rId30"/>
    <p:sldId id="282" r:id="rId31"/>
    <p:sldId id="310" r:id="rId32"/>
    <p:sldId id="258" r:id="rId33"/>
    <p:sldId id="311" r:id="rId34"/>
    <p:sldId id="312" r:id="rId35"/>
    <p:sldId id="261" r:id="rId36"/>
    <p:sldId id="262" r:id="rId37"/>
    <p:sldId id="313" r:id="rId38"/>
    <p:sldId id="314" r:id="rId39"/>
    <p:sldId id="315" r:id="rId40"/>
    <p:sldId id="316" r:id="rId41"/>
    <p:sldId id="268" r:id="rId42"/>
    <p:sldId id="298" r:id="rId43"/>
    <p:sldId id="300" r:id="rId44"/>
    <p:sldId id="301" r:id="rId45"/>
    <p:sldId id="317" r:id="rId46"/>
    <p:sldId id="318" r:id="rId47"/>
    <p:sldId id="302" r:id="rId48"/>
    <p:sldId id="30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1DEF-188B-63FA-C5E0-886E8C04D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D03F2-341F-DC5D-AE68-0FDEC98FF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C3F64-F3DD-0966-2389-7D717DCE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3C14E-F9A2-31E3-1203-D96A3CB9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6C61A-BA28-9AF4-B577-B791544F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0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2596-44D5-0FC5-9AC7-2783150F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6F32-80D7-2EED-9D35-E435A6890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6C67A-E4AB-B316-83E4-1796A892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ED65-CA4C-8AEE-79AB-CB0F5FBC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D11A-2702-81FF-B532-BCEF998C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8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AB92-24C1-C8C6-ECEF-E7557A84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9387B-37F9-6A5C-391A-F25D890D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53E0-0A9B-559D-76BC-D078614E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496C-9410-52CA-DF2E-4B86ACB1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D0338-6B3B-7C6D-032E-25610FC3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17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A885-6E28-673C-9C94-DC77C849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B54E-5F82-4DE3-AA6D-6B257ED4F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D719C-7C2B-18BC-43F4-EB3CB74A4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5DA94-16AD-65B6-84C1-A8A1BD34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0F15-F8DC-1421-90A8-10429310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C74C-F580-D7E5-BC5F-E441600C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2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9353-B487-372C-E6B9-13C7E1AA5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163A-DE7A-467F-46F8-BC16971B0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38816-7636-4215-C157-CABA6CEB5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01778-FD8F-8A80-9EA5-6BE1CBA3E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9E49-1BF1-7D1D-1C0E-67E2E2F97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6387E-8284-512A-AE6B-E57F3EE0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20577-2384-6C8A-C408-A8182905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2ADFE-0328-595C-7FC5-C3DBE993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0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FD9D-B3BA-CEC0-883E-0B38DABC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C6C5E-E7EB-AB44-9033-E1DEC027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52957-3A8C-7730-BA09-D0407A37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BACD8-3411-DE6D-B5D0-63A2799E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0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6F8E2-DDDA-2211-AD65-EB1ABDE2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2F196-0AEA-B4C6-31F1-B8F7BDE3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BE6D3-2D8B-2DE7-0F6A-C900EE85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8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5A65-25B3-2967-285E-6F7CCE05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BAB7-FC41-17A1-BE3D-43161FCC6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86883-502E-2862-0D5D-A4C13AB90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294C7-2A21-0A38-EB4A-686B0B3B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451BF-1F0E-CDE7-209B-46B58E66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EBEC9-2166-3E2E-5524-4DC57D4E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5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B6B2-39EA-F622-C207-04AAD46A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3FC7F-D94B-51D0-FDE7-B1B6C455F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1C382-616D-A6FE-7379-CA484D93D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23CCB-094D-6234-60E6-1D711772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DD11E-76E2-E395-57C5-9A26DEE5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99FF9-874C-F8A7-D05C-0760803F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3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FEA1-7B6C-D6A7-73E1-53A0FEF5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27159-E306-20E6-585D-CC9EDD6D7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A25B5-03AE-E6FD-BCFC-CED37E69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8128-6A03-B9AA-BDB1-F61F558C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8B7AE-F27D-80C1-CA97-3AED842F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7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AC280-3C11-1A0E-86B6-A5C94CA53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4FB7D-907C-EEDC-CB4C-C6B157AC9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D95CC-2880-F4F9-1178-AE222151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7A737-5CAF-14AF-2789-26476463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4F08-35D1-0DB0-C263-758A4349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3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A9A22-2FBF-BD42-9F5A-D0391626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B16C8-B8E0-77ED-642C-3412AF00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B415B-72A3-11DE-29FE-A8440877B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6A64-8F3B-9DB0-4523-279686D08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CCF1-962E-5E26-8DA4-6F246183F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5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D227B6-7905-B4DA-9559-2EAB7E4227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32D63-EC49-A82F-890C-8C57BF054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highlight>
                  <a:srgbClr val="FFFF00"/>
                </a:highlight>
              </a:rPr>
              <a:t>Your application throws </a:t>
            </a:r>
            <a:r>
              <a:rPr sz="3200" dirty="0" err="1">
                <a:highlight>
                  <a:srgbClr val="FFFF00"/>
                </a:highlight>
              </a:rPr>
              <a:t>OutOfMemoryError</a:t>
            </a:r>
            <a:r>
              <a:rPr sz="3200" dirty="0">
                <a:highlight>
                  <a:srgbClr val="FFFF00"/>
                </a:highlight>
              </a:rPr>
              <a:t> due to Strings. Why does this happen?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942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Strings in Java are </a:t>
            </a:r>
            <a:r>
              <a:rPr lang="en-US" sz="1800" b="1" dirty="0"/>
              <a:t>immutable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Every time you change a String, Java creates a </a:t>
            </a:r>
            <a:r>
              <a:rPr lang="en-US" sz="1800" b="1" dirty="0"/>
              <a:t>new String object</a:t>
            </a:r>
            <a:r>
              <a:rPr lang="en-US" sz="1800" dirty="0"/>
              <a:t> in memory.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800" dirty="0"/>
              <a:t>If this happens repeatedly, especially inside loops, memory fills up and the JVM throws </a:t>
            </a:r>
            <a:r>
              <a:rPr lang="en-US" sz="1800" b="1" dirty="0" err="1"/>
              <a:t>OutOfMemoryError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Example: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static List&lt;String&gt; logs = new </a:t>
            </a:r>
            <a:r>
              <a:rPr lang="en-US" sz="1200" dirty="0" err="1">
                <a:highlight>
                  <a:srgbClr val="FFFF00"/>
                </a:highlight>
              </a:rPr>
              <a:t>ArrayList</a:t>
            </a:r>
            <a:r>
              <a:rPr lang="en-US" sz="1200" dirty="0">
                <a:highlight>
                  <a:srgbClr val="FFFF00"/>
                </a:highlight>
              </a:rPr>
              <a:t>&lt;&gt;();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public void </a:t>
            </a:r>
            <a:r>
              <a:rPr lang="en-US" sz="1200" dirty="0" err="1">
                <a:highlight>
                  <a:srgbClr val="FFFF00"/>
                </a:highlight>
              </a:rPr>
              <a:t>logError</a:t>
            </a:r>
            <a:r>
              <a:rPr lang="en-US" sz="1200" dirty="0">
                <a:highlight>
                  <a:srgbClr val="FFFF00"/>
                </a:highlight>
              </a:rPr>
              <a:t>(String msg) {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    </a:t>
            </a:r>
            <a:r>
              <a:rPr lang="en-US" sz="1200" dirty="0" err="1">
                <a:highlight>
                  <a:srgbClr val="FFFF00"/>
                </a:highlight>
              </a:rPr>
              <a:t>logs.add</a:t>
            </a:r>
            <a:r>
              <a:rPr lang="en-US" sz="1200" dirty="0">
                <a:highlight>
                  <a:srgbClr val="FFFF00"/>
                </a:highlight>
              </a:rPr>
              <a:t>(msg);</a:t>
            </a:r>
          </a:p>
          <a:p>
            <a:pPr marL="0" indent="0">
              <a:buNone/>
            </a:pPr>
            <a:r>
              <a:rPr lang="en-US" sz="12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br>
              <a:rPr lang="en-US" sz="1200" dirty="0"/>
            </a:br>
            <a:r>
              <a:rPr lang="en-US" sz="1800" dirty="0"/>
              <a:t>Golden Rule</a:t>
            </a:r>
          </a:p>
          <a:p>
            <a:pPr marL="0" indent="0">
              <a:buNone/>
            </a:pPr>
            <a:r>
              <a:rPr lang="en-US" sz="1800" dirty="0"/>
              <a:t>Static + Mutable + Growing data = Memory leak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 How would you optimize heavy string concatenation inside loops?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String concatenation using + inside loops is expensive because </a:t>
            </a:r>
            <a:r>
              <a:rPr lang="en-US" sz="1800" b="1" dirty="0"/>
              <a:t>Strings are immutable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Each + creates a </a:t>
            </a:r>
            <a:r>
              <a:rPr lang="en-US" sz="1800" b="1" dirty="0"/>
              <a:t>new String object</a:t>
            </a:r>
            <a:r>
              <a:rPr lang="en-US" sz="1800" dirty="0"/>
              <a:t>, leading to high memory usage and slow performance.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100" dirty="0">
                <a:highlight>
                  <a:srgbClr val="FFFF00"/>
                </a:highlight>
              </a:rPr>
              <a:t>String report = "";</a:t>
            </a:r>
          </a:p>
          <a:p>
            <a:pPr marL="0" indent="0">
              <a:buNone/>
            </a:pPr>
            <a:endParaRPr lang="en-US" sz="11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100" dirty="0">
                <a:highlight>
                  <a:srgbClr val="FFFF00"/>
                </a:highlight>
              </a:rPr>
              <a:t>for (Order </a:t>
            </a:r>
            <a:r>
              <a:rPr lang="en-US" sz="1100" dirty="0" err="1">
                <a:highlight>
                  <a:srgbClr val="FFFF00"/>
                </a:highlight>
              </a:rPr>
              <a:t>order</a:t>
            </a:r>
            <a:r>
              <a:rPr lang="en-US" sz="1100" dirty="0">
                <a:highlight>
                  <a:srgbClr val="FFFF00"/>
                </a:highlight>
              </a:rPr>
              <a:t> : orders) {</a:t>
            </a:r>
          </a:p>
          <a:p>
            <a:pPr marL="0" indent="0">
              <a:buNone/>
            </a:pPr>
            <a:r>
              <a:rPr lang="en-US" sz="1100" dirty="0">
                <a:highlight>
                  <a:srgbClr val="FFFF00"/>
                </a:highlight>
              </a:rPr>
              <a:t>    report = report + </a:t>
            </a:r>
            <a:r>
              <a:rPr lang="en-US" sz="1100" dirty="0" err="1">
                <a:highlight>
                  <a:srgbClr val="FFFF00"/>
                </a:highlight>
              </a:rPr>
              <a:t>order.getId</a:t>
            </a:r>
            <a:r>
              <a:rPr lang="en-US" sz="1100" dirty="0">
                <a:highlight>
                  <a:srgbClr val="FFFF00"/>
                </a:highlight>
              </a:rPr>
              <a:t>() + "," + </a:t>
            </a:r>
            <a:r>
              <a:rPr lang="en-US" sz="1100" dirty="0" err="1">
                <a:highlight>
                  <a:srgbClr val="FFFF00"/>
                </a:highlight>
              </a:rPr>
              <a:t>order.getAmount</a:t>
            </a:r>
            <a:r>
              <a:rPr lang="en-US" sz="1100" dirty="0">
                <a:highlight>
                  <a:srgbClr val="FFFF00"/>
                </a:highlight>
              </a:rPr>
              <a:t>() + "\n";</a:t>
            </a:r>
          </a:p>
          <a:p>
            <a:pPr marL="0" indent="0">
              <a:buNone/>
            </a:pPr>
            <a:r>
              <a:rPr lang="en-US" sz="11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StringBuilder report = new StringBuilder();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for (Order </a:t>
            </a:r>
            <a:r>
              <a:rPr lang="en-US" sz="1200" b="1" dirty="0" err="1">
                <a:solidFill>
                  <a:srgbClr val="00B050"/>
                </a:solidFill>
              </a:rPr>
              <a:t>order</a:t>
            </a:r>
            <a:r>
              <a:rPr lang="en-US" sz="1200" b="1" dirty="0">
                <a:solidFill>
                  <a:srgbClr val="00B050"/>
                </a:solidFill>
              </a:rPr>
              <a:t> : orders) {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    </a:t>
            </a:r>
            <a:r>
              <a:rPr lang="en-US" sz="1200" b="1" dirty="0" err="1">
                <a:solidFill>
                  <a:srgbClr val="00B050"/>
                </a:solidFill>
              </a:rPr>
              <a:t>report.append</a:t>
            </a:r>
            <a:r>
              <a:rPr lang="en-US" sz="1200" b="1" dirty="0">
                <a:solidFill>
                  <a:srgbClr val="00B050"/>
                </a:solidFill>
              </a:rPr>
              <a:t>(</a:t>
            </a:r>
            <a:r>
              <a:rPr lang="en-US" sz="1200" b="1" dirty="0" err="1">
                <a:solidFill>
                  <a:srgbClr val="00B050"/>
                </a:solidFill>
              </a:rPr>
              <a:t>order.getId</a:t>
            </a:r>
            <a:r>
              <a:rPr lang="en-US" sz="1200" b="1" dirty="0">
                <a:solidFill>
                  <a:srgbClr val="00B050"/>
                </a:solidFill>
              </a:rPr>
              <a:t>())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          .append(",")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          .append(</a:t>
            </a:r>
            <a:r>
              <a:rPr lang="en-US" sz="1200" b="1" dirty="0" err="1">
                <a:solidFill>
                  <a:srgbClr val="00B050"/>
                </a:solidFill>
              </a:rPr>
              <a:t>order.getAmount</a:t>
            </a:r>
            <a:r>
              <a:rPr lang="en-US" sz="1200" b="1" dirty="0">
                <a:solidFill>
                  <a:srgbClr val="00B050"/>
                </a:solidFill>
              </a:rPr>
              <a:t>())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          .append("\n");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String </a:t>
            </a:r>
            <a:r>
              <a:rPr lang="en-US" sz="1200" b="1" dirty="0" err="1">
                <a:solidFill>
                  <a:srgbClr val="00B050"/>
                </a:solidFill>
              </a:rPr>
              <a:t>finalReport</a:t>
            </a:r>
            <a:r>
              <a:rPr lang="en-US" sz="1200" b="1" dirty="0">
                <a:solidFill>
                  <a:srgbClr val="00B050"/>
                </a:solidFill>
              </a:rPr>
              <a:t> = </a:t>
            </a:r>
            <a:r>
              <a:rPr lang="en-US" sz="1200" b="1" dirty="0" err="1">
                <a:solidFill>
                  <a:srgbClr val="00B050"/>
                </a:solidFill>
              </a:rPr>
              <a:t>report.toString</a:t>
            </a:r>
            <a:r>
              <a:rPr lang="en-US" sz="1200" b="1" dirty="0">
                <a:solidFill>
                  <a:srgbClr val="00B050"/>
                </a:solidFill>
              </a:rPr>
              <a:t>();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694"/>
            <a:ext cx="8169349" cy="483818"/>
          </a:xfrm>
        </p:spPr>
        <p:txBody>
          <a:bodyPr>
            <a:normAutofit/>
          </a:bodyPr>
          <a:lstStyle/>
          <a:p>
            <a:r>
              <a:rPr sz="2000" dirty="0">
                <a:highlight>
                  <a:srgbClr val="FFFF00"/>
                </a:highlight>
              </a:rPr>
              <a:t>How do you handle exceptions in REST APIs in real-world applications?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437" y="623740"/>
            <a:ext cx="8229600" cy="6115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In real projects, we </a:t>
            </a:r>
            <a:r>
              <a:rPr lang="en-IN" sz="1200" b="1" dirty="0"/>
              <a:t>do not handle exceptions inside every controller</a:t>
            </a:r>
            <a:r>
              <a:rPr lang="en-IN" sz="1200" dirty="0"/>
              <a:t>.</a:t>
            </a:r>
            <a:br>
              <a:rPr lang="en-IN" sz="1200" dirty="0"/>
            </a:br>
            <a:r>
              <a:rPr lang="en-IN" sz="1200" dirty="0"/>
              <a:t>Instead, we handle them </a:t>
            </a:r>
            <a:r>
              <a:rPr lang="en-IN" sz="1200" b="1" dirty="0"/>
              <a:t>centrally</a:t>
            </a:r>
            <a:r>
              <a:rPr lang="en-IN" sz="1200" dirty="0"/>
              <a:t> and return </a:t>
            </a:r>
            <a:r>
              <a:rPr lang="en-IN" sz="1200" b="1" dirty="0"/>
              <a:t>clean, meaningful HTTP responses</a:t>
            </a:r>
            <a:r>
              <a:rPr lang="en-IN" sz="1200" dirty="0"/>
              <a:t> to the client.</a:t>
            </a:r>
          </a:p>
          <a:p>
            <a:pPr marL="0" indent="0">
              <a:buNone/>
            </a:pPr>
            <a:r>
              <a:rPr lang="en-IN" sz="1200" dirty="0"/>
              <a:t>In </a:t>
            </a:r>
            <a:r>
              <a:rPr lang="en-IN" sz="1200" b="1" dirty="0"/>
              <a:t>Spring Boot</a:t>
            </a:r>
            <a:r>
              <a:rPr lang="en-IN" sz="1200" dirty="0"/>
              <a:t>, this is done using @ControllerAdvice.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b="1" dirty="0"/>
              <a:t>❌ Do NOT do this in Controller</a:t>
            </a:r>
          </a:p>
          <a:p>
            <a:pPr marL="0" indent="0">
              <a:buNone/>
            </a:pPr>
            <a:r>
              <a:rPr lang="en-IN" sz="1200" dirty="0"/>
              <a:t>(Avoid try–catch in every API)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@GetMapping("/users/{id}")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public User </a:t>
            </a:r>
            <a:r>
              <a:rPr lang="en-IN" sz="1200" dirty="0" err="1">
                <a:highlight>
                  <a:srgbClr val="FFFF00"/>
                </a:highlight>
              </a:rPr>
              <a:t>getUser</a:t>
            </a:r>
            <a:r>
              <a:rPr lang="en-IN" sz="1200" dirty="0">
                <a:highlight>
                  <a:srgbClr val="FFFF00"/>
                </a:highlight>
              </a:rPr>
              <a:t>(@PathVariable String id)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try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    return </a:t>
            </a:r>
            <a:r>
              <a:rPr lang="en-IN" sz="1200" dirty="0" err="1">
                <a:highlight>
                  <a:srgbClr val="FFFF00"/>
                </a:highlight>
              </a:rPr>
              <a:t>userService.getUser</a:t>
            </a:r>
            <a:r>
              <a:rPr lang="en-IN" sz="1200" dirty="0">
                <a:highlight>
                  <a:srgbClr val="FFFF00"/>
                </a:highlight>
              </a:rPr>
              <a:t>(id);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} catch (Exception e)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    throw new </a:t>
            </a:r>
            <a:r>
              <a:rPr lang="en-IN" sz="1200" dirty="0" err="1">
                <a:highlight>
                  <a:srgbClr val="FFFF00"/>
                </a:highlight>
              </a:rPr>
              <a:t>RuntimeException</a:t>
            </a:r>
            <a:r>
              <a:rPr lang="en-IN" sz="1200" dirty="0">
                <a:highlight>
                  <a:srgbClr val="FFFF00"/>
                </a:highlight>
              </a:rPr>
              <a:t>(e);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br>
              <a:rPr lang="en-IN" sz="1200" dirty="0"/>
            </a:br>
            <a:r>
              <a:rPr lang="en-IN" sz="1200" b="1" dirty="0"/>
              <a:t>Service layer (throw business exception)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public User </a:t>
            </a:r>
            <a:r>
              <a:rPr lang="en-IN" sz="1200" dirty="0" err="1">
                <a:solidFill>
                  <a:srgbClr val="00B050"/>
                </a:solidFill>
              </a:rPr>
              <a:t>getUser</a:t>
            </a:r>
            <a:r>
              <a:rPr lang="en-IN" sz="1200" dirty="0">
                <a:solidFill>
                  <a:srgbClr val="00B050"/>
                </a:solidFill>
              </a:rPr>
              <a:t>(String id)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return </a:t>
            </a:r>
            <a:r>
              <a:rPr lang="en-IN" sz="1200" dirty="0" err="1">
                <a:solidFill>
                  <a:srgbClr val="00B050"/>
                </a:solidFill>
              </a:rPr>
              <a:t>userRepo.findById</a:t>
            </a:r>
            <a:r>
              <a:rPr lang="en-IN" sz="1200" dirty="0">
                <a:solidFill>
                  <a:srgbClr val="00B050"/>
                </a:solidFill>
              </a:rPr>
              <a:t>(id)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    .</a:t>
            </a:r>
            <a:r>
              <a:rPr lang="en-IN" sz="1200" dirty="0" err="1">
                <a:solidFill>
                  <a:srgbClr val="00B050"/>
                </a:solidFill>
              </a:rPr>
              <a:t>orElseThrow</a:t>
            </a:r>
            <a:r>
              <a:rPr lang="en-IN" sz="1200" dirty="0">
                <a:solidFill>
                  <a:srgbClr val="00B050"/>
                </a:solidFill>
              </a:rPr>
              <a:t>(() -&gt; new </a:t>
            </a:r>
            <a:r>
              <a:rPr lang="en-IN" sz="1200" dirty="0" err="1">
                <a:solidFill>
                  <a:srgbClr val="00B050"/>
                </a:solidFill>
              </a:rPr>
              <a:t>UserNotFoundException</a:t>
            </a:r>
            <a:r>
              <a:rPr lang="en-IN" sz="1200" dirty="0">
                <a:solidFill>
                  <a:srgbClr val="00B050"/>
                </a:solidFill>
              </a:rPr>
              <a:t>("User not found"));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1200" b="1" dirty="0"/>
              <a:t>Global Exception Handler</a:t>
            </a:r>
          </a:p>
          <a:p>
            <a:pPr marL="0" indent="0">
              <a:buNone/>
            </a:pPr>
            <a:r>
              <a:rPr lang="en-IN" sz="1200" dirty="0"/>
              <a:t>@RestControllerAdvice</a:t>
            </a:r>
          </a:p>
          <a:p>
            <a:pPr marL="0" indent="0">
              <a:buNone/>
            </a:pPr>
            <a:r>
              <a:rPr lang="en-IN" sz="1200" dirty="0"/>
              <a:t>class </a:t>
            </a:r>
            <a:r>
              <a:rPr lang="en-IN" sz="1200" dirty="0" err="1"/>
              <a:t>GlobalHandler</a:t>
            </a:r>
            <a:r>
              <a:rPr lang="en-IN" sz="1200" dirty="0"/>
              <a:t> {</a:t>
            </a:r>
          </a:p>
          <a:p>
            <a:pPr marL="0" indent="0">
              <a:buNone/>
            </a:pPr>
            <a:r>
              <a:rPr lang="en-IN" sz="1200" dirty="0"/>
              <a:t>    @ExceptionHandler(UserNotFoundException.class)</a:t>
            </a:r>
          </a:p>
          <a:p>
            <a:pPr marL="0" indent="0">
              <a:buNone/>
            </a:pPr>
            <a:r>
              <a:rPr lang="en-IN" sz="1200" dirty="0"/>
              <a:t>    </a:t>
            </a:r>
            <a:r>
              <a:rPr lang="en-IN" sz="1200" dirty="0" err="1"/>
              <a:t>ResponseEntity</a:t>
            </a:r>
            <a:r>
              <a:rPr lang="en-IN" sz="1200" dirty="0"/>
              <a:t>&lt;String&gt; handle(</a:t>
            </a:r>
            <a:r>
              <a:rPr lang="en-IN" sz="1200" dirty="0" err="1"/>
              <a:t>UserNotFoundException</a:t>
            </a:r>
            <a:r>
              <a:rPr lang="en-IN" sz="1200" dirty="0"/>
              <a:t> e) {</a:t>
            </a:r>
          </a:p>
          <a:p>
            <a:pPr marL="0" indent="0">
              <a:buNone/>
            </a:pPr>
            <a:r>
              <a:rPr lang="en-IN" sz="1200" dirty="0"/>
              <a:t>        return </a:t>
            </a:r>
            <a:r>
              <a:rPr lang="en-IN" sz="1200" dirty="0" err="1"/>
              <a:t>ResponseEntity.status</a:t>
            </a:r>
            <a:r>
              <a:rPr lang="en-IN" sz="1200" dirty="0"/>
              <a:t>(404).body(</a:t>
            </a:r>
            <a:r>
              <a:rPr lang="en-IN" sz="1200" dirty="0" err="1"/>
              <a:t>e.getMessage</a:t>
            </a:r>
            <a:r>
              <a:rPr lang="en-IN" sz="1200" dirty="0"/>
              <a:t>());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}</a:t>
            </a:r>
          </a:p>
          <a:p>
            <a:pPr marL="0" indent="0">
              <a:buNone/>
            </a:pPr>
            <a:br>
              <a:rPr lang="en-IN" sz="1200" dirty="0"/>
            </a:br>
            <a:endParaRPr lang="en-IN" sz="1200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>
                <a:highlight>
                  <a:srgbClr val="FFFF00"/>
                </a:highlight>
              </a:rPr>
              <a:t>How do you log exceptions without losing the root cause?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0968"/>
            <a:ext cx="8229600" cy="4765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To avoid losing the root cause, always log the exception object along with a meaningful message.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b="1" dirty="0"/>
              <a:t>❌ Wrong way (very common mistake)</a:t>
            </a:r>
          </a:p>
          <a:p>
            <a:pPr marL="0" indent="0">
              <a:buNone/>
            </a:pPr>
            <a:r>
              <a:rPr lang="en-IN" sz="1400" dirty="0">
                <a:highlight>
                  <a:srgbClr val="FFFF00"/>
                </a:highlight>
              </a:rPr>
              <a:t>catch (Exception e) {</a:t>
            </a:r>
          </a:p>
          <a:p>
            <a:pPr marL="0" indent="0">
              <a:buNone/>
            </a:pPr>
            <a:r>
              <a:rPr lang="en-IN" sz="1400" dirty="0">
                <a:highlight>
                  <a:srgbClr val="FFFF00"/>
                </a:highlight>
              </a:rPr>
              <a:t>    </a:t>
            </a:r>
            <a:r>
              <a:rPr lang="en-IN" sz="1400" dirty="0" err="1">
                <a:highlight>
                  <a:srgbClr val="FFFF00"/>
                </a:highlight>
              </a:rPr>
              <a:t>log.error</a:t>
            </a:r>
            <a:r>
              <a:rPr lang="en-IN" sz="1400" dirty="0">
                <a:highlight>
                  <a:srgbClr val="FFFF00"/>
                </a:highlight>
              </a:rPr>
              <a:t>(</a:t>
            </a:r>
            <a:r>
              <a:rPr lang="en-IN" sz="1400" dirty="0" err="1">
                <a:highlight>
                  <a:srgbClr val="FFFF00"/>
                </a:highlight>
              </a:rPr>
              <a:t>e.getMessage</a:t>
            </a:r>
            <a:r>
              <a:rPr lang="en-IN" sz="1400" dirty="0">
                <a:highlight>
                  <a:srgbClr val="FFFF00"/>
                </a:highlight>
              </a:rPr>
              <a:t>());</a:t>
            </a:r>
          </a:p>
          <a:p>
            <a:pPr marL="0" indent="0">
              <a:buNone/>
            </a:pPr>
            <a:r>
              <a:rPr lang="en-IN" sz="14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r>
              <a:rPr lang="en-IN" sz="1400" dirty="0"/>
              <a:t>❌ Loses stack trace</a:t>
            </a:r>
            <a:br>
              <a:rPr lang="en-IN" sz="1400" dirty="0"/>
            </a:br>
            <a:r>
              <a:rPr lang="en-IN" sz="1400" dirty="0"/>
              <a:t>❌ Hard to debug production issues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Correct way (real-world practice)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B050"/>
                </a:solidFill>
              </a:rPr>
              <a:t>catch (Exception e)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B050"/>
                </a:solidFill>
              </a:rPr>
              <a:t>    </a:t>
            </a:r>
            <a:r>
              <a:rPr lang="en-IN" sz="1400" dirty="0" err="1">
                <a:solidFill>
                  <a:srgbClr val="00B050"/>
                </a:solidFill>
              </a:rPr>
              <a:t>log.error</a:t>
            </a:r>
            <a:r>
              <a:rPr lang="en-IN" sz="1400" dirty="0">
                <a:solidFill>
                  <a:srgbClr val="00B050"/>
                </a:solidFill>
              </a:rPr>
              <a:t>("Order processing failed", e);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143"/>
          </a:xfrm>
        </p:spPr>
        <p:txBody>
          <a:bodyPr>
            <a:normAutofit/>
          </a:bodyPr>
          <a:lstStyle/>
          <a:p>
            <a:r>
              <a:rPr sz="2400" dirty="0">
                <a:highlight>
                  <a:srgbClr val="FFFF00"/>
                </a:highlight>
              </a:rPr>
              <a:t>How would you design a thread-safe in-memory cache?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0100"/>
            <a:ext cx="8461744" cy="5783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Use a </a:t>
            </a:r>
            <a:r>
              <a:rPr lang="en-IN" sz="1200" b="1" dirty="0" err="1"/>
              <a:t>ConcurrentHashMap</a:t>
            </a:r>
            <a:r>
              <a:rPr lang="en-IN" sz="1200" dirty="0"/>
              <a:t>, store </a:t>
            </a:r>
            <a:r>
              <a:rPr lang="en-IN" sz="1200" b="1" dirty="0"/>
              <a:t>immutable values</a:t>
            </a:r>
            <a:r>
              <a:rPr lang="en-IN" sz="1200" dirty="0"/>
              <a:t>, and </a:t>
            </a:r>
            <a:r>
              <a:rPr lang="en-IN" sz="1200" b="1" dirty="0"/>
              <a:t>control the cache size</a:t>
            </a:r>
            <a:r>
              <a:rPr lang="en-IN" sz="1200" dirty="0"/>
              <a:t>.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In real projects, </a:t>
            </a:r>
            <a:r>
              <a:rPr lang="en-IN" sz="1200" b="1" dirty="0"/>
              <a:t>many users hit the application at the same time</a:t>
            </a:r>
            <a:r>
              <a:rPr lang="en-IN" sz="1200" dirty="0"/>
              <a:t>.</a:t>
            </a:r>
            <a:br>
              <a:rPr lang="en-IN" sz="1200" dirty="0"/>
            </a:br>
            <a:r>
              <a:rPr lang="en-IN" sz="1200" dirty="0"/>
              <a:t>To avoid repeated database calls, we </a:t>
            </a:r>
            <a:r>
              <a:rPr lang="en-IN" sz="1200" b="1" dirty="0"/>
              <a:t>store frequently used data in memory</a:t>
            </a:r>
            <a:r>
              <a:rPr lang="en-IN" sz="1200" dirty="0"/>
              <a:t>.</a:t>
            </a:r>
          </a:p>
          <a:p>
            <a:pPr marL="0" indent="0">
              <a:buNone/>
            </a:pPr>
            <a:r>
              <a:rPr lang="en-IN" sz="1200" dirty="0"/>
              <a:t>But if the cache </a:t>
            </a:r>
            <a:r>
              <a:rPr lang="en-IN" sz="1200" b="1" dirty="0"/>
              <a:t>keeps growing forever</a:t>
            </a:r>
            <a:r>
              <a:rPr lang="en-IN" sz="1200" dirty="0"/>
              <a:t>, memory increases and the application </a:t>
            </a:r>
            <a:r>
              <a:rPr lang="en-IN" sz="1200" b="1" dirty="0"/>
              <a:t>crashes</a:t>
            </a:r>
            <a:r>
              <a:rPr lang="en-IN" sz="1200" dirty="0"/>
              <a:t>.</a:t>
            </a:r>
          </a:p>
          <a:p>
            <a:pPr marL="0" indent="0">
              <a:buNone/>
            </a:pPr>
            <a:r>
              <a:rPr lang="en-IN" sz="1200" dirty="0"/>
              <a:t>So the cache must be </a:t>
            </a:r>
            <a:r>
              <a:rPr lang="en-IN" sz="1200" b="1" dirty="0"/>
              <a:t>Thread-safe</a:t>
            </a:r>
            <a:r>
              <a:rPr lang="en-IN" sz="1200" dirty="0"/>
              <a:t> &amp; </a:t>
            </a:r>
            <a:r>
              <a:rPr lang="en-IN" sz="1200" b="1" dirty="0"/>
              <a:t>Size-controlled</a:t>
            </a:r>
            <a:endParaRPr lang="en-IN" sz="1200" dirty="0"/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b="1"/>
              <a:t>real-world </a:t>
            </a:r>
            <a:r>
              <a:rPr lang="en-IN" sz="1200" b="1" dirty="0"/>
              <a:t>example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private final Map&lt;String, User&gt; cache = new </a:t>
            </a:r>
            <a:r>
              <a:rPr lang="en-IN" sz="1200" dirty="0" err="1">
                <a:highlight>
                  <a:srgbClr val="FFFF00"/>
                </a:highlight>
              </a:rPr>
              <a:t>ConcurrentHashMap</a:t>
            </a:r>
            <a:r>
              <a:rPr lang="en-IN" sz="1200" dirty="0">
                <a:highlight>
                  <a:srgbClr val="FFFF00"/>
                </a:highlight>
              </a:rPr>
              <a:t>&lt;&gt;();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public User </a:t>
            </a:r>
            <a:r>
              <a:rPr lang="en-IN" sz="1200" dirty="0" err="1">
                <a:highlight>
                  <a:srgbClr val="FFFF00"/>
                </a:highlight>
              </a:rPr>
              <a:t>getUser</a:t>
            </a:r>
            <a:r>
              <a:rPr lang="en-IN" sz="1200" dirty="0">
                <a:highlight>
                  <a:srgbClr val="FFFF00"/>
                </a:highlight>
              </a:rPr>
              <a:t>(String id)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return </a:t>
            </a:r>
            <a:r>
              <a:rPr lang="en-IN" sz="1200" dirty="0" err="1">
                <a:highlight>
                  <a:srgbClr val="FFFF00"/>
                </a:highlight>
              </a:rPr>
              <a:t>cache.computeIfAbsent</a:t>
            </a:r>
            <a:r>
              <a:rPr lang="en-IN" sz="1200" dirty="0">
                <a:highlight>
                  <a:srgbClr val="FFFF00"/>
                </a:highlight>
              </a:rPr>
              <a:t>(id, this::</a:t>
            </a:r>
            <a:r>
              <a:rPr lang="en-IN" sz="1200" dirty="0" err="1">
                <a:highlight>
                  <a:srgbClr val="FFFF00"/>
                </a:highlight>
              </a:rPr>
              <a:t>loadUserFromDB</a:t>
            </a:r>
            <a:r>
              <a:rPr lang="en-IN" sz="1200" dirty="0">
                <a:highlight>
                  <a:srgbClr val="FFFF00"/>
                </a:highlight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b="1" dirty="0"/>
              <a:t>Thread-safe cache with simple size control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private final Map&lt;String, User&gt; cache = new </a:t>
            </a:r>
            <a:r>
              <a:rPr lang="en-IN" sz="1200" dirty="0" err="1">
                <a:solidFill>
                  <a:srgbClr val="00B050"/>
                </a:solidFill>
              </a:rPr>
              <a:t>ConcurrentHashMap</a:t>
            </a:r>
            <a:r>
              <a:rPr lang="en-IN" sz="1200" dirty="0">
                <a:solidFill>
                  <a:srgbClr val="00B050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private static final int MAX_CACHE_SIZE = 1000;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public User </a:t>
            </a:r>
            <a:r>
              <a:rPr lang="en-IN" sz="1200" dirty="0" err="1">
                <a:solidFill>
                  <a:srgbClr val="00B050"/>
                </a:solidFill>
              </a:rPr>
              <a:t>getUser</a:t>
            </a:r>
            <a:r>
              <a:rPr lang="en-IN" sz="1200" dirty="0">
                <a:solidFill>
                  <a:srgbClr val="00B050"/>
                </a:solidFill>
              </a:rPr>
              <a:t>(String id) {</a:t>
            </a:r>
          </a:p>
          <a:p>
            <a:pPr marL="0" indent="0">
              <a:buNone/>
            </a:pPr>
            <a:endParaRPr lang="en-IN" sz="12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if (</a:t>
            </a:r>
            <a:r>
              <a:rPr lang="en-IN" sz="1200" dirty="0" err="1">
                <a:solidFill>
                  <a:srgbClr val="00B050"/>
                </a:solidFill>
              </a:rPr>
              <a:t>cache.size</a:t>
            </a:r>
            <a:r>
              <a:rPr lang="en-IN" sz="1200" dirty="0">
                <a:solidFill>
                  <a:srgbClr val="00B050"/>
                </a:solidFill>
              </a:rPr>
              <a:t>() &gt;= MAX_CACHE_SIZE)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    </a:t>
            </a:r>
            <a:r>
              <a:rPr lang="en-IN" sz="1200" dirty="0" err="1">
                <a:solidFill>
                  <a:srgbClr val="00B050"/>
                </a:solidFill>
              </a:rPr>
              <a:t>cache.clear</a:t>
            </a:r>
            <a:r>
              <a:rPr lang="en-IN" sz="1200" dirty="0">
                <a:solidFill>
                  <a:srgbClr val="00B050"/>
                </a:solidFill>
              </a:rPr>
              <a:t>();   // simple eviction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return </a:t>
            </a:r>
            <a:r>
              <a:rPr lang="en-IN" sz="1200" dirty="0" err="1">
                <a:solidFill>
                  <a:srgbClr val="00B050"/>
                </a:solidFill>
              </a:rPr>
              <a:t>cache.computeIfAbsent</a:t>
            </a:r>
            <a:r>
              <a:rPr lang="en-IN" sz="1200" dirty="0">
                <a:solidFill>
                  <a:srgbClr val="00B050"/>
                </a:solidFill>
              </a:rPr>
              <a:t>(id, this::</a:t>
            </a:r>
            <a:r>
              <a:rPr lang="en-IN" sz="1200" dirty="0" err="1">
                <a:solidFill>
                  <a:srgbClr val="00B050"/>
                </a:solidFill>
              </a:rPr>
              <a:t>loadUserFromDB</a:t>
            </a:r>
            <a:r>
              <a:rPr lang="en-IN" sz="1200" dirty="0">
                <a:solidFill>
                  <a:srgbClr val="00B050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1800" dirty="0">
                <a:highlight>
                  <a:srgbClr val="FFFF00"/>
                </a:highlight>
              </a:rPr>
              <a:t> Why does </a:t>
            </a:r>
            <a:r>
              <a:rPr sz="1800" dirty="0" err="1">
                <a:highlight>
                  <a:srgbClr val="FFFF00"/>
                </a:highlight>
              </a:rPr>
              <a:t>ConcurrentHashMap</a:t>
            </a:r>
            <a:r>
              <a:rPr sz="1800" dirty="0">
                <a:highlight>
                  <a:srgbClr val="FFFF00"/>
                </a:highlight>
              </a:rPr>
              <a:t> not allow null keys or 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200" dirty="0"/>
              <a:t>To avoid ambiguity during concurrent access.</a:t>
            </a:r>
            <a:endParaRPr lang="en-IN" sz="1200" dirty="0"/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US" sz="1200" dirty="0" err="1"/>
              <a:t>ConcurrentHashMap</a:t>
            </a:r>
            <a:r>
              <a:rPr lang="en-US" sz="1200" dirty="0"/>
              <a:t> does </a:t>
            </a:r>
            <a:r>
              <a:rPr lang="en-US" sz="1200" b="1" dirty="0"/>
              <a:t>not allow null keys or values</a:t>
            </a:r>
            <a:r>
              <a:rPr lang="en-US" sz="1200" dirty="0"/>
              <a:t> to avoid </a:t>
            </a:r>
            <a:r>
              <a:rPr lang="en-US" sz="1200" b="1" dirty="0"/>
              <a:t>confusion and race conditions</a:t>
            </a:r>
            <a:r>
              <a:rPr lang="en-US" sz="1200" dirty="0"/>
              <a:t> in multi-threaded environments.</a:t>
            </a:r>
          </a:p>
          <a:p>
            <a:pPr marL="0" indent="0">
              <a:buNone/>
            </a:pP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What problem does null cause?</a:t>
            </a:r>
          </a:p>
          <a:p>
            <a:pPr marL="0" indent="0">
              <a:buNone/>
            </a:pPr>
            <a:r>
              <a:rPr lang="en-US" sz="1200" dirty="0"/>
              <a:t>In a concurrent map:</a:t>
            </a:r>
          </a:p>
          <a:p>
            <a:pPr marL="0" indent="0">
              <a:buNone/>
            </a:pPr>
            <a:r>
              <a:rPr lang="en-US" sz="1200" dirty="0"/>
              <a:t>get(key) returning null could mean</a:t>
            </a:r>
            <a:br>
              <a:rPr lang="en-US" sz="1200" dirty="0"/>
            </a:b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the key is </a:t>
            </a:r>
            <a:r>
              <a:rPr lang="en-US" sz="1200" b="1" dirty="0"/>
              <a:t>not present</a:t>
            </a:r>
            <a:br>
              <a:rPr lang="en-US" sz="1200" dirty="0"/>
            </a:b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OR the key </a:t>
            </a:r>
            <a:r>
              <a:rPr lang="en-US" sz="1200" b="1" dirty="0"/>
              <a:t>exists but value is 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 With multiple threads, this becomes </a:t>
            </a:r>
            <a:r>
              <a:rPr lang="en-US" sz="1200" b="1" dirty="0"/>
              <a:t>ambiguous and unsafe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example </a:t>
            </a:r>
          </a:p>
          <a:p>
            <a:pPr marL="0" indent="0">
              <a:buNone/>
            </a:pPr>
            <a:r>
              <a:rPr lang="en-US" sz="1300" i="1" dirty="0" err="1">
                <a:highlight>
                  <a:srgbClr val="FFFF00"/>
                </a:highlight>
              </a:rPr>
              <a:t>map.get</a:t>
            </a:r>
            <a:r>
              <a:rPr lang="en-US" sz="1300" i="1" dirty="0">
                <a:highlight>
                  <a:srgbClr val="FFFF00"/>
                </a:highlight>
              </a:rPr>
              <a:t>("A");</a:t>
            </a:r>
            <a:r>
              <a:rPr lang="en-US" sz="1300" dirty="0">
                <a:highlight>
                  <a:srgbClr val="FFFF00"/>
                </a:highlight>
              </a:rPr>
              <a:t>  // returns null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In </a:t>
            </a:r>
            <a:r>
              <a:rPr lang="en-US" sz="1300" dirty="0" err="1">
                <a:highlight>
                  <a:srgbClr val="FFFF00"/>
                </a:highlight>
              </a:rPr>
              <a:t>ConcurrentHashMap</a:t>
            </a:r>
            <a:r>
              <a:rPr lang="en-US" sz="1300" dirty="0">
                <a:highlight>
                  <a:srgbClr val="FFFF00"/>
                </a:highlight>
              </a:rPr>
              <a:t>, Java must clearly know: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Is "A" missing?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Or is "A" mapped to null?</a:t>
            </a:r>
          </a:p>
          <a:p>
            <a:pPr marL="0" indent="0">
              <a:buNone/>
            </a:pPr>
            <a:r>
              <a:rPr lang="en-US" sz="1300" dirty="0"/>
              <a:t>In multi-threaded code, this ambiguity can cause </a:t>
            </a:r>
            <a:r>
              <a:rPr lang="en-US" sz="1300" b="1" dirty="0"/>
              <a:t>wrong logic decisions</a:t>
            </a:r>
            <a:r>
              <a:rPr lang="en-US" sz="1300" dirty="0"/>
              <a:t>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288" y="443637"/>
            <a:ext cx="8359541" cy="861143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Sorting millions of objects — Comparable or Comparator?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229" y="18884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b="1" dirty="0"/>
              <a:t>Comparator</a:t>
            </a:r>
            <a:r>
              <a:rPr lang="en-US" dirty="0"/>
              <a:t>, not Comparable.</a:t>
            </a:r>
          </a:p>
          <a:p>
            <a:pPr marL="0" indent="0">
              <a:buNone/>
            </a:pPr>
            <a:br>
              <a:rPr lang="en-US" dirty="0"/>
            </a:br>
            <a:endParaRPr lang="en-US" b="1" dirty="0"/>
          </a:p>
          <a:p>
            <a:pPr marL="0" indent="0">
              <a:buNone/>
            </a:pPr>
            <a:r>
              <a:rPr lang="en-US" dirty="0"/>
              <a:t>Comparable fixes </a:t>
            </a:r>
            <a:r>
              <a:rPr lang="en-US" b="1" dirty="0"/>
              <a:t>one natural order</a:t>
            </a:r>
            <a:r>
              <a:rPr lang="en-US" dirty="0"/>
              <a:t> inside the class</a:t>
            </a:r>
          </a:p>
          <a:p>
            <a:pPr marL="0" indent="0">
              <a:buNone/>
            </a:pPr>
            <a:r>
              <a:rPr lang="en-US" dirty="0"/>
              <a:t>Comparator lets you </a:t>
            </a:r>
            <a:r>
              <a:rPr lang="en-US" b="1" dirty="0"/>
              <a:t>choose sorting logic at runtime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When sorting </a:t>
            </a:r>
            <a:r>
              <a:rPr lang="en-US" b="1" dirty="0"/>
              <a:t>millions of objects</a:t>
            </a:r>
            <a:r>
              <a:rPr lang="en-US" dirty="0"/>
              <a:t>, flexibility and clarity matter.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Real-world example</a:t>
            </a:r>
          </a:p>
          <a:p>
            <a:pPr marL="0" indent="0">
              <a:buNone/>
            </a:pPr>
            <a:r>
              <a:rPr lang="en-US" dirty="0"/>
              <a:t>Comparator&lt;Order&gt; </a:t>
            </a:r>
            <a:r>
              <a:rPr lang="en-US" dirty="0" err="1"/>
              <a:t>byAmount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Comparator.comparing</a:t>
            </a:r>
            <a:r>
              <a:rPr lang="en-US" dirty="0"/>
              <a:t>(Order::</a:t>
            </a:r>
            <a:r>
              <a:rPr lang="en-US" dirty="0" err="1"/>
              <a:t>getAmount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orders.sort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byAmount</a:t>
            </a:r>
            <a:r>
              <a:rPr lang="en-US" dirty="0">
                <a:solidFill>
                  <a:srgbClr val="00B050"/>
                </a:solidFill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Later, if business needs change:</a:t>
            </a:r>
          </a:p>
          <a:p>
            <a:pPr marL="0" indent="0">
              <a:buNone/>
            </a:pPr>
            <a:r>
              <a:rPr lang="en-US" dirty="0"/>
              <a:t>Comparator&lt;Order&gt; </a:t>
            </a:r>
            <a:r>
              <a:rPr lang="en-US" dirty="0" err="1"/>
              <a:t>byDate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Comparator.comparing</a:t>
            </a:r>
            <a:r>
              <a:rPr lang="en-US" dirty="0"/>
              <a:t>(Order::</a:t>
            </a:r>
            <a:r>
              <a:rPr lang="en-US" dirty="0" err="1"/>
              <a:t>getCreatedDate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orders.sort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byDate</a:t>
            </a:r>
            <a:r>
              <a:rPr lang="en-US" dirty="0">
                <a:solidFill>
                  <a:srgbClr val="00B050"/>
                </a:solidFill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code change inside Order class.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8101"/>
            <a:ext cx="8229600" cy="861143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you avoid </a:t>
            </a:r>
            <a:r>
              <a:rPr sz="2800" dirty="0" err="1">
                <a:highlight>
                  <a:srgbClr val="FFFF00"/>
                </a:highlight>
              </a:rPr>
              <a:t>ConcurrentModificationException</a:t>
            </a:r>
            <a:r>
              <a:rPr sz="2800" dirty="0">
                <a:highlight>
                  <a:srgbClr val="FFFF00"/>
                </a:highlight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222" y="1375018"/>
            <a:ext cx="8229600" cy="51148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 err="1"/>
              <a:t>ConcurrentModificationException</a:t>
            </a:r>
            <a:r>
              <a:rPr lang="en-IN" sz="1200" dirty="0"/>
              <a:t> happens when a collection is </a:t>
            </a:r>
            <a:r>
              <a:rPr lang="en-IN" sz="1200" b="1" dirty="0"/>
              <a:t>modified while it’s being iterated</a:t>
            </a:r>
            <a:r>
              <a:rPr lang="en-IN" sz="1200" dirty="0"/>
              <a:t>.</a:t>
            </a:r>
          </a:p>
          <a:p>
            <a:pPr marL="0" indent="0">
              <a:buNone/>
            </a:pPr>
            <a:r>
              <a:rPr lang="en-IN" sz="1200" b="1" dirty="0"/>
              <a:t>Rule: </a:t>
            </a:r>
            <a:r>
              <a:rPr lang="en-IN" sz="1200" dirty="0"/>
              <a:t>Never modify a collection directly inside a loop.</a:t>
            </a:r>
          </a:p>
          <a:p>
            <a:pPr marL="0" indent="0">
              <a:buNone/>
            </a:pPr>
            <a:r>
              <a:rPr lang="en-IN" sz="1200" b="1" dirty="0"/>
              <a:t>Example:</a:t>
            </a:r>
          </a:p>
          <a:p>
            <a:pPr marL="0" indent="0">
              <a:buNone/>
            </a:pPr>
            <a:r>
              <a:rPr lang="en-IN" sz="1200" dirty="0"/>
              <a:t>In a </a:t>
            </a:r>
            <a:r>
              <a:rPr lang="en-IN" sz="1200" b="1" dirty="0"/>
              <a:t>notification service</a:t>
            </a:r>
            <a:r>
              <a:rPr lang="en-IN" sz="1200" dirty="0"/>
              <a:t>, removing inactive users while looping over the list caused random crashes.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for (User </a:t>
            </a:r>
            <a:r>
              <a:rPr lang="en-IN" sz="1200" dirty="0" err="1">
                <a:highlight>
                  <a:srgbClr val="FFFF00"/>
                </a:highlight>
              </a:rPr>
              <a:t>user</a:t>
            </a:r>
            <a:r>
              <a:rPr lang="en-IN" sz="1200" dirty="0">
                <a:highlight>
                  <a:srgbClr val="FFFF00"/>
                </a:highlight>
              </a:rPr>
              <a:t> : users)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if (!</a:t>
            </a:r>
            <a:r>
              <a:rPr lang="en-IN" sz="1200" dirty="0" err="1">
                <a:highlight>
                  <a:srgbClr val="FFFF00"/>
                </a:highlight>
              </a:rPr>
              <a:t>user.isActive</a:t>
            </a:r>
            <a:r>
              <a:rPr lang="en-IN" sz="1200" dirty="0">
                <a:highlight>
                  <a:srgbClr val="FFFF00"/>
                </a:highlight>
              </a:rPr>
              <a:t>()) {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    </a:t>
            </a:r>
            <a:r>
              <a:rPr lang="en-IN" sz="1200" dirty="0" err="1">
                <a:highlight>
                  <a:srgbClr val="FFFF00"/>
                </a:highlight>
              </a:rPr>
              <a:t>users.remove</a:t>
            </a:r>
            <a:r>
              <a:rPr lang="en-IN" sz="1200" dirty="0">
                <a:highlight>
                  <a:srgbClr val="FFFF00"/>
                </a:highlight>
              </a:rPr>
              <a:t>(user); // ❌ modifying list during iteration</a:t>
            </a:r>
          </a:p>
          <a:p>
            <a:pPr marL="0" indent="0">
              <a:buNone/>
            </a:pPr>
            <a:r>
              <a:rPr lang="en-IN" sz="1200" dirty="0">
                <a:highlight>
                  <a:srgbClr val="FFFF00"/>
                </a:highlight>
              </a:rPr>
              <a:t>    } }</a:t>
            </a:r>
            <a:br>
              <a:rPr lang="en-IN" sz="1200" dirty="0">
                <a:highlight>
                  <a:srgbClr val="FFFF00"/>
                </a:highlight>
              </a:rPr>
            </a:br>
            <a:r>
              <a:rPr lang="en-IN" sz="1200" b="1" dirty="0"/>
              <a:t>Fix:</a:t>
            </a:r>
            <a:r>
              <a:rPr lang="en-IN" sz="1200" dirty="0"/>
              <a:t> </a:t>
            </a:r>
          </a:p>
          <a:p>
            <a:pPr marL="228600" indent="-228600">
              <a:buAutoNum type="arabicPeriod"/>
            </a:pPr>
            <a:r>
              <a:rPr lang="en-IN" sz="1200" b="1" dirty="0"/>
              <a:t>Use </a:t>
            </a:r>
            <a:r>
              <a:rPr lang="en-IN" sz="1200" b="1" dirty="0" err="1"/>
              <a:t>Iterator.remove</a:t>
            </a:r>
            <a:r>
              <a:rPr lang="en-IN" sz="1200" b="1" dirty="0"/>
              <a:t>() (most common)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Iterator&lt;User&gt; it = </a:t>
            </a:r>
            <a:r>
              <a:rPr lang="en-IN" sz="1200" dirty="0" err="1">
                <a:solidFill>
                  <a:srgbClr val="00B050"/>
                </a:solidFill>
              </a:rPr>
              <a:t>users.iterator</a:t>
            </a:r>
            <a:r>
              <a:rPr lang="en-IN" sz="1200" dirty="0">
                <a:solidFill>
                  <a:srgbClr val="00B050"/>
                </a:solidFill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while (</a:t>
            </a:r>
            <a:r>
              <a:rPr lang="en-IN" sz="1200" dirty="0" err="1">
                <a:solidFill>
                  <a:srgbClr val="00B050"/>
                </a:solidFill>
              </a:rPr>
              <a:t>it.hasNext</a:t>
            </a:r>
            <a:r>
              <a:rPr lang="en-IN" sz="1200" dirty="0">
                <a:solidFill>
                  <a:srgbClr val="00B050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if (!</a:t>
            </a:r>
            <a:r>
              <a:rPr lang="en-IN" sz="1200" dirty="0" err="1">
                <a:solidFill>
                  <a:srgbClr val="00B050"/>
                </a:solidFill>
              </a:rPr>
              <a:t>it.next</a:t>
            </a:r>
            <a:r>
              <a:rPr lang="en-IN" sz="1200" dirty="0">
                <a:solidFill>
                  <a:srgbClr val="00B050"/>
                </a:solidFill>
              </a:rPr>
              <a:t>().</a:t>
            </a:r>
            <a:r>
              <a:rPr lang="en-IN" sz="1200" dirty="0" err="1">
                <a:solidFill>
                  <a:srgbClr val="00B050"/>
                </a:solidFill>
              </a:rPr>
              <a:t>isActive</a:t>
            </a:r>
            <a:r>
              <a:rPr lang="en-IN" sz="1200" dirty="0">
                <a:solidFill>
                  <a:srgbClr val="00B050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    </a:t>
            </a:r>
            <a:r>
              <a:rPr lang="en-IN" sz="1200" dirty="0" err="1">
                <a:solidFill>
                  <a:srgbClr val="00B050"/>
                </a:solidFill>
              </a:rPr>
              <a:t>it.remove</a:t>
            </a:r>
            <a:r>
              <a:rPr lang="en-IN" sz="1200" dirty="0">
                <a:solidFill>
                  <a:srgbClr val="00B050"/>
                </a:solidFill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} }</a:t>
            </a:r>
          </a:p>
          <a:p>
            <a:pPr marL="0" indent="0">
              <a:buNone/>
            </a:pPr>
            <a:r>
              <a:rPr lang="en-IN" sz="1200" b="1" dirty="0"/>
              <a:t>2. Use concurrent collections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List&lt;User&gt; users = new </a:t>
            </a:r>
            <a:r>
              <a:rPr lang="en-IN" sz="1200" dirty="0" err="1">
                <a:solidFill>
                  <a:srgbClr val="00B050"/>
                </a:solidFill>
              </a:rPr>
              <a:t>CopyOnWriteArrayList</a:t>
            </a:r>
            <a:r>
              <a:rPr lang="en-IN" sz="1200" dirty="0">
                <a:solidFill>
                  <a:srgbClr val="00B050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//Iterate over a copy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for (User u : new </a:t>
            </a:r>
            <a:r>
              <a:rPr lang="en-IN" sz="1200" dirty="0" err="1">
                <a:solidFill>
                  <a:srgbClr val="00B050"/>
                </a:solidFill>
              </a:rPr>
              <a:t>ArrayList</a:t>
            </a:r>
            <a:r>
              <a:rPr lang="en-IN" sz="1200" dirty="0">
                <a:solidFill>
                  <a:srgbClr val="00B050"/>
                </a:solidFill>
              </a:rPr>
              <a:t>&lt;&gt;(users))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if (!</a:t>
            </a:r>
            <a:r>
              <a:rPr lang="en-IN" sz="1200" dirty="0" err="1">
                <a:solidFill>
                  <a:srgbClr val="00B050"/>
                </a:solidFill>
              </a:rPr>
              <a:t>u.isActive</a:t>
            </a:r>
            <a:r>
              <a:rPr lang="en-IN" sz="1200" dirty="0">
                <a:solidFill>
                  <a:srgbClr val="00B050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    </a:t>
            </a:r>
            <a:r>
              <a:rPr lang="en-IN" sz="1200" dirty="0" err="1">
                <a:solidFill>
                  <a:srgbClr val="00B050"/>
                </a:solidFill>
              </a:rPr>
              <a:t>users.remove</a:t>
            </a:r>
            <a:r>
              <a:rPr lang="en-IN" sz="1200" dirty="0">
                <a:solidFill>
                  <a:srgbClr val="00B050"/>
                </a:solidFill>
              </a:rPr>
              <a:t>(u);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B050"/>
                </a:solidFill>
              </a:rPr>
              <a:t>    }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When would you choose </a:t>
            </a:r>
            <a:r>
              <a:rPr sz="2800" dirty="0" err="1">
                <a:highlight>
                  <a:srgbClr val="FFFF00"/>
                </a:highlight>
              </a:rPr>
              <a:t>TreeMap</a:t>
            </a:r>
            <a:r>
              <a:rPr sz="2800" dirty="0">
                <a:highlight>
                  <a:srgbClr val="FFFF00"/>
                </a:highlight>
              </a:rPr>
              <a:t> over HashMap in real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TreeMap</a:t>
            </a:r>
            <a:r>
              <a:rPr lang="en-US" dirty="0"/>
              <a:t> when order or range queries are required, and HashMap when only fast key-based lookup is needed.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1: Account Statement (</a:t>
            </a:r>
            <a:r>
              <a:rPr lang="en-US" b="1" dirty="0" err="1"/>
              <a:t>TreeMap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Why </a:t>
            </a:r>
            <a:r>
              <a:rPr lang="en-US" b="1" dirty="0" err="1"/>
              <a:t>TreeMap</a:t>
            </a:r>
            <a:r>
              <a:rPr lang="en-US" b="1" dirty="0"/>
              <a:t>?</a:t>
            </a:r>
            <a:r>
              <a:rPr lang="en-US" dirty="0"/>
              <a:t> Order matters.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Bank needs to generate an account statement </a:t>
            </a:r>
            <a:r>
              <a:rPr lang="en-US" b="1" dirty="0"/>
              <a:t>sorted by transaction date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TreeMap</a:t>
            </a:r>
            <a:r>
              <a:rPr lang="en-US" dirty="0"/>
              <a:t>&lt;</a:t>
            </a:r>
            <a:r>
              <a:rPr lang="en-US" dirty="0" err="1"/>
              <a:t>LocalDateTime</a:t>
            </a:r>
            <a:r>
              <a:rPr lang="en-US" dirty="0"/>
              <a:t>, Transaction&gt; transactions = new </a:t>
            </a:r>
            <a:r>
              <a:rPr lang="en-US" dirty="0" err="1"/>
              <a:t>TreeMap</a:t>
            </a:r>
            <a:r>
              <a:rPr lang="en-US" dirty="0"/>
              <a:t>&lt;&gt;();</a:t>
            </a:r>
          </a:p>
          <a:p>
            <a:pPr marL="0" indent="0">
              <a:buNone/>
            </a:pPr>
            <a:r>
              <a:rPr lang="en-US" dirty="0"/>
              <a:t>✔ Get earliest / latest transaction</a:t>
            </a:r>
            <a:br>
              <a:rPr lang="en-US" dirty="0"/>
            </a:br>
            <a:r>
              <a:rPr lang="en-US" dirty="0"/>
              <a:t>✔ Range queries (monthly statement)</a:t>
            </a:r>
          </a:p>
          <a:p>
            <a:pPr marL="0" indent="0">
              <a:buNone/>
            </a:pPr>
            <a:r>
              <a:rPr lang="en-US" b="1" dirty="0" err="1"/>
              <a:t>TreeMap</a:t>
            </a:r>
            <a:r>
              <a:rPr lang="en-US" b="1" dirty="0"/>
              <a:t> is used because data must be ordered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Example 2: Customer Lookup (HashMap)</a:t>
            </a:r>
          </a:p>
          <a:p>
            <a:pPr marL="0" indent="0">
              <a:buNone/>
            </a:pPr>
            <a:r>
              <a:rPr lang="en-US" b="1" dirty="0"/>
              <a:t>Why HashMap?</a:t>
            </a:r>
            <a:r>
              <a:rPr lang="en-US" dirty="0"/>
              <a:t> Speed matters.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Fetch customer details using </a:t>
            </a:r>
            <a:r>
              <a:rPr lang="en-US" b="1" dirty="0"/>
              <a:t>account number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HashMap&lt;String, Customer&gt; customers = new HashMap&lt;&gt;();</a:t>
            </a:r>
          </a:p>
          <a:p>
            <a:pPr marL="0" indent="0">
              <a:buNone/>
            </a:pPr>
            <a:r>
              <a:rPr lang="en-US" dirty="0"/>
              <a:t>✔ Fast lookup</a:t>
            </a:r>
            <a:br>
              <a:rPr lang="en-US" dirty="0"/>
            </a:br>
            <a:r>
              <a:rPr lang="en-US" dirty="0"/>
              <a:t>✔ Order not required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HashMap is used because only quick access is needed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4150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Streams vs loops — which is better and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740" y="1127464"/>
            <a:ext cx="8305060" cy="49986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200" b="1" dirty="0"/>
              <a:t>Use Streams: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List&lt;User&gt; </a:t>
            </a:r>
            <a:r>
              <a:rPr lang="en-US" sz="1200" dirty="0" err="1"/>
              <a:t>activeUsers</a:t>
            </a:r>
            <a:r>
              <a:rPr lang="en-US" sz="1200" dirty="0"/>
              <a:t> =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users.stream</a:t>
            </a:r>
            <a:r>
              <a:rPr lang="en-US" sz="1200" dirty="0"/>
              <a:t>()</a:t>
            </a:r>
          </a:p>
          <a:p>
            <a:pPr marL="0" indent="0">
              <a:buNone/>
            </a:pPr>
            <a:r>
              <a:rPr lang="en-US" sz="1200" dirty="0"/>
              <a:t>         .filter(User::</a:t>
            </a:r>
            <a:r>
              <a:rPr lang="en-US" sz="1200" dirty="0" err="1"/>
              <a:t>isActive</a:t>
            </a:r>
            <a:r>
              <a:rPr lang="en-US" sz="1200" dirty="0"/>
              <a:t>)</a:t>
            </a:r>
          </a:p>
          <a:p>
            <a:pPr marL="0" indent="0">
              <a:buNone/>
            </a:pPr>
            <a:r>
              <a:rPr lang="en-US" sz="1200" dirty="0"/>
              <a:t>         .collect(</a:t>
            </a:r>
            <a:r>
              <a:rPr lang="en-US" sz="1200" dirty="0" err="1"/>
              <a:t>Collectors.toList</a:t>
            </a:r>
            <a:r>
              <a:rPr lang="en-US" sz="1200" dirty="0"/>
              <a:t>());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IN" sz="1200" b="1" dirty="0"/>
              <a:t>Using Loops:</a:t>
            </a:r>
          </a:p>
          <a:p>
            <a:pPr marL="0" indent="0">
              <a:buNone/>
            </a:pPr>
            <a:r>
              <a:rPr lang="en-IN" sz="1200" dirty="0"/>
              <a:t>List&lt;User&gt; </a:t>
            </a:r>
            <a:r>
              <a:rPr lang="en-IN" sz="1200" dirty="0" err="1"/>
              <a:t>activeUsers</a:t>
            </a:r>
            <a:r>
              <a:rPr lang="en-IN" sz="1200" dirty="0"/>
              <a:t> = new </a:t>
            </a:r>
            <a:r>
              <a:rPr lang="en-IN" sz="1200" dirty="0" err="1"/>
              <a:t>ArrayList</a:t>
            </a:r>
            <a:r>
              <a:rPr lang="en-IN" sz="1200" dirty="0"/>
              <a:t>&lt;&gt;();</a:t>
            </a:r>
          </a:p>
          <a:p>
            <a:pPr marL="0" indent="0">
              <a:buNone/>
            </a:pPr>
            <a:r>
              <a:rPr lang="en-IN" sz="1200" dirty="0"/>
              <a:t>for (User u : users) {</a:t>
            </a:r>
          </a:p>
          <a:p>
            <a:pPr marL="0" indent="0">
              <a:buNone/>
            </a:pPr>
            <a:r>
              <a:rPr lang="en-IN" sz="1200" dirty="0"/>
              <a:t>    if (</a:t>
            </a:r>
            <a:r>
              <a:rPr lang="en-IN" sz="1200" dirty="0" err="1"/>
              <a:t>u.isActive</a:t>
            </a:r>
            <a:r>
              <a:rPr lang="en-IN" sz="1200" dirty="0"/>
              <a:t>()) {</a:t>
            </a:r>
          </a:p>
          <a:p>
            <a:pPr marL="0" indent="0">
              <a:buNone/>
            </a:pPr>
            <a:r>
              <a:rPr lang="en-IN" sz="1200" dirty="0"/>
              <a:t>        </a:t>
            </a:r>
            <a:r>
              <a:rPr lang="en-IN" sz="1200" dirty="0" err="1"/>
              <a:t>activeUsers.add</a:t>
            </a:r>
            <a:r>
              <a:rPr lang="en-IN" sz="1200" dirty="0"/>
              <a:t>(u);</a:t>
            </a:r>
          </a:p>
          <a:p>
            <a:pPr marL="0" indent="0">
              <a:buNone/>
            </a:pPr>
            <a:r>
              <a:rPr lang="en-IN" sz="1200" dirty="0"/>
              <a:t>    }</a:t>
            </a:r>
          </a:p>
          <a:p>
            <a:pPr marL="0" indent="0">
              <a:buNone/>
            </a:pPr>
            <a:r>
              <a:rPr lang="en-IN" sz="1200" dirty="0"/>
              <a:t>}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</a:rPr>
              <a:t>Which is better? </a:t>
            </a:r>
          </a:p>
          <a:p>
            <a:pPr marL="0" indent="0">
              <a:buNone/>
            </a:pPr>
            <a:r>
              <a:rPr lang="en-US" sz="1800" b="1" dirty="0"/>
              <a:t>Streams</a:t>
            </a:r>
            <a:r>
              <a:rPr lang="en-US" sz="1800" dirty="0"/>
              <a:t> improve readability, while </a:t>
            </a:r>
            <a:r>
              <a:rPr lang="en-US" sz="1800" b="1" dirty="0"/>
              <a:t>loops</a:t>
            </a:r>
            <a:r>
              <a:rPr lang="en-US" sz="1800" dirty="0"/>
              <a:t> give better performance and control—real projects use both depending on the use case.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Streams</a:t>
            </a:r>
            <a:r>
              <a:rPr lang="en-US" sz="1800" dirty="0"/>
              <a:t> → cleaner, more readable, declarative</a:t>
            </a:r>
          </a:p>
          <a:p>
            <a:pPr marL="0" indent="0">
              <a:buNone/>
            </a:pPr>
            <a:r>
              <a:rPr lang="en-US" sz="1800" dirty="0"/>
              <a:t>Used in </a:t>
            </a:r>
            <a:r>
              <a:rPr lang="en-US" sz="1800" b="1" dirty="0"/>
              <a:t>service-layer business rules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Loops</a:t>
            </a:r>
            <a:r>
              <a:rPr lang="en-US" sz="1800" dirty="0"/>
              <a:t> → faster, more control, better for performance-critical code</a:t>
            </a:r>
          </a:p>
          <a:p>
            <a:pPr marL="0" indent="0">
              <a:buNone/>
            </a:pPr>
            <a:r>
              <a:rPr lang="en-US" sz="1800" dirty="0"/>
              <a:t>Used in </a:t>
            </a:r>
            <a:r>
              <a:rPr lang="en-US" sz="1800" b="1" dirty="0"/>
              <a:t>batch jobs / large data processing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When should you NOT use parallel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200" dirty="0"/>
              <a:t>Parallel stream = </a:t>
            </a:r>
            <a:r>
              <a:rPr lang="en-US" sz="1200" b="1" dirty="0"/>
              <a:t>many threads working together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This is </a:t>
            </a:r>
            <a:r>
              <a:rPr lang="en-US" sz="1200" b="1" dirty="0"/>
              <a:t>good only when each task is heavy and independent</a:t>
            </a:r>
            <a:r>
              <a:rPr lang="en-US" sz="1200" dirty="0"/>
              <a:t>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Don’t use parallel streams for I/O work, shared data, small collections, or when order matters.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Database call</a:t>
            </a:r>
          </a:p>
          <a:p>
            <a:pPr marL="0" indent="0">
              <a:buNone/>
            </a:pPr>
            <a:r>
              <a:rPr lang="en-US" sz="1200" dirty="0"/>
              <a:t>API call</a:t>
            </a:r>
          </a:p>
          <a:p>
            <a:pPr marL="0" indent="0">
              <a:buNone/>
            </a:pPr>
            <a:r>
              <a:rPr lang="en-US" sz="1200" dirty="0"/>
              <a:t>File read</a:t>
            </a:r>
          </a:p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Threads just </a:t>
            </a:r>
            <a:r>
              <a:rPr lang="en-US" sz="1200" b="1" dirty="0"/>
              <a:t>wait</a:t>
            </a:r>
            <a:r>
              <a:rPr lang="en-US" sz="1200" dirty="0"/>
              <a:t>, not work.</a:t>
            </a:r>
            <a:br>
              <a:rPr lang="en-US" sz="1200" dirty="0"/>
            </a:b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More threads = more waiting = </a:t>
            </a:r>
            <a:r>
              <a:rPr lang="en-US" sz="1200" b="1" dirty="0"/>
              <a:t>slower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highlight>
                  <a:srgbClr val="FFFF00"/>
                </a:highlight>
              </a:rPr>
              <a:t>users.parallelStream</a:t>
            </a:r>
            <a:r>
              <a:rPr lang="en-US" sz="1200" dirty="0">
                <a:highlight>
                  <a:srgbClr val="FFFF00"/>
                </a:highlight>
              </a:rPr>
              <a:t>().</a:t>
            </a:r>
            <a:r>
              <a:rPr lang="en-US" sz="1200" dirty="0" err="1">
                <a:highlight>
                  <a:srgbClr val="FFFF00"/>
                </a:highlight>
              </a:rPr>
              <a:t>forEach</a:t>
            </a:r>
            <a:r>
              <a:rPr lang="en-US" sz="1200" dirty="0">
                <a:highlight>
                  <a:srgbClr val="FFFF00"/>
                </a:highlight>
              </a:rPr>
              <a:t>(list::add);</a:t>
            </a:r>
          </a:p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Many threads change the same list</a:t>
            </a:r>
            <a:br>
              <a:rPr lang="en-US" sz="1200" dirty="0"/>
            </a:b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Data breaks or becomes wrong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 Real-life example:</a:t>
            </a:r>
          </a:p>
          <a:p>
            <a:pPr marL="0" indent="0">
              <a:buNone/>
            </a:pPr>
            <a:r>
              <a:rPr lang="en-US" sz="1200" dirty="0"/>
              <a:t>If 5 people try to write in </a:t>
            </a:r>
            <a:r>
              <a:rPr lang="en-US" sz="1200" b="1" dirty="0"/>
              <a:t>one notebook at the same time</a:t>
            </a:r>
            <a:r>
              <a:rPr lang="en-US" sz="1200" dirty="0"/>
              <a:t> → chaos ❌</a:t>
            </a:r>
            <a:br>
              <a:rPr lang="en-US" sz="1200" dirty="0"/>
            </a:br>
            <a:r>
              <a:rPr lang="en-US" sz="1200" dirty="0"/>
              <a:t>If each person has </a:t>
            </a:r>
            <a:r>
              <a:rPr lang="en-US" sz="1200" b="1" dirty="0"/>
              <a:t>separate work</a:t>
            </a:r>
            <a:r>
              <a:rPr lang="en-US" sz="1200" dirty="0"/>
              <a:t> → faster ✅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Streams impact performance with large data sets?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They </a:t>
            </a:r>
            <a:r>
              <a:rPr lang="en-US" sz="1400" b="1" dirty="0"/>
              <a:t>add overhead</a:t>
            </a:r>
            <a:r>
              <a:rPr lang="en-US" sz="1400" dirty="0"/>
              <a:t> due to lambda calls and object creation.</a:t>
            </a:r>
            <a:br>
              <a:rPr lang="en-US" sz="1400" dirty="0"/>
            </a:br>
            <a:r>
              <a:rPr lang="en-US" sz="1400" b="1" dirty="0"/>
              <a:t>Example:</a:t>
            </a:r>
            <a:r>
              <a:rPr lang="en-US" sz="1400" dirty="0"/>
              <a:t> For ~1M records, a traditional </a:t>
            </a:r>
            <a:r>
              <a:rPr lang="en-US" sz="1400" b="1" dirty="0"/>
              <a:t>for-loop is often faster than streams</a:t>
            </a:r>
            <a:r>
              <a:rPr lang="en-US" sz="1400" dirty="0"/>
              <a:t>, especially for simple operations.</a:t>
            </a:r>
            <a:endParaRPr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Your application is slow under high load. How would Virtual Threads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When many users hit your app at the same time, </a:t>
            </a:r>
            <a:r>
              <a:rPr lang="en-US" sz="1400" b="1" dirty="0"/>
              <a:t>normal threads are heavy and limited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If threads are busy waiting for DB or API responses, the app becomes slow.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Virtual Threads</a:t>
            </a:r>
            <a:r>
              <a:rPr lang="en-US" sz="1400" dirty="0"/>
              <a:t> are </a:t>
            </a:r>
            <a:r>
              <a:rPr lang="en-US" sz="1400" b="1" dirty="0"/>
              <a:t>very lightweight</a:t>
            </a:r>
            <a:r>
              <a:rPr lang="en-US" sz="1400" dirty="0"/>
              <a:t>, so: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You can create </a:t>
            </a:r>
            <a:r>
              <a:rPr lang="en-US" sz="1400" b="1" dirty="0"/>
              <a:t>thousands or millions</a:t>
            </a:r>
            <a:r>
              <a:rPr lang="en-US" sz="1400" dirty="0"/>
              <a:t> of them</a:t>
            </a:r>
          </a:p>
          <a:p>
            <a:r>
              <a:rPr lang="en-US" sz="1400" dirty="0"/>
              <a:t>Blocking (waiting) is </a:t>
            </a:r>
            <a:r>
              <a:rPr lang="en-US" sz="1400" b="1" dirty="0"/>
              <a:t>cheap</a:t>
            </a:r>
            <a:r>
              <a:rPr lang="en-US" sz="1400" dirty="0"/>
              <a:t>, not expensive</a:t>
            </a:r>
          </a:p>
          <a:p>
            <a:r>
              <a:rPr lang="en-US" sz="1400" dirty="0"/>
              <a:t>Requests don’t get stuck waiting for free threads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You see inconsistent data in multi-threaded code. How do you debug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Reproduce the issue under high load or multiple threads</a:t>
            </a:r>
          </a:p>
          <a:p>
            <a:endParaRPr lang="en-US" sz="1400" dirty="0"/>
          </a:p>
          <a:p>
            <a:r>
              <a:rPr lang="en-US" sz="1400" dirty="0"/>
              <a:t>Check shared mutable data (common root cause)</a:t>
            </a:r>
          </a:p>
          <a:p>
            <a:endParaRPr lang="en-US" sz="1400" dirty="0"/>
          </a:p>
          <a:p>
            <a:r>
              <a:rPr lang="en-US" sz="1400" dirty="0"/>
              <a:t>Verify proper use of synchronization / locks / volatile / atomic classes</a:t>
            </a:r>
          </a:p>
          <a:p>
            <a:endParaRPr lang="en-US" sz="1400" dirty="0"/>
          </a:p>
          <a:p>
            <a:r>
              <a:rPr lang="en-US" sz="1400" dirty="0"/>
              <a:t>Look for race conditions and missing thread-safety</a:t>
            </a:r>
          </a:p>
          <a:p>
            <a:endParaRPr lang="en-US" sz="1400" dirty="0"/>
          </a:p>
          <a:p>
            <a:r>
              <a:rPr lang="en-US" sz="1400" dirty="0"/>
              <a:t>Add logging with thread names to trace execution</a:t>
            </a:r>
          </a:p>
          <a:p>
            <a:endParaRPr lang="en-US" sz="1400" dirty="0"/>
          </a:p>
          <a:p>
            <a:r>
              <a:rPr lang="en-US" sz="1400" dirty="0"/>
              <a:t>Use thread dumps to analyze thread states and locks</a:t>
            </a:r>
            <a:endParaRPr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Explain a deadlock scenario you encountered and how you fixed 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Two threads were trying to acquire two locks in </a:t>
            </a:r>
            <a:r>
              <a:rPr lang="en-US" sz="1400" b="1" dirty="0"/>
              <a:t>different order</a:t>
            </a:r>
            <a:r>
              <a:rPr lang="en-US" sz="1400" dirty="0"/>
              <a:t>.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Thread-1 locks A</a:t>
            </a:r>
          </a:p>
          <a:p>
            <a:pPr marL="0" indent="0">
              <a:buNone/>
            </a:pPr>
            <a:r>
              <a:rPr lang="en-US" sz="1400" b="1" dirty="0"/>
              <a:t>Thread-2 locks B</a:t>
            </a:r>
          </a:p>
          <a:p>
            <a:pPr marL="0" indent="0">
              <a:buNone/>
            </a:pPr>
            <a:r>
              <a:rPr lang="en-US" sz="1400" b="1" dirty="0"/>
              <a:t>Thread-1 waits for B</a:t>
            </a:r>
          </a:p>
          <a:p>
            <a:pPr marL="0" indent="0">
              <a:buNone/>
            </a:pPr>
            <a:r>
              <a:rPr lang="en-US" sz="1400" b="1" dirty="0"/>
              <a:t>Thread-2 waits for A</a:t>
            </a:r>
          </a:p>
          <a:p>
            <a:pPr marL="0" indent="0">
              <a:buNone/>
            </a:pPr>
            <a:r>
              <a:rPr lang="en-US" sz="1400" b="1" dirty="0"/>
              <a:t>Both wait forever → DEADLOCK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How I fixed it: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Enforced a </a:t>
            </a:r>
            <a:r>
              <a:rPr lang="en-US" sz="1400" b="1" dirty="0"/>
              <a:t>fixed lock order</a:t>
            </a:r>
            <a:r>
              <a:rPr lang="en-US" sz="1400" dirty="0"/>
              <a:t> (always lock A before B)</a:t>
            </a:r>
          </a:p>
          <a:p>
            <a:pPr marL="0" indent="0">
              <a:buNone/>
            </a:pPr>
            <a:r>
              <a:rPr lang="en-US" sz="1400" dirty="0"/>
              <a:t>Reduced synchronized scope</a:t>
            </a:r>
          </a:p>
          <a:p>
            <a:pPr marL="0" indent="0">
              <a:buNone/>
            </a:pPr>
            <a:r>
              <a:rPr lang="en-US" sz="1400" dirty="0"/>
              <a:t>In some cases, used </a:t>
            </a:r>
            <a:r>
              <a:rPr lang="en-US" sz="1400" b="1" dirty="0" err="1"/>
              <a:t>tryLock</a:t>
            </a:r>
            <a:r>
              <a:rPr lang="en-US" sz="1400" b="1" dirty="0"/>
              <a:t>() with timeout</a:t>
            </a:r>
            <a:r>
              <a:rPr lang="en-US" sz="1400" dirty="0"/>
              <a:t> to avoid infinite waiting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399C-CE6C-D7A1-6B59-AD42E12F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7225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a deadlock scenario you encountered and how you fixed it.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005C-7722-679B-81FC-3BB291D0D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61672"/>
            <a:ext cx="3886200" cy="4615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/>
              <a:t>class </a:t>
            </a:r>
            <a:r>
              <a:rPr lang="en-US" sz="1300" dirty="0" err="1"/>
              <a:t>DeadlockExample</a:t>
            </a:r>
            <a:r>
              <a:rPr lang="en-US" sz="1300" dirty="0"/>
              <a:t> {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private static final Object LOCK_A = new Object();</a:t>
            </a:r>
          </a:p>
          <a:p>
            <a:pPr marL="0" indent="0">
              <a:buNone/>
            </a:pPr>
            <a:r>
              <a:rPr lang="en-US" sz="1300" dirty="0"/>
              <a:t>    private static final Object LOCK_B = new Object();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public static void main(String[] </a:t>
            </a:r>
            <a:r>
              <a:rPr lang="en-US" sz="1300" dirty="0" err="1"/>
              <a:t>args</a:t>
            </a:r>
            <a:r>
              <a:rPr lang="en-US" sz="1300" dirty="0"/>
              <a:t>) {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Thread t1 = new Thread(() -&gt;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synchronized (LOCK_A)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</a:t>
            </a:r>
            <a:r>
              <a:rPr lang="en-US" sz="1300" dirty="0" err="1">
                <a:highlight>
                  <a:srgbClr val="FFFF00"/>
                </a:highlight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</a:rPr>
              <a:t>("Thread-1 locked A");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sleep();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synchronized (LOCK_B)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    </a:t>
            </a:r>
            <a:r>
              <a:rPr lang="en-US" sz="1300" dirty="0" err="1">
                <a:highlight>
                  <a:srgbClr val="FFFF00"/>
                </a:highlight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</a:rPr>
              <a:t>("Thread-1 locked B");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}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}</a:t>
            </a:r>
          </a:p>
          <a:p>
            <a:pPr marL="0" indent="0">
              <a:buNone/>
            </a:pPr>
            <a:r>
              <a:rPr lang="en-US" sz="1300" dirty="0"/>
              <a:t>        });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</a:t>
            </a:r>
          </a:p>
          <a:p>
            <a:pPr marL="0" indent="0">
              <a:buNone/>
            </a:pPr>
            <a:endParaRPr lang="en-IN" sz="13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06B1E-384B-3724-36D0-4BC364860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61672"/>
            <a:ext cx="3886200" cy="461529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Thread t2 = new Thread(() -&gt; {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synchronized (LOCK_B) {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    </a:t>
            </a:r>
            <a:r>
              <a:rPr lang="en-US" sz="2400" dirty="0" err="1">
                <a:highlight>
                  <a:srgbClr val="FFFF00"/>
                </a:highlight>
              </a:rPr>
              <a:t>System.out.println</a:t>
            </a:r>
            <a:r>
              <a:rPr lang="en-US" sz="2400" dirty="0">
                <a:highlight>
                  <a:srgbClr val="FFFF00"/>
                </a:highlight>
              </a:rPr>
              <a:t>("Thread-2 locked B");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    sleep();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    synchronized (LOCK_A) {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        </a:t>
            </a:r>
            <a:r>
              <a:rPr lang="en-US" sz="2400" dirty="0" err="1">
                <a:highlight>
                  <a:srgbClr val="FFFF00"/>
                </a:highlight>
              </a:rPr>
              <a:t>System.out.println</a:t>
            </a:r>
            <a:r>
              <a:rPr lang="en-US" sz="2400" dirty="0">
                <a:highlight>
                  <a:srgbClr val="FFFF00"/>
                </a:highlight>
              </a:rPr>
              <a:t>("Thread-2 locked A");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    }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        });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t1.start();</a:t>
            </a:r>
          </a:p>
          <a:p>
            <a:pPr marL="0" indent="0">
              <a:buNone/>
            </a:pPr>
            <a:r>
              <a:rPr lang="en-US" sz="2400" dirty="0"/>
              <a:t>        t2.start();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private static void sleep() {</a:t>
            </a:r>
          </a:p>
          <a:p>
            <a:pPr marL="0" indent="0">
              <a:buNone/>
            </a:pPr>
            <a:r>
              <a:rPr lang="en-US" sz="2400" dirty="0"/>
              <a:t>        try { </a:t>
            </a:r>
            <a:r>
              <a:rPr lang="en-US" sz="2400" dirty="0" err="1"/>
              <a:t>Thread.sleep</a:t>
            </a:r>
            <a:r>
              <a:rPr lang="en-US" sz="2400" dirty="0"/>
              <a:t>(100); } catch (Exception ignored) {}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037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FDFC-76A6-86B3-199D-856F6261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8380-7B59-ABA5-CE86-AC810BB0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7225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Explain a deadlock scenario you encountered and how you fixed it.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CDB9D-864A-B2C7-B6D0-77119583A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61672"/>
            <a:ext cx="3886200" cy="46152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/>
              <a:t>class </a:t>
            </a:r>
            <a:r>
              <a:rPr lang="en-US" sz="1300" dirty="0" err="1"/>
              <a:t>DeadlockExample</a:t>
            </a:r>
            <a:r>
              <a:rPr lang="en-US" sz="1300" dirty="0"/>
              <a:t> {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private static final Object LOCK_A = new Object();</a:t>
            </a:r>
          </a:p>
          <a:p>
            <a:pPr marL="0" indent="0">
              <a:buNone/>
            </a:pPr>
            <a:r>
              <a:rPr lang="en-US" sz="1300" dirty="0"/>
              <a:t>    private static final Object LOCK_B = new Object();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public static void main(String[] </a:t>
            </a:r>
            <a:r>
              <a:rPr lang="en-US" sz="1300" dirty="0" err="1"/>
              <a:t>args</a:t>
            </a:r>
            <a:r>
              <a:rPr lang="en-US" sz="1300" dirty="0"/>
              <a:t>) {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Thread t1 = new Thread(() -&gt;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synchronized (LOCK_A)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</a:t>
            </a:r>
            <a:r>
              <a:rPr lang="en-US" sz="1300" dirty="0" err="1">
                <a:highlight>
                  <a:srgbClr val="FFFF00"/>
                </a:highlight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</a:rPr>
              <a:t>("Thread-1 locked A");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sleep();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synchronized (LOCK_B) {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    </a:t>
            </a:r>
            <a:r>
              <a:rPr lang="en-US" sz="1300" dirty="0" err="1">
                <a:highlight>
                  <a:srgbClr val="FFFF00"/>
                </a:highlight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</a:rPr>
              <a:t>("Thread-1 locked B");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    }</a:t>
            </a:r>
          </a:p>
          <a:p>
            <a:pPr marL="0" indent="0">
              <a:buNone/>
            </a:pPr>
            <a:r>
              <a:rPr lang="en-US" sz="1300" dirty="0">
                <a:highlight>
                  <a:srgbClr val="FFFF00"/>
                </a:highlight>
              </a:rPr>
              <a:t>            }</a:t>
            </a:r>
          </a:p>
          <a:p>
            <a:pPr marL="0" indent="0">
              <a:buNone/>
            </a:pPr>
            <a:r>
              <a:rPr lang="en-US" sz="1300" dirty="0"/>
              <a:t>        });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        </a:t>
            </a:r>
          </a:p>
          <a:p>
            <a:pPr marL="0" indent="0">
              <a:buNone/>
            </a:pPr>
            <a:endParaRPr lang="en-IN" sz="13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2B222-58F8-5BA4-4F11-A730952EA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61672"/>
            <a:ext cx="3886200" cy="461529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Thread t2 = new Thread(() -&gt; {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synchronized (LOCK_A) {</a:t>
            </a:r>
            <a:r>
              <a:rPr lang="en-US" sz="2400" dirty="0"/>
              <a:t>/ / Always A first</a:t>
            </a:r>
            <a:endParaRPr lang="en-US" sz="2400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    </a:t>
            </a:r>
            <a:r>
              <a:rPr lang="en-US" sz="2400" dirty="0" err="1">
                <a:highlight>
                  <a:srgbClr val="00FF00"/>
                </a:highlight>
              </a:rPr>
              <a:t>System.out.println</a:t>
            </a:r>
            <a:r>
              <a:rPr lang="en-US" sz="2400" dirty="0">
                <a:highlight>
                  <a:srgbClr val="00FF00"/>
                </a:highlight>
              </a:rPr>
              <a:t>("Thread-2 locked B");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    sleep();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    synchronized (LOCK_B) {</a:t>
            </a:r>
            <a:r>
              <a:rPr lang="en-US" sz="2400" dirty="0"/>
              <a:t>// Then B</a:t>
            </a:r>
            <a:endParaRPr lang="en-US" sz="2400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        </a:t>
            </a:r>
            <a:r>
              <a:rPr lang="en-US" sz="2400" dirty="0" err="1">
                <a:highlight>
                  <a:srgbClr val="00FF00"/>
                </a:highlight>
              </a:rPr>
              <a:t>System.out.println</a:t>
            </a:r>
            <a:r>
              <a:rPr lang="en-US" sz="2400" dirty="0">
                <a:highlight>
                  <a:srgbClr val="00FF00"/>
                </a:highlight>
              </a:rPr>
              <a:t>("Thread-2 locked A");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    }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    }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</a:rPr>
              <a:t>        });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t1.start();</a:t>
            </a:r>
          </a:p>
          <a:p>
            <a:pPr marL="0" indent="0">
              <a:buNone/>
            </a:pPr>
            <a:r>
              <a:rPr lang="en-US" sz="2400" dirty="0"/>
              <a:t>        t2.start();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private static void sleep() {</a:t>
            </a:r>
          </a:p>
          <a:p>
            <a:pPr marL="0" indent="0">
              <a:buNone/>
            </a:pPr>
            <a:r>
              <a:rPr lang="en-US" sz="2400" dirty="0"/>
              <a:t>        try { </a:t>
            </a:r>
            <a:r>
              <a:rPr lang="en-US" sz="2400" dirty="0" err="1"/>
              <a:t>Thread.sleep</a:t>
            </a:r>
            <a:r>
              <a:rPr lang="en-US" sz="2400" dirty="0"/>
              <a:t>(100); } catch (Exception ignored) {}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786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Application memory keeps increasing. How do you investigate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45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I analyze heap usage, take heap dumps, and identify objects that are retained longer than expected to find memory leaks.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Check if it’s a memory leak or expected growth</a:t>
            </a:r>
          </a:p>
          <a:p>
            <a:r>
              <a:rPr lang="en-US" sz="1400" dirty="0"/>
              <a:t>Monitor heap usage using tools (</a:t>
            </a:r>
            <a:r>
              <a:rPr lang="en-US" sz="1400" dirty="0" err="1"/>
              <a:t>VisualVM</a:t>
            </a:r>
            <a:r>
              <a:rPr lang="en-US" sz="1400" dirty="0"/>
              <a:t> / </a:t>
            </a:r>
            <a:r>
              <a:rPr lang="en-US" sz="1400" dirty="0" err="1"/>
              <a:t>JConsole</a:t>
            </a:r>
            <a:r>
              <a:rPr lang="en-US" sz="1400" dirty="0"/>
              <a:t> / JMC)</a:t>
            </a:r>
          </a:p>
          <a:p>
            <a:r>
              <a:rPr lang="en-US" sz="1400" dirty="0"/>
              <a:t>Take heap dump and analyze retained objects</a:t>
            </a:r>
          </a:p>
          <a:p>
            <a:endParaRPr lang="en-US" sz="1400" dirty="0"/>
          </a:p>
          <a:p>
            <a:r>
              <a:rPr lang="en-US" sz="1400" dirty="0"/>
              <a:t>Look for:</a:t>
            </a:r>
          </a:p>
          <a:p>
            <a:pPr marL="571500" lvl="1" indent="-171450"/>
            <a:r>
              <a:rPr lang="en-US" sz="1400" dirty="0"/>
              <a:t>Unclosed resources (connections, streams)</a:t>
            </a:r>
          </a:p>
          <a:p>
            <a:pPr marL="571500" lvl="1" indent="-171450"/>
            <a:r>
              <a:rPr lang="en-US" sz="1400" dirty="0"/>
              <a:t>Growing collections (Maps, Caches)</a:t>
            </a:r>
          </a:p>
          <a:p>
            <a:pPr marL="571500" lvl="1" indent="-171450"/>
            <a:r>
              <a:rPr lang="en-US" sz="1400" dirty="0"/>
              <a:t>Static references holding objects</a:t>
            </a:r>
          </a:p>
          <a:p>
            <a:r>
              <a:rPr lang="en-US" sz="1400" dirty="0"/>
              <a:t>Check GC logs for frequent/full GCs</a:t>
            </a:r>
          </a:p>
          <a:p>
            <a:r>
              <a:rPr lang="en-US" sz="1400" dirty="0"/>
              <a:t>Reproduce the issue under load</a:t>
            </a:r>
            <a:endParaRPr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you identify a memory leak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/>
              <a:t>Observe </a:t>
            </a:r>
            <a:r>
              <a:rPr lang="en-IN" sz="1400" b="1" dirty="0"/>
              <a:t>heap memory keeps growing</a:t>
            </a:r>
            <a:r>
              <a:rPr lang="en-IN" sz="1400" dirty="0"/>
              <a:t> after GC</a:t>
            </a:r>
          </a:p>
          <a:p>
            <a:r>
              <a:rPr lang="en-IN" sz="1400" dirty="0"/>
              <a:t>Monitor memory using </a:t>
            </a:r>
            <a:r>
              <a:rPr lang="en-IN" sz="1400" b="1" dirty="0" err="1"/>
              <a:t>VisualVM</a:t>
            </a:r>
            <a:r>
              <a:rPr lang="en-IN" sz="1400" b="1" dirty="0"/>
              <a:t> / </a:t>
            </a:r>
            <a:r>
              <a:rPr lang="en-IN" sz="1400" b="1" dirty="0" err="1"/>
              <a:t>JConsole</a:t>
            </a:r>
            <a:r>
              <a:rPr lang="en-IN" sz="1400" b="1" dirty="0"/>
              <a:t> / JMC</a:t>
            </a:r>
            <a:endParaRPr lang="en-IN" sz="1400" dirty="0"/>
          </a:p>
          <a:p>
            <a:r>
              <a:rPr lang="en-IN" sz="1400" dirty="0"/>
              <a:t>Take </a:t>
            </a:r>
            <a:r>
              <a:rPr lang="en-IN" sz="1400" b="1" dirty="0"/>
              <a:t>heap dumps</a:t>
            </a:r>
            <a:r>
              <a:rPr lang="en-IN" sz="1400" dirty="0"/>
              <a:t> at different times</a:t>
            </a:r>
          </a:p>
          <a:p>
            <a:r>
              <a:rPr lang="en-IN" sz="1400" dirty="0"/>
              <a:t>Compare dumps to find </a:t>
            </a:r>
            <a:r>
              <a:rPr lang="en-IN" sz="1400" b="1" dirty="0"/>
              <a:t>growing objects</a:t>
            </a:r>
            <a:endParaRPr lang="en-IN" sz="1400" dirty="0"/>
          </a:p>
          <a:p>
            <a:r>
              <a:rPr lang="en-IN" sz="1400" dirty="0"/>
              <a:t>Look for:</a:t>
            </a:r>
          </a:p>
          <a:p>
            <a:pPr lvl="1"/>
            <a:r>
              <a:rPr lang="en-IN" sz="1400" dirty="0"/>
              <a:t>Static references</a:t>
            </a:r>
          </a:p>
          <a:p>
            <a:pPr lvl="1"/>
            <a:r>
              <a:rPr lang="en-IN" sz="1400" dirty="0"/>
              <a:t>Large collections</a:t>
            </a:r>
          </a:p>
          <a:p>
            <a:pPr lvl="1"/>
            <a:r>
              <a:rPr lang="en-IN" sz="1400" dirty="0"/>
              <a:t>Unclosed resources</a:t>
            </a:r>
          </a:p>
          <a:p>
            <a:r>
              <a:rPr lang="en-IN" sz="1400" dirty="0" err="1"/>
              <a:t>Analyze</a:t>
            </a:r>
            <a:r>
              <a:rPr lang="en-IN" sz="1400" dirty="0"/>
              <a:t> </a:t>
            </a:r>
            <a:r>
              <a:rPr lang="en-IN" sz="1400" b="1" dirty="0"/>
              <a:t>GC logs</a:t>
            </a:r>
            <a:r>
              <a:rPr lang="en-IN" sz="1400" dirty="0"/>
              <a:t> for frequent Full GCs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3874"/>
          </a:xfrm>
        </p:spPr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 What JVM tools have you used </a:t>
            </a:r>
            <a:r>
              <a:rPr lang="en-IN" sz="2800" dirty="0">
                <a:highlight>
                  <a:srgbClr val="FFFF00"/>
                </a:highlight>
              </a:rPr>
              <a:t>?</a:t>
            </a:r>
            <a:endParaRPr sz="2800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I mainly use JFR with JMC because:</a:t>
            </a:r>
            <a:endParaRPr lang="en-US" sz="1400" dirty="0"/>
          </a:p>
          <a:p>
            <a:r>
              <a:rPr lang="en-US" sz="1400" dirty="0"/>
              <a:t>They are </a:t>
            </a:r>
            <a:r>
              <a:rPr lang="en-US" sz="1400" b="1" dirty="0"/>
              <a:t>built into the JDK</a:t>
            </a:r>
            <a:r>
              <a:rPr lang="en-US" sz="1400" dirty="0"/>
              <a:t> (no extra setup)</a:t>
            </a:r>
          </a:p>
          <a:p>
            <a:r>
              <a:rPr lang="en-US" sz="1400" dirty="0"/>
              <a:t>Have </a:t>
            </a:r>
            <a:r>
              <a:rPr lang="en-US" sz="1400" b="1" dirty="0"/>
              <a:t>very low overhead</a:t>
            </a:r>
            <a:r>
              <a:rPr lang="en-US" sz="1400" dirty="0"/>
              <a:t>, safe for production</a:t>
            </a:r>
          </a:p>
          <a:p>
            <a:r>
              <a:rPr lang="en-US" sz="1400" dirty="0"/>
              <a:t>Provide a </a:t>
            </a:r>
            <a:r>
              <a:rPr lang="en-US" sz="1400" b="1" dirty="0"/>
              <a:t>complete view</a:t>
            </a:r>
            <a:r>
              <a:rPr lang="en-US" sz="1400" dirty="0"/>
              <a:t> of CPU, memory, GC, and threads</a:t>
            </a:r>
          </a:p>
          <a:p>
            <a:r>
              <a:rPr lang="en-US" sz="1400" dirty="0"/>
              <a:t>Are </a:t>
            </a:r>
            <a:r>
              <a:rPr lang="en-US" sz="1400" b="1" dirty="0"/>
              <a:t>replacing ad-hoc monitoring tools</a:t>
            </a:r>
            <a:r>
              <a:rPr lang="en-US" sz="1400" dirty="0"/>
              <a:t> in real-world projects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 Difference between memory leak and memory overflow?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 memory leak slowly consumes memory, while memory overflow occurs when the JVM runs out of heap space.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Memory leak </a:t>
            </a:r>
            <a:r>
              <a:rPr lang="en-US" sz="1400" dirty="0"/>
              <a:t>→ Memory keeps growing over time</a:t>
            </a:r>
          </a:p>
          <a:p>
            <a:pPr marL="0" indent="0">
              <a:buNone/>
            </a:pPr>
            <a:r>
              <a:rPr lang="en-US" sz="1400" b="1" dirty="0"/>
              <a:t>Memory overflow </a:t>
            </a:r>
            <a:r>
              <a:rPr lang="en-US" sz="1400" dirty="0"/>
              <a:t>→ JVM cannot allocate more memory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you troubleshoot high CPU usage in a Java application?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Take thread dumps.</a:t>
            </a:r>
          </a:p>
          <a:p>
            <a:r>
              <a:rPr sz="2000" dirty="0"/>
              <a:t>Example: Infinite loop found.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would you break a Singleton?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400" dirty="0"/>
              <a:t>Using reflection or serialization.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you protect a Singleton from reflection and serialization?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Use </a:t>
            </a:r>
            <a:r>
              <a:rPr sz="1600" dirty="0" err="1"/>
              <a:t>enum</a:t>
            </a:r>
            <a:r>
              <a:rPr sz="1600" dirty="0"/>
              <a:t> Singleton.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7B31-5434-0B57-8677-52275D99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EB0A-6A42-6D78-5461-AF4C4C39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38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is Enum Singleton the safest approach in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JVM guarantees only one instance</a:t>
            </a:r>
            <a:r>
              <a:rPr lang="en-US" sz="1400" dirty="0"/>
              <a:t> of an </a:t>
            </a:r>
            <a:r>
              <a:rPr lang="en-US" sz="1400" dirty="0" err="1"/>
              <a:t>enum</a:t>
            </a:r>
            <a:endParaRPr lang="en-US" sz="1400" dirty="0"/>
          </a:p>
          <a:p>
            <a:r>
              <a:rPr lang="en-US" sz="1400" b="1" dirty="0"/>
              <a:t>Thread-safe by default</a:t>
            </a:r>
            <a:endParaRPr lang="en-US" sz="1400" dirty="0"/>
          </a:p>
          <a:p>
            <a:r>
              <a:rPr lang="en-US" sz="1400" dirty="0"/>
              <a:t>Safe from </a:t>
            </a:r>
            <a:r>
              <a:rPr lang="en-US" sz="1400" b="1" dirty="0"/>
              <a:t>reflection attacks</a:t>
            </a:r>
            <a:endParaRPr lang="en-US" sz="1400" dirty="0"/>
          </a:p>
          <a:p>
            <a:r>
              <a:rPr lang="en-US" sz="1400" dirty="0"/>
              <a:t>Safe from </a:t>
            </a:r>
            <a:r>
              <a:rPr lang="en-US" sz="1400" b="1" dirty="0"/>
              <a:t>serialization issues</a:t>
            </a:r>
            <a:endParaRPr lang="en-US" sz="1400" dirty="0"/>
          </a:p>
          <a:p>
            <a:r>
              <a:rPr lang="en-US" sz="1400" dirty="0"/>
              <a:t>No need for synchronized or volatile</a:t>
            </a:r>
          </a:p>
          <a:p>
            <a:pPr marL="0" indent="0">
              <a:buNone/>
            </a:pPr>
            <a:endParaRPr lang="en-US" sz="1400" dirty="0"/>
          </a:p>
          <a:p>
            <a:pPr marL="400050" lvl="1" indent="0">
              <a:buNone/>
            </a:pPr>
            <a:r>
              <a:rPr lang="en-US" sz="1800" dirty="0" err="1">
                <a:highlight>
                  <a:srgbClr val="C0C0C0"/>
                </a:highlight>
              </a:rPr>
              <a:t>enum</a:t>
            </a:r>
            <a:r>
              <a:rPr lang="en-US" sz="1800" dirty="0">
                <a:highlight>
                  <a:srgbClr val="C0C0C0"/>
                </a:highlight>
              </a:rPr>
              <a:t> Singleton {</a:t>
            </a:r>
          </a:p>
          <a:p>
            <a:pPr marL="400050" lvl="1" indent="0">
              <a:buNone/>
            </a:pPr>
            <a:r>
              <a:rPr lang="en-US" sz="1800" dirty="0">
                <a:highlight>
                  <a:srgbClr val="C0C0C0"/>
                </a:highlight>
              </a:rPr>
              <a:t>    INSTANCE;</a:t>
            </a:r>
          </a:p>
          <a:p>
            <a:pPr marL="400050" lvl="1" indent="0">
              <a:buNone/>
            </a:pPr>
            <a:r>
              <a:rPr lang="en-US" sz="1800" dirty="0">
                <a:highlight>
                  <a:srgbClr val="C0C0C0"/>
                </a:highlight>
              </a:rPr>
              <a:t>}</a:t>
            </a:r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8F4BF-6E95-54CE-20D1-D8016A4B0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596"/>
            <a:ext cx="9144000" cy="478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05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When would you use volatile instead of synchronized?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Use </a:t>
            </a:r>
            <a:r>
              <a:rPr lang="en-US" sz="1400" b="1" dirty="0"/>
              <a:t>volatile</a:t>
            </a:r>
            <a:r>
              <a:rPr lang="en-US" sz="1400" dirty="0"/>
              <a:t> instead of </a:t>
            </a:r>
            <a:r>
              <a:rPr lang="en-US" sz="1400" b="1" dirty="0"/>
              <a:t>synchronized</a:t>
            </a:r>
            <a:r>
              <a:rPr lang="en-US" sz="1400" dirty="0"/>
              <a:t> when:</a:t>
            </a:r>
          </a:p>
          <a:p>
            <a:pPr marL="0" indent="0">
              <a:buNone/>
            </a:pPr>
            <a:r>
              <a:rPr lang="en-US" sz="1400" dirty="0"/>
              <a:t>You </a:t>
            </a:r>
            <a:r>
              <a:rPr lang="en-US" sz="1400" b="1" dirty="0"/>
              <a:t>only need visibility</a:t>
            </a:r>
            <a:r>
              <a:rPr lang="en-US" sz="1400" dirty="0"/>
              <a:t>, not locking</a:t>
            </a:r>
          </a:p>
          <a:p>
            <a:pPr marL="0" indent="0">
              <a:buNone/>
            </a:pPr>
            <a:r>
              <a:rPr lang="en-US" sz="1400" b="1" dirty="0"/>
              <a:t>One thread updates</a:t>
            </a:r>
            <a:r>
              <a:rPr lang="en-US" sz="1400" dirty="0"/>
              <a:t> a variable and </a:t>
            </a:r>
            <a:r>
              <a:rPr lang="en-US" sz="1400" b="1" dirty="0"/>
              <a:t>others only read</a:t>
            </a: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In short:</a:t>
            </a:r>
            <a:br>
              <a:rPr lang="en-US" sz="1400" dirty="0"/>
            </a:br>
            <a:r>
              <a:rPr lang="en-US" sz="1400" dirty="0"/>
              <a:t>👉 volatile = </a:t>
            </a:r>
            <a:r>
              <a:rPr lang="en-US" sz="1400" b="1" dirty="0"/>
              <a:t>see latest value</a:t>
            </a:r>
            <a:br>
              <a:rPr lang="en-US" sz="1400" dirty="0"/>
            </a:br>
            <a:r>
              <a:rPr lang="en-US" sz="1400" dirty="0"/>
              <a:t>👉 synchronized = </a:t>
            </a:r>
            <a:r>
              <a:rPr lang="en-US" sz="1400" b="1" dirty="0"/>
              <a:t>see + modify safely (atomicity + locking)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Example:</a:t>
            </a:r>
            <a:br>
              <a:rPr lang="en-US" sz="1400" dirty="0"/>
            </a:br>
            <a:r>
              <a:rPr lang="en-US" sz="1400" dirty="0"/>
              <a:t>A simple flag to stop a thread: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volatile </a:t>
            </a:r>
            <a:r>
              <a:rPr lang="en-US" sz="1400" dirty="0" err="1">
                <a:solidFill>
                  <a:srgbClr val="00B050"/>
                </a:solidFill>
              </a:rPr>
              <a:t>boolean</a:t>
            </a:r>
            <a:r>
              <a:rPr lang="en-US" sz="1400" dirty="0">
                <a:solidFill>
                  <a:srgbClr val="00B050"/>
                </a:solidFill>
              </a:rPr>
              <a:t> running = true;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No lock needed, just latest value.</a:t>
            </a:r>
          </a:p>
        </p:txBody>
      </p:sp>
    </p:spTree>
    <p:extLst>
      <p:ext uri="{BB962C8B-B14F-4D97-AF65-F5344CB8AC3E}">
        <p14:creationId xmlns:p14="http://schemas.microsoft.com/office/powerpoint/2010/main" val="1326121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can double-checked locking fail without volatile?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/>
              <a:t>Without volatile, the JVM can </a:t>
            </a:r>
            <a:r>
              <a:rPr lang="en-US" sz="1200" b="1" dirty="0"/>
              <a:t>reorder instructions</a:t>
            </a:r>
            <a:r>
              <a:rPr lang="en-US" sz="1200" dirty="0"/>
              <a:t> while creating an object.</a:t>
            </a:r>
          </a:p>
          <a:p>
            <a:pPr marL="0" indent="0">
              <a:buNone/>
            </a:pPr>
            <a:r>
              <a:rPr lang="en-US" sz="1200" dirty="0"/>
              <a:t>This means:</a:t>
            </a:r>
          </a:p>
          <a:p>
            <a:r>
              <a:rPr lang="en-US" sz="1200" dirty="0"/>
              <a:t>Reference is assigned </a:t>
            </a:r>
            <a:r>
              <a:rPr lang="en-US" sz="1200" b="1" dirty="0"/>
              <a:t>before</a:t>
            </a:r>
            <a:r>
              <a:rPr lang="en-US" sz="1200" dirty="0"/>
              <a:t> the object is fully constructed</a:t>
            </a:r>
          </a:p>
          <a:p>
            <a:r>
              <a:rPr lang="en-US" sz="1200" dirty="0"/>
              <a:t>Another thread sees a </a:t>
            </a:r>
            <a:r>
              <a:rPr lang="en-US" sz="1200" b="1" dirty="0"/>
              <a:t>partially created object</a:t>
            </a:r>
            <a:endParaRPr lang="en-US" sz="1200" dirty="0"/>
          </a:p>
          <a:p>
            <a:r>
              <a:rPr lang="en-US" sz="1200" dirty="0"/>
              <a:t>Leads to unpredictable behavior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if (instance == null) {</a:t>
            </a:r>
          </a:p>
          <a:p>
            <a:pPr marL="0" indent="0">
              <a:buNone/>
            </a:pPr>
            <a:r>
              <a:rPr lang="en-US" sz="1200" dirty="0"/>
              <a:t>    synchronized (this) {</a:t>
            </a:r>
          </a:p>
          <a:p>
            <a:pPr marL="0" indent="0">
              <a:buNone/>
            </a:pPr>
            <a:r>
              <a:rPr lang="en-US" sz="1200" dirty="0"/>
              <a:t>        if (instance == null) {</a:t>
            </a:r>
          </a:p>
          <a:p>
            <a:pPr marL="0" indent="0">
              <a:buNone/>
            </a:pPr>
            <a:r>
              <a:rPr lang="en-US" sz="1200" dirty="0"/>
              <a:t>            </a:t>
            </a:r>
            <a:r>
              <a:rPr lang="en-US" sz="1200" b="1" dirty="0">
                <a:highlight>
                  <a:srgbClr val="FFFF00"/>
                </a:highlight>
              </a:rPr>
              <a:t>instance = new Singleton(); // unsafe without volatile</a:t>
            </a:r>
          </a:p>
          <a:p>
            <a:pPr marL="0" indent="0">
              <a:buNone/>
            </a:pPr>
            <a:r>
              <a:rPr lang="en-US" sz="1200" dirty="0"/>
              <a:t>        }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Why volatile fixes it: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Prevents instruction reordering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Guarantees visibility of the fully constructed object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381768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2D7BF8-9F85-2621-6683-DDC602C1D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7" y="1449204"/>
            <a:ext cx="7985003" cy="370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36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41B4C-3149-BFC1-3900-6970ABB81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3" y="1479615"/>
            <a:ext cx="8010260" cy="36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5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4FDB4-2EED-21B5-D2E7-A8E634F9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7" y="1499736"/>
            <a:ext cx="8135641" cy="38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58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93E94-AAFF-1B76-B416-C0FD07B8A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97" y="1551784"/>
            <a:ext cx="8306713" cy="389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75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9D7DA-1585-ED39-9A58-DAC6BAA35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1882"/>
            <a:ext cx="8216352" cy="428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55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CB0D6-2D15-527E-C983-D2EBF89D9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7" y="1210978"/>
            <a:ext cx="8321348" cy="43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7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E50EC-46D7-14DA-3D50-88B067835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69" y="1374640"/>
            <a:ext cx="8193484" cy="411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89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CCABE-1088-5678-4940-FF927F7EF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93" y="1434765"/>
            <a:ext cx="8076533" cy="41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02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414806-1C51-95EE-FC17-B227D6004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57" y="1288198"/>
            <a:ext cx="7987386" cy="413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32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7FDF7-B91B-EE96-9C73-2507D5C87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54" y="1399276"/>
            <a:ext cx="7812645" cy="398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81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75E40B-F809-7F98-F883-47B838D9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92" y="1296407"/>
            <a:ext cx="8163904" cy="439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87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 Where would you use Virtual Threads in your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I’d use Virtual Threads in I/O-heavy parts of the application to handle high concurrency efficiently.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b="1" dirty="0"/>
              <a:t>REST APIs</a:t>
            </a:r>
            <a:r>
              <a:rPr lang="en-US" sz="1400" dirty="0"/>
              <a:t> handling high concurrent user requests</a:t>
            </a:r>
          </a:p>
          <a:p>
            <a:r>
              <a:rPr lang="en-US" sz="1400" b="1" dirty="0"/>
              <a:t>Database calls</a:t>
            </a:r>
            <a:r>
              <a:rPr lang="en-US" sz="1400" dirty="0"/>
              <a:t> (blocking I/O)</a:t>
            </a:r>
          </a:p>
          <a:p>
            <a:r>
              <a:rPr lang="en-US" sz="1400" b="1" dirty="0"/>
              <a:t>External service / API integrations</a:t>
            </a:r>
            <a:endParaRPr lang="en-US" sz="1400" dirty="0"/>
          </a:p>
          <a:p>
            <a:r>
              <a:rPr lang="en-US" sz="1400" b="1" dirty="0"/>
              <a:t>Message consumers</a:t>
            </a:r>
            <a:r>
              <a:rPr lang="en-US" sz="1400" dirty="0"/>
              <a:t> with blocking operations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Why:</a:t>
            </a:r>
            <a:br>
              <a:rPr lang="en-US" sz="1400" dirty="0"/>
            </a:br>
            <a:r>
              <a:rPr lang="en-US" sz="1400" dirty="0"/>
              <a:t>Virtual Threads make </a:t>
            </a:r>
            <a:r>
              <a:rPr lang="en-US" sz="1400" b="1" dirty="0"/>
              <a:t>blocking I/O cheap</a:t>
            </a:r>
            <a:r>
              <a:rPr lang="en-US" sz="1400" dirty="0"/>
              <a:t>, allowing the app to scale to </a:t>
            </a:r>
            <a:r>
              <a:rPr lang="en-US" sz="1400" b="1" dirty="0"/>
              <a:t>thousands or millions of concurrent requests</a:t>
            </a:r>
            <a:r>
              <a:rPr lang="en-US" sz="1400" dirty="0"/>
              <a:t> without thread pool exhaustion.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How do Records improve code quality and reduce bugs?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sz="1400" dirty="0"/>
              <a:t>They are immutable </a:t>
            </a:r>
            <a:r>
              <a:rPr lang="en-IN" sz="1400" b="1" dirty="0"/>
              <a:t>by default</a:t>
            </a:r>
            <a:endParaRPr lang="en-IN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/>
              <a:t>Remove boilerplate (getters, constructor, equals, </a:t>
            </a:r>
            <a:r>
              <a:rPr lang="en-IN" sz="1400" dirty="0" err="1"/>
              <a:t>hashCode</a:t>
            </a:r>
            <a:r>
              <a:rPr lang="en-IN" sz="14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/>
              <a:t>Reduce chances of </a:t>
            </a:r>
            <a:r>
              <a:rPr lang="en-IN" sz="1400" b="1" dirty="0"/>
              <a:t>state-related bugs</a:t>
            </a:r>
            <a:endParaRPr lang="en-IN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/>
              <a:t>Clear intent → used for </a:t>
            </a:r>
            <a:r>
              <a:rPr lang="en-IN" sz="1400" b="1" dirty="0"/>
              <a:t>data carriers</a:t>
            </a:r>
            <a:endParaRPr lang="en-IN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/>
              <a:t>Fewer lines of code → fewer mistakes</a:t>
            </a:r>
          </a:p>
          <a:p>
            <a:pPr marL="0" indent="0">
              <a:buNone/>
            </a:pPr>
            <a:endParaRPr lang="en-IN" sz="1400" dirty="0"/>
          </a:p>
          <a:p>
            <a:pPr marL="400050" lvl="1" indent="0">
              <a:buNone/>
            </a:pPr>
            <a:r>
              <a:rPr lang="en-IN" sz="1400" dirty="0">
                <a:highlight>
                  <a:srgbClr val="FFFF00"/>
                </a:highlight>
              </a:rPr>
              <a:t>record User(int id, String name) {}</a:t>
            </a:r>
          </a:p>
          <a:p>
            <a:endParaRPr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highlight>
                  <a:srgbClr val="FFFF00"/>
                </a:highlight>
              </a:rPr>
              <a:t>Why are Sealed classes useful in domain-driven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They control inheritance.</a:t>
            </a:r>
            <a:endParaRPr lang="en-IN" sz="1400" dirty="0"/>
          </a:p>
          <a:p>
            <a:r>
              <a:rPr lang="en-US" sz="1400" b="1" dirty="0"/>
              <a:t>Restrict which classes can extend</a:t>
            </a:r>
            <a:r>
              <a:rPr lang="en-US" sz="1400" dirty="0"/>
              <a:t> a domain type</a:t>
            </a:r>
          </a:p>
          <a:p>
            <a:r>
              <a:rPr lang="en-US" sz="1400" dirty="0"/>
              <a:t>Enforce </a:t>
            </a:r>
            <a:r>
              <a:rPr lang="en-US" sz="1400" b="1" dirty="0"/>
              <a:t>business rules at compile time</a:t>
            </a:r>
            <a:endParaRPr lang="en-US" sz="1400" dirty="0"/>
          </a:p>
          <a:p>
            <a:r>
              <a:rPr lang="en-US" sz="1400" dirty="0"/>
              <a:t>Make domain models </a:t>
            </a:r>
            <a:r>
              <a:rPr lang="en-US" sz="1400" b="1" dirty="0"/>
              <a:t>safe and explicit</a:t>
            </a:r>
            <a:endParaRPr lang="en-US" sz="1400" dirty="0"/>
          </a:p>
          <a:p>
            <a:r>
              <a:rPr lang="en-US" sz="1400" dirty="0"/>
              <a:t>Prevent invalid or unexpected domain states</a:t>
            </a:r>
          </a:p>
          <a:p>
            <a:pPr marL="0" indent="0">
              <a:buNone/>
            </a:pPr>
            <a:r>
              <a:rPr lang="en-US" sz="1400" b="1" dirty="0"/>
              <a:t>Example: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	</a:t>
            </a:r>
            <a:r>
              <a:rPr lang="en-US" sz="1400" dirty="0">
                <a:highlight>
                  <a:srgbClr val="FFFF00"/>
                </a:highlight>
              </a:rPr>
              <a:t>sealed interface Payment permits Card, </a:t>
            </a:r>
            <a:r>
              <a:rPr lang="en-US" sz="1400" dirty="0" err="1">
                <a:highlight>
                  <a:srgbClr val="FFFF00"/>
                </a:highlight>
              </a:rPr>
              <a:t>Upi</a:t>
            </a:r>
            <a:r>
              <a:rPr lang="en-US" sz="1400" dirty="0">
                <a:highlight>
                  <a:srgbClr val="FFFF00"/>
                </a:highlight>
              </a:rPr>
              <a:t>, Cash {}</a:t>
            </a:r>
          </a:p>
          <a:p>
            <a:endParaRPr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80F678-1CBD-509E-06E9-E337A6FE4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2" y="1665772"/>
            <a:ext cx="7447715" cy="36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58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D0C7D8-8E53-6476-91D0-E61577867B49}"/>
              </a:ext>
            </a:extLst>
          </p:cNvPr>
          <p:cNvSpPr/>
          <p:nvPr/>
        </p:nvSpPr>
        <p:spPr>
          <a:xfrm>
            <a:off x="2786513" y="1470862"/>
            <a:ext cx="2490537" cy="71648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Person</a:t>
            </a:r>
            <a:r>
              <a:rPr lang="en-IN" sz="2700" dirty="0"/>
              <a:t>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69E89-7C54-2424-788E-83A6422F756A}"/>
              </a:ext>
            </a:extLst>
          </p:cNvPr>
          <p:cNvSpPr/>
          <p:nvPr/>
        </p:nvSpPr>
        <p:spPr>
          <a:xfrm>
            <a:off x="3416969" y="3954180"/>
            <a:ext cx="1694046" cy="716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dirty="0"/>
              <a:t>Manager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1B19EC-9C35-9F74-2E5C-A13DDBC95A1A}"/>
              </a:ext>
            </a:extLst>
          </p:cNvPr>
          <p:cNvSpPr/>
          <p:nvPr/>
        </p:nvSpPr>
        <p:spPr>
          <a:xfrm>
            <a:off x="579923" y="3851002"/>
            <a:ext cx="1694046" cy="716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dirty="0"/>
              <a:t>Employee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6557DB-8AAE-062B-BF66-0F00D0F9761F}"/>
              </a:ext>
            </a:extLst>
          </p:cNvPr>
          <p:cNvCxnSpPr>
            <a:cxnSpLocks/>
          </p:cNvCxnSpPr>
          <p:nvPr/>
        </p:nvCxnSpPr>
        <p:spPr>
          <a:xfrm flipV="1">
            <a:off x="1349944" y="2243288"/>
            <a:ext cx="2302844" cy="16077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614940-37C6-9062-52A8-6845EA7A7A38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4057049" y="2243288"/>
            <a:ext cx="206943" cy="171089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05D496-EEBA-7FE1-28B5-ECDD39D5F62D}"/>
              </a:ext>
            </a:extLst>
          </p:cNvPr>
          <p:cNvSpPr/>
          <p:nvPr/>
        </p:nvSpPr>
        <p:spPr>
          <a:xfrm>
            <a:off x="6047072" y="3954179"/>
            <a:ext cx="1694046" cy="716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dirty="0"/>
              <a:t>Car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1D5BE7-C044-DAF1-B002-BB33173CCA46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4757286" y="2187342"/>
            <a:ext cx="2136809" cy="1766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539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00BA-903F-B039-3662-72EEBDF4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46C1-FFA8-9971-8F87-0B927142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Why are Text Blocks preferred over traditional Strings in Java 17+?</a:t>
            </a:r>
            <a:endParaRPr sz="28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C7721-2D62-F9AF-F844-9108BBAF1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400" dirty="0"/>
              <a:t>Improve </a:t>
            </a:r>
            <a:r>
              <a:rPr lang="en-US" sz="1400" b="1" dirty="0"/>
              <a:t>readability</a:t>
            </a:r>
            <a:r>
              <a:rPr lang="en-US" sz="1400" dirty="0"/>
              <a:t> for multi-line strings</a:t>
            </a:r>
          </a:p>
          <a:p>
            <a:r>
              <a:rPr lang="en-US" sz="1400" dirty="0"/>
              <a:t>Eliminate excessive escape characters (\n, \")</a:t>
            </a:r>
          </a:p>
          <a:p>
            <a:r>
              <a:rPr lang="en-US" sz="1400" dirty="0"/>
              <a:t>Preserve </a:t>
            </a:r>
            <a:r>
              <a:rPr lang="en-US" sz="1400" b="1" dirty="0"/>
              <a:t>formatting and indentation</a:t>
            </a:r>
            <a:endParaRPr lang="en-US" sz="1400" dirty="0"/>
          </a:p>
          <a:p>
            <a:r>
              <a:rPr lang="en-US" sz="1400" dirty="0"/>
              <a:t>Reduce bugs in </a:t>
            </a:r>
            <a:r>
              <a:rPr lang="en-US" sz="1400" b="1" dirty="0"/>
              <a:t>SQL, JSON, HTML</a:t>
            </a:r>
            <a:r>
              <a:rPr lang="en-US" sz="1400" dirty="0"/>
              <a:t> strings</a:t>
            </a:r>
          </a:p>
          <a:p>
            <a:r>
              <a:rPr lang="en-US" sz="1400" dirty="0"/>
              <a:t>Easier to maintain and refactor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// Before (hard to read)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</a:rPr>
              <a:t>String query = "SELECT * FROM users\n" +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</a:rPr>
              <a:t>               "WHERE status = 'ACTIVE'\n" +</a:t>
            </a:r>
          </a:p>
          <a:p>
            <a:pPr marL="0" indent="0">
              <a:buNone/>
            </a:pPr>
            <a:r>
              <a:rPr lang="en-US" sz="1400" dirty="0">
                <a:highlight>
                  <a:srgbClr val="FFFF00"/>
                </a:highlight>
              </a:rPr>
              <a:t>               "ORDER BY </a:t>
            </a:r>
            <a:r>
              <a:rPr lang="en-US" sz="1400" dirty="0" err="1">
                <a:highlight>
                  <a:srgbClr val="FFFF00"/>
                </a:highlight>
              </a:rPr>
              <a:t>created_at</a:t>
            </a:r>
            <a:r>
              <a:rPr lang="en-US" sz="1400" dirty="0">
                <a:highlight>
                  <a:srgbClr val="FFFF00"/>
                </a:highlight>
              </a:rPr>
              <a:t>";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// Java 15+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String query = """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        SELECT * FROM users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        WHERE status = 'ACTIVE'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        ORDER BY </a:t>
            </a:r>
            <a:r>
              <a:rPr lang="en-US" sz="1400" dirty="0" err="1">
                <a:solidFill>
                  <a:srgbClr val="00B050"/>
                </a:solidFill>
              </a:rPr>
              <a:t>created_at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50"/>
                </a:solidFill>
              </a:rPr>
              <a:t>        """;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D8CA1-D03D-60BD-F61E-554F5D697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63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20A3E9-5FBE-4EC9-3634-68BC3086A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541EBC-A6F4-20E4-D1E5-A43D661A9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9346D-6AE2-0C9F-D3D5-66D4383CD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76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2353</TotalTime>
  <Words>3010</Words>
  <Application>Microsoft Office PowerPoint</Application>
  <PresentationFormat>On-screen Show (4:3)</PresentationFormat>
  <Paragraphs>442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PowerPoint Presentation</vt:lpstr>
      <vt:lpstr>Your application throws OutOfMemoryError due to Strings. Why does this happen?</vt:lpstr>
      <vt:lpstr> How would you optimize heavy string concatenation inside loops?</vt:lpstr>
      <vt:lpstr>How do you handle exceptions in REST APIs in real-world applications?</vt:lpstr>
      <vt:lpstr>How do you log exceptions without losing the root cause?</vt:lpstr>
      <vt:lpstr>How would you design a thread-safe in-memory cache?</vt:lpstr>
      <vt:lpstr> Why does ConcurrentHashMap not allow null keys or values?</vt:lpstr>
      <vt:lpstr>Sorting millions of objects — Comparable or Comparator? Why?</vt:lpstr>
      <vt:lpstr>How do you avoid ConcurrentModificationException?</vt:lpstr>
      <vt:lpstr>When would you choose TreeMap over HashMap in real systems?</vt:lpstr>
      <vt:lpstr>Streams vs loops — which is better and why?</vt:lpstr>
      <vt:lpstr>When should you NOT use parallel streams?</vt:lpstr>
      <vt:lpstr>How do Streams impact performance with large data sets?</vt:lpstr>
      <vt:lpstr>Your application is slow under high load. How would Virtual Threads help?</vt:lpstr>
      <vt:lpstr>You see inconsistent data in multi-threaded code. How do you debug it?</vt:lpstr>
      <vt:lpstr>Explain a deadlock scenario you encountered and how you fixed it.</vt:lpstr>
      <vt:lpstr>Explain a deadlock scenario you encountered and how you fixed it.</vt:lpstr>
      <vt:lpstr>Explain a deadlock scenario you encountered and how you fixed it.</vt:lpstr>
      <vt:lpstr>Application memory keeps increasing. How do you investigate it?</vt:lpstr>
      <vt:lpstr>How do you identify a memory leak in Java?</vt:lpstr>
      <vt:lpstr> What JVM tools have you used ?</vt:lpstr>
      <vt:lpstr> Difference between memory leak and memory overflow?</vt:lpstr>
      <vt:lpstr>How do you troubleshoot high CPU usage in a Java application?</vt:lpstr>
      <vt:lpstr>How would you break a Singleton?</vt:lpstr>
      <vt:lpstr>How do you protect a Singleton from reflection and serialization?</vt:lpstr>
      <vt:lpstr>PowerPoint Presentation</vt:lpstr>
      <vt:lpstr>Why is Enum Singleton the safest approach in Java?</vt:lpstr>
      <vt:lpstr>PowerPoint Presentation</vt:lpstr>
      <vt:lpstr>When would you use volatile instead of synchronized?</vt:lpstr>
      <vt:lpstr>Why can double-checked locking fail without volatile?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Where would you use Virtual Threads in your project?</vt:lpstr>
      <vt:lpstr>How do Records improve code quality and reduce bugs?</vt:lpstr>
      <vt:lpstr>Why are Sealed classes useful in domain-driven design?</vt:lpstr>
      <vt:lpstr>PowerPoint Presentation</vt:lpstr>
      <vt:lpstr>PowerPoint Presentation</vt:lpstr>
      <vt:lpstr>Why are Text Blocks preferred over traditional Strings in Java 17+?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68</cp:revision>
  <dcterms:created xsi:type="dcterms:W3CDTF">2013-01-27T09:14:16Z</dcterms:created>
  <dcterms:modified xsi:type="dcterms:W3CDTF">2026-02-12T14:06:31Z</dcterms:modified>
  <cp:category/>
</cp:coreProperties>
</file>