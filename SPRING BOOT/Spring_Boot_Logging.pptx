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0" r:id="rId2"/>
    <p:sldId id="257" r:id="rId3"/>
    <p:sldId id="258" r:id="rId4"/>
    <p:sldId id="259" r:id="rId5"/>
    <p:sldId id="260" r:id="rId6"/>
    <p:sldId id="282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1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621" y="500669"/>
            <a:ext cx="8229600" cy="1143000"/>
          </a:xfrm>
        </p:spPr>
        <p:txBody>
          <a:bodyPr>
            <a:normAutofit/>
          </a:bodyPr>
          <a:lstStyle/>
          <a:p>
            <a:pPr algn="l">
              <a:defRPr sz="2016" b="1">
                <a:solidFill>
                  <a:srgbClr val="003366"/>
                </a:solidFill>
              </a:defRPr>
            </a:pPr>
            <a:r>
              <a:rPr lang="en-IN" dirty="0"/>
              <a:t>Spring Boot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51738" y="1863187"/>
            <a:ext cx="5483317" cy="1565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296"/>
            </a:pPr>
            <a:r>
              <a:rPr dirty="0"/>
              <a:t>Real Production Logging for Backend Engineers</a:t>
            </a:r>
          </a:p>
          <a:p>
            <a:pPr>
              <a:defRPr sz="1296"/>
            </a:pPr>
            <a:r>
              <a:rPr dirty="0"/>
              <a:t>Topics: </a:t>
            </a:r>
            <a:endParaRPr lang="en-IN" dirty="0"/>
          </a:p>
          <a:p>
            <a:pPr>
              <a:defRPr sz="1296"/>
            </a:pPr>
            <a:r>
              <a:rPr dirty="0"/>
              <a:t>Structured Logging</a:t>
            </a:r>
            <a:endParaRPr lang="en-IN" dirty="0"/>
          </a:p>
          <a:p>
            <a:pPr>
              <a:defRPr sz="1296"/>
            </a:pPr>
            <a:r>
              <a:rPr dirty="0"/>
              <a:t>Correlation ID</a:t>
            </a:r>
            <a:endParaRPr lang="en-IN" dirty="0"/>
          </a:p>
          <a:p>
            <a:pPr>
              <a:defRPr sz="1296"/>
            </a:pPr>
            <a:r>
              <a:rPr dirty="0"/>
              <a:t>Exception Tracking</a:t>
            </a:r>
            <a:endParaRPr lang="en-IN" dirty="0"/>
          </a:p>
          <a:p>
            <a:pPr>
              <a:defRPr sz="1296"/>
            </a:pPr>
            <a:r>
              <a:rPr dirty="0"/>
              <a:t>Async Logging, ELK Stack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16" b="1">
                <a:solidFill>
                  <a:srgbClr val="003366"/>
                </a:solidFill>
              </a:defRPr>
            </a:pPr>
            <a:r>
              <a:t>Why Logging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96"/>
            </a:pPr>
            <a:r>
              <a:rPr dirty="0"/>
              <a:t>Logs are the production story of your application.</a:t>
            </a:r>
            <a:br>
              <a:rPr dirty="0"/>
            </a:br>
            <a:r>
              <a:rPr dirty="0"/>
              <a:t>Without logs debugging production becomes impossible.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16" b="1">
                <a:solidFill>
                  <a:srgbClr val="003366"/>
                </a:solidFill>
              </a:defRPr>
            </a:pPr>
            <a:r>
              <a:t>Real Production Incident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96"/>
            </a:pPr>
            <a:r>
              <a:t>Payment failures</a:t>
            </a:r>
            <a:br/>
            <a:r>
              <a:t>Kafka retries</a:t>
            </a:r>
            <a:br/>
            <a:r>
              <a:t>Slow APIs</a:t>
            </a:r>
            <a:br/>
            <a:r>
              <a:t>Customer complaints</a:t>
            </a:r>
            <a:br/>
            <a:r>
              <a:t>How do we debug?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16" b="1">
                <a:solidFill>
                  <a:srgbClr val="003366"/>
                </a:solidFill>
              </a:defRPr>
            </a:pPr>
            <a:r>
              <a:t>Logging Levels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96"/>
            </a:pPr>
            <a:r>
              <a:rPr dirty="0"/>
              <a:t>TRACE → Deep execution flow</a:t>
            </a:r>
            <a:br>
              <a:rPr dirty="0"/>
            </a:br>
            <a:r>
              <a:rPr dirty="0"/>
              <a:t>DEBUG → Developer debugging</a:t>
            </a:r>
            <a:br>
              <a:rPr dirty="0"/>
            </a:br>
            <a:r>
              <a:rPr dirty="0"/>
              <a:t>INFO → Business events</a:t>
            </a:r>
            <a:br>
              <a:rPr dirty="0"/>
            </a:br>
            <a:r>
              <a:rPr dirty="0"/>
              <a:t>WARN → Recoverable issues</a:t>
            </a:r>
            <a:br>
              <a:rPr dirty="0"/>
            </a:br>
            <a:r>
              <a:rPr dirty="0"/>
              <a:t>ERROR → Production failures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16" b="1">
                <a:solidFill>
                  <a:srgbClr val="003366"/>
                </a:solidFill>
              </a:defRPr>
            </a:pPr>
            <a:r>
              <a:t>Log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96"/>
            </a:pPr>
            <a:r>
              <a:t>TRACE</a:t>
            </a:r>
            <a:br/>
            <a:r>
              <a:t>DEBUG</a:t>
            </a:r>
            <a:br/>
            <a:r>
              <a:t>INFO</a:t>
            </a:r>
            <a:br/>
            <a:r>
              <a:t>WARN</a:t>
            </a:r>
            <a:br/>
            <a:r>
              <a:t>ERROR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11A7D-133B-8C52-CEDC-F5A4C26A6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9F17336-BB45-CB38-9CE3-1B56CFBD7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5361"/>
            <a:ext cx="9144000" cy="6107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152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16" b="1">
                <a:solidFill>
                  <a:srgbClr val="003366"/>
                </a:solidFill>
              </a:defRPr>
            </a:pPr>
            <a:r>
              <a:t>Spring Boot Default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96"/>
            </a:pPr>
            <a:r>
              <a:t>Spring Boot uses Logback by default.</a:t>
            </a:r>
            <a:br/>
            <a:r>
              <a:t>Default logs contain timestamp, thread, level, logger name.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2492990" cy="1820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36">
                <a:latin typeface="Courier New"/>
              </a:defRPr>
            </a:pPr>
            <a:r>
              <a:rPr dirty="0"/>
              <a:t>@RestController</a:t>
            </a:r>
            <a:br>
              <a:rPr dirty="0"/>
            </a:br>
            <a:r>
              <a:rPr dirty="0"/>
              <a:t>public class </a:t>
            </a:r>
            <a:r>
              <a:rPr dirty="0" err="1"/>
              <a:t>OrderController</a:t>
            </a:r>
            <a:r>
              <a:rPr dirty="0"/>
              <a:t> {</a:t>
            </a:r>
            <a:br>
              <a:rPr dirty="0"/>
            </a:br>
            <a:br>
              <a:rPr dirty="0"/>
            </a:br>
            <a:r>
              <a:rPr dirty="0"/>
              <a:t>    @GetMapping("/orders")</a:t>
            </a:r>
            <a:br>
              <a:rPr dirty="0"/>
            </a:br>
            <a:r>
              <a:rPr dirty="0"/>
              <a:t>    public String </a:t>
            </a:r>
            <a:r>
              <a:rPr dirty="0" err="1"/>
              <a:t>getOrders</a:t>
            </a:r>
            <a:r>
              <a:rPr dirty="0"/>
              <a:t>() {</a:t>
            </a:r>
            <a:br>
              <a:rPr dirty="0"/>
            </a:br>
            <a:r>
              <a:rPr dirty="0"/>
              <a:t>        return "Orders fetched";</a:t>
            </a:r>
            <a:br>
              <a:rPr dirty="0"/>
            </a:br>
            <a:r>
              <a:rPr dirty="0"/>
              <a:t>    }</a:t>
            </a:r>
            <a:br>
              <a:rPr dirty="0"/>
            </a:br>
            <a:r>
              <a:rPr dirty="0"/>
              <a:t>}</a:t>
            </a:r>
            <a:endParaRPr lang="en-IN" dirty="0"/>
          </a:p>
          <a:p>
            <a:pPr>
              <a:defRPr sz="936">
                <a:latin typeface="Courier New"/>
              </a:defRPr>
            </a:pPr>
            <a:endParaRPr lang="en-IN" dirty="0"/>
          </a:p>
          <a:p>
            <a:pPr>
              <a:defRPr sz="936">
                <a:latin typeface="Courier New"/>
              </a:defRPr>
            </a:pPr>
            <a:endParaRPr lang="en-IN" dirty="0"/>
          </a:p>
          <a:p>
            <a:pPr>
              <a:defRPr sz="936">
                <a:latin typeface="Courier New"/>
              </a:defRPr>
            </a:pPr>
            <a:endParaRPr lang="en-IN" dirty="0"/>
          </a:p>
          <a:p>
            <a:pPr>
              <a:defRPr sz="936">
                <a:latin typeface="Courier New"/>
              </a:defRPr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16" b="1">
                <a:solidFill>
                  <a:srgbClr val="003366"/>
                </a:solidFill>
              </a:defRPr>
            </a:pPr>
            <a:r>
              <a:t>Avoid System.out.println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96"/>
            </a:pPr>
            <a:r>
              <a:t>System.out.println is not production logging.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8046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36">
                <a:latin typeface="Courier New"/>
              </a:defRPr>
            </a:pPr>
            <a:r>
              <a:t>System.out.println("Order Created");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16" b="1">
                <a:solidFill>
                  <a:srgbClr val="003366"/>
                </a:solidFill>
              </a:defRPr>
            </a:pPr>
            <a:r>
              <a:t>SLF4J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96"/>
            </a:pPr>
            <a:r>
              <a:t>Use Lombok @Slf4j with parameterized logging.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6032421" cy="25726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36">
                <a:latin typeface="Courier New"/>
              </a:defRPr>
            </a:pPr>
            <a:r>
              <a:rPr dirty="0"/>
              <a:t>@Slf4j</a:t>
            </a:r>
            <a:br>
              <a:rPr dirty="0"/>
            </a:br>
            <a:r>
              <a:rPr dirty="0"/>
              <a:t>@RestController</a:t>
            </a:r>
            <a:br>
              <a:rPr dirty="0"/>
            </a:br>
            <a:r>
              <a:rPr dirty="0"/>
              <a:t>public class </a:t>
            </a:r>
            <a:r>
              <a:rPr dirty="0" err="1"/>
              <a:t>OrderController</a:t>
            </a:r>
            <a:r>
              <a:rPr dirty="0"/>
              <a:t> {</a:t>
            </a:r>
            <a:br>
              <a:rPr dirty="0"/>
            </a:br>
            <a:br>
              <a:rPr dirty="0"/>
            </a:br>
            <a:r>
              <a:rPr dirty="0"/>
              <a:t>    @GetMapping("/orders")</a:t>
            </a:r>
            <a:br>
              <a:rPr dirty="0"/>
            </a:br>
            <a:r>
              <a:rPr dirty="0"/>
              <a:t>    public String orders() {</a:t>
            </a:r>
            <a:br>
              <a:rPr dirty="0"/>
            </a:br>
            <a:br>
              <a:rPr dirty="0"/>
            </a:br>
            <a:r>
              <a:rPr dirty="0"/>
              <a:t>        log.info("Fetching orders");</a:t>
            </a:r>
            <a:br>
              <a:rPr dirty="0"/>
            </a:br>
            <a:br>
              <a:rPr dirty="0"/>
            </a:br>
            <a:r>
              <a:rPr dirty="0"/>
              <a:t>        return "success";</a:t>
            </a:r>
            <a:br>
              <a:rPr dirty="0"/>
            </a:br>
            <a:r>
              <a:rPr dirty="0"/>
              <a:t>    }</a:t>
            </a:r>
            <a:br>
              <a:rPr dirty="0"/>
            </a:br>
            <a:r>
              <a:rPr dirty="0"/>
              <a:t>}</a:t>
            </a:r>
            <a:endParaRPr lang="en-IN" dirty="0"/>
          </a:p>
          <a:p>
            <a:pPr>
              <a:defRPr sz="936">
                <a:latin typeface="Courier New"/>
              </a:defRPr>
            </a:pPr>
            <a:endParaRPr lang="en-IN" dirty="0"/>
          </a:p>
          <a:p>
            <a:pPr>
              <a:defRPr sz="1008">
                <a:latin typeface="Courier New"/>
              </a:defRPr>
            </a:pPr>
            <a:r>
              <a:rPr lang="en-US" sz="900" dirty="0"/>
              <a:t>Example:</a:t>
            </a:r>
            <a:endParaRPr lang="en-US" dirty="0"/>
          </a:p>
          <a:p>
            <a:pPr>
              <a:defRPr sz="1008">
                <a:latin typeface="Courier New"/>
              </a:defRPr>
            </a:pPr>
            <a:endParaRPr lang="en-US" dirty="0"/>
          </a:p>
          <a:p>
            <a:pPr>
              <a:defRPr sz="1008">
                <a:latin typeface="Courier New"/>
              </a:defRPr>
            </a:pPr>
            <a:r>
              <a:rPr lang="en-US" b="1" dirty="0"/>
              <a:t>2026-06-06 INFO 12345 --- [nio-8080-exec-1] </a:t>
            </a:r>
            <a:r>
              <a:rPr lang="en-US" b="1" dirty="0" err="1"/>
              <a:t>OrderController</a:t>
            </a:r>
            <a:r>
              <a:rPr lang="en-US" b="1" dirty="0"/>
              <a:t> : Orders fetched</a:t>
            </a:r>
          </a:p>
          <a:p>
            <a:pPr>
              <a:defRPr sz="936">
                <a:latin typeface="Courier New"/>
              </a:defRPr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16" b="1">
                <a:solidFill>
                  <a:srgbClr val="003366"/>
                </a:solidFill>
              </a:defRPr>
            </a:pPr>
            <a:r>
              <a:t>Structured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96"/>
            </a:pPr>
            <a:r>
              <a:rPr dirty="0"/>
              <a:t>Always log meaningful structured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8046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36">
                <a:latin typeface="Courier New"/>
              </a:defRPr>
            </a:pPr>
            <a:r>
              <a:rPr dirty="0"/>
              <a:t>log.info(</a:t>
            </a:r>
            <a:br>
              <a:rPr dirty="0"/>
            </a:br>
            <a:r>
              <a:rPr dirty="0"/>
              <a:t>    "Order created </a:t>
            </a:r>
            <a:r>
              <a:rPr dirty="0" err="1"/>
              <a:t>orderId</a:t>
            </a:r>
            <a:r>
              <a:rPr dirty="0"/>
              <a:t>={} </a:t>
            </a:r>
            <a:r>
              <a:rPr dirty="0" err="1"/>
              <a:t>customerId</a:t>
            </a:r>
            <a:r>
              <a:rPr dirty="0"/>
              <a:t>={} amount={}",</a:t>
            </a:r>
            <a:br>
              <a:rPr dirty="0"/>
            </a:br>
            <a:r>
              <a:rPr dirty="0"/>
              <a:t>    </a:t>
            </a:r>
            <a:r>
              <a:rPr dirty="0" err="1"/>
              <a:t>orderId</a:t>
            </a:r>
            <a:r>
              <a:rPr dirty="0"/>
              <a:t>,</a:t>
            </a:r>
            <a:br>
              <a:rPr dirty="0"/>
            </a:br>
            <a:r>
              <a:rPr dirty="0"/>
              <a:t>    </a:t>
            </a:r>
            <a:r>
              <a:rPr dirty="0" err="1"/>
              <a:t>customerId</a:t>
            </a:r>
            <a:r>
              <a:rPr dirty="0"/>
              <a:t>,</a:t>
            </a:r>
            <a:br>
              <a:rPr dirty="0"/>
            </a:br>
            <a:r>
              <a:rPr dirty="0"/>
              <a:t>    amount</a:t>
            </a:r>
            <a:br>
              <a:rPr dirty="0"/>
            </a:br>
            <a:r>
              <a:rPr dirty="0"/>
              <a:t>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16" b="1">
                <a:solidFill>
                  <a:srgbClr val="003366"/>
                </a:solidFill>
              </a:defRPr>
            </a:pPr>
            <a:r>
              <a:t>Real Project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96"/>
            </a:pPr>
            <a:r>
              <a:t>Client → Order Service → Payment Service → Kafka → Notification Service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16" b="1">
                <a:solidFill>
                  <a:srgbClr val="003366"/>
                </a:solidFill>
              </a:defRPr>
            </a:pPr>
            <a:r>
              <a:t>Microservice Debugging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96"/>
            </a:pPr>
            <a:r>
              <a:t>How to trace one request across multiple services?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16" b="1">
                <a:solidFill>
                  <a:srgbClr val="003366"/>
                </a:solidFill>
              </a:defRPr>
            </a:pPr>
            <a:r>
              <a:t>Correlation 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96"/>
            </a:pPr>
            <a:r>
              <a:t>Correlation ID helps trace requests across services.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8046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36">
                <a:latin typeface="Courier New"/>
              </a:defRPr>
            </a:pPr>
            <a:r>
              <a:t>@Component</a:t>
            </a:r>
            <a:br/>
            <a:r>
              <a:t>public class CorrelationIdFilter implements Filter {</a:t>
            </a:r>
            <a:br/>
            <a:br/>
            <a:r>
              <a:t>    @Override</a:t>
            </a:r>
            <a:br/>
            <a:r>
              <a:t>    public void doFilter(</a:t>
            </a:r>
            <a:br/>
            <a:r>
              <a:t>            ServletRequest request,</a:t>
            </a:r>
            <a:br/>
            <a:r>
              <a:t>            ServletResponse response,</a:t>
            </a:r>
            <a:br/>
            <a:r>
              <a:t>            FilterChain chain)</a:t>
            </a:r>
            <a:br/>
            <a:r>
              <a:t>            throws IOException, ServletException {</a:t>
            </a:r>
            <a:br/>
            <a:br/>
            <a:r>
              <a:t>        String correlationId =</a:t>
            </a:r>
            <a:br/>
            <a:r>
              <a:t>                UUID.randomUUID().toString();</a:t>
            </a:r>
            <a:br/>
            <a:br/>
            <a:r>
              <a:t>        MDC.put("correlationId", correlationId);</a:t>
            </a:r>
            <a:br/>
            <a:br/>
            <a:r>
              <a:t>        try {</a:t>
            </a:r>
            <a:br/>
            <a:r>
              <a:t>            chain.doFilter(request, response);</a:t>
            </a:r>
            <a:br/>
            <a:r>
              <a:t>        } finally {</a:t>
            </a:r>
            <a:br/>
            <a:r>
              <a:t>            MDC.clear();</a:t>
            </a:r>
            <a:br/>
            <a:r>
              <a:t>        }</a:t>
            </a:r>
            <a:br/>
            <a:r>
              <a:t>  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16" b="1">
                <a:solidFill>
                  <a:srgbClr val="003366"/>
                </a:solidFill>
              </a:defRPr>
            </a:pPr>
            <a:r>
              <a:t>Log Pattern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96"/>
            </a:pPr>
            <a:r>
              <a:t>Add correlationId into every log 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8046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36">
                <a:latin typeface="Courier New"/>
              </a:defRPr>
            </a:pPr>
            <a:r>
              <a:t>logging:</a:t>
            </a:r>
            <a:br/>
            <a:r>
              <a:t>  pattern:</a:t>
            </a:r>
            <a:br/>
            <a:r>
              <a:t>    console: "%d [%thread] %-5level %logger - [%X{correlationId}] %msg%n"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16" b="1">
                <a:solidFill>
                  <a:srgbClr val="003366"/>
                </a:solidFill>
              </a:defRPr>
            </a:pPr>
            <a:r>
              <a:t>Service Layer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96"/>
            </a:pPr>
            <a:r>
              <a:t>Log start and completion of business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8046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36">
                <a:latin typeface="Courier New"/>
              </a:defRPr>
            </a:pPr>
            <a:r>
              <a:t>@Slf4j</a:t>
            </a:r>
            <a:br/>
            <a:r>
              <a:t>@Service</a:t>
            </a:r>
            <a:br/>
            <a:r>
              <a:t>public class OrderService {</a:t>
            </a:r>
            <a:br/>
            <a:br/>
            <a:r>
              <a:t>    public void createOrder(Long orderId) {</a:t>
            </a:r>
            <a:br/>
            <a:br/>
            <a:r>
              <a:t>        log.info("Starting order creation orderId={}", orderId);</a:t>
            </a:r>
            <a:br/>
            <a:br/>
            <a:r>
              <a:t>        log.info("Order creation completed orderId={}", orderId);</a:t>
            </a:r>
            <a:br/>
            <a:r>
              <a:t>  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16" b="1">
                <a:solidFill>
                  <a:srgbClr val="003366"/>
                </a:solidFill>
              </a:defRPr>
            </a:pPr>
            <a:r>
              <a:t>Exception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39" y="934948"/>
            <a:ext cx="4742551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96"/>
            </a:pPr>
            <a:r>
              <a:rPr sz="1100" dirty="0"/>
              <a:t>Always log exception </a:t>
            </a:r>
            <a:r>
              <a:rPr sz="1100" dirty="0" err="1"/>
              <a:t>stacktrace</a:t>
            </a:r>
            <a:r>
              <a:rPr sz="1100" dirty="0"/>
              <a:t>.</a:t>
            </a:r>
            <a:endParaRPr lang="en-IN" sz="1100" dirty="0"/>
          </a:p>
          <a:p>
            <a:pPr>
              <a:defRPr sz="1296"/>
            </a:pPr>
            <a:endParaRPr lang="en-IN" sz="1100" dirty="0"/>
          </a:p>
          <a:p>
            <a:pPr>
              <a:defRPr sz="1296"/>
            </a:pPr>
            <a:endParaRPr lang="en-IN" sz="1100" dirty="0"/>
          </a:p>
          <a:p>
            <a:pPr>
              <a:defRPr sz="1296"/>
            </a:pPr>
            <a:r>
              <a:rPr lang="en-IN" sz="1100" dirty="0"/>
              <a:t>❌ Bad:</a:t>
            </a:r>
          </a:p>
          <a:p>
            <a:pPr>
              <a:defRPr sz="1296"/>
            </a:pPr>
            <a:r>
              <a:rPr lang="en-IN" sz="1100" dirty="0"/>
              <a:t>catch (Exception e) {</a:t>
            </a:r>
          </a:p>
          <a:p>
            <a:pPr>
              <a:defRPr sz="1296"/>
            </a:pPr>
            <a:r>
              <a:rPr lang="en-IN" sz="1100" dirty="0"/>
              <a:t>    </a:t>
            </a:r>
            <a:r>
              <a:rPr lang="en-IN" sz="1100" dirty="0" err="1"/>
              <a:t>log.error</a:t>
            </a:r>
            <a:r>
              <a:rPr lang="en-IN" sz="1100" dirty="0"/>
              <a:t>("Error");</a:t>
            </a:r>
          </a:p>
          <a:p>
            <a:pPr>
              <a:defRPr sz="1296"/>
            </a:pPr>
            <a:r>
              <a:rPr lang="en-IN" sz="1100" dirty="0"/>
              <a:t>}</a:t>
            </a:r>
            <a:br>
              <a:rPr lang="en-IN" sz="1100" dirty="0"/>
            </a:br>
            <a:endParaRPr lang="en-IN" sz="1100" dirty="0"/>
          </a:p>
          <a:p>
            <a:pPr>
              <a:defRPr sz="1296"/>
            </a:pPr>
            <a:endParaRPr lang="en-IN" sz="1100" dirty="0"/>
          </a:p>
          <a:p>
            <a:pPr>
              <a:defRPr sz="1296"/>
            </a:pPr>
            <a:endParaRPr lang="en-IN" sz="1100" dirty="0"/>
          </a:p>
          <a:p>
            <a:pPr>
              <a:defRPr sz="1296"/>
            </a:pPr>
            <a:endParaRPr lang="en-IN" sz="1100" dirty="0"/>
          </a:p>
          <a:p>
            <a:pPr>
              <a:defRPr sz="1296"/>
            </a:pPr>
            <a:endParaRPr lang="en-IN" sz="1100" dirty="0"/>
          </a:p>
          <a:p>
            <a:pPr>
              <a:defRPr sz="1296"/>
            </a:pPr>
            <a:endParaRPr lang="en-IN" sz="1100" dirty="0"/>
          </a:p>
          <a:p>
            <a:pPr>
              <a:defRPr sz="1296"/>
            </a:pPr>
            <a:endParaRPr lang="en-IN" sz="1100" dirty="0"/>
          </a:p>
          <a:p>
            <a:pPr>
              <a:defRPr sz="1296"/>
            </a:pPr>
            <a:endParaRPr sz="1100" dirty="0"/>
          </a:p>
        </p:txBody>
      </p:sp>
      <p:sp>
        <p:nvSpPr>
          <p:cNvPr id="5" name="TextBox 4"/>
          <p:cNvSpPr txBox="1"/>
          <p:nvPr/>
        </p:nvSpPr>
        <p:spPr>
          <a:xfrm>
            <a:off x="640080" y="2758872"/>
            <a:ext cx="8046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36">
                <a:latin typeface="Courier New"/>
              </a:defRPr>
            </a:pPr>
            <a:r>
              <a:rPr dirty="0"/>
              <a:t>catch (Exception e) {</a:t>
            </a:r>
            <a:br>
              <a:rPr dirty="0"/>
            </a:br>
            <a:r>
              <a:rPr dirty="0"/>
              <a:t>    </a:t>
            </a:r>
            <a:r>
              <a:rPr dirty="0" err="1"/>
              <a:t>log.error</a:t>
            </a:r>
            <a:r>
              <a:rPr dirty="0"/>
              <a:t>(</a:t>
            </a:r>
            <a:br>
              <a:rPr dirty="0"/>
            </a:br>
            <a:r>
              <a:rPr dirty="0"/>
              <a:t>        "Payment failed </a:t>
            </a:r>
            <a:r>
              <a:rPr dirty="0" err="1"/>
              <a:t>orderId</a:t>
            </a:r>
            <a:r>
              <a:rPr dirty="0"/>
              <a:t>={}",</a:t>
            </a:r>
            <a:br>
              <a:rPr dirty="0"/>
            </a:br>
            <a:r>
              <a:rPr dirty="0"/>
              <a:t>        </a:t>
            </a:r>
            <a:r>
              <a:rPr dirty="0" err="1"/>
              <a:t>orderId</a:t>
            </a:r>
            <a:r>
              <a:rPr dirty="0"/>
              <a:t>,</a:t>
            </a:r>
            <a:br>
              <a:rPr dirty="0"/>
            </a:br>
            <a:r>
              <a:rPr dirty="0"/>
              <a:t>        e</a:t>
            </a:r>
            <a:br>
              <a:rPr dirty="0"/>
            </a:br>
            <a:r>
              <a:rPr dirty="0"/>
              <a:t>    );</a:t>
            </a:r>
            <a:br>
              <a:rPr dirty="0"/>
            </a:b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16" b="1">
                <a:solidFill>
                  <a:srgbClr val="003366"/>
                </a:solidFill>
              </a:defRPr>
            </a:pPr>
            <a:r>
              <a:t>Global Exception Handler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96"/>
            </a:pPr>
            <a:r>
              <a:t>Centralized exception handling.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8046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36">
                <a:latin typeface="Courier New"/>
              </a:defRPr>
            </a:pPr>
            <a:r>
              <a:t>@RestControllerAdvice</a:t>
            </a:r>
            <a:br/>
            <a:r>
              <a:t>@Slf4j</a:t>
            </a:r>
            <a:br/>
            <a:r>
              <a:t>public class GlobalExceptionHandler {</a:t>
            </a:r>
            <a:br/>
            <a:br/>
            <a:r>
              <a:t>    @ExceptionHandler(Exception.class)</a:t>
            </a:r>
            <a:br/>
            <a:r>
              <a:t>    public ResponseEntity&lt;String&gt; handleException(Exception ex) {</a:t>
            </a:r>
            <a:br/>
            <a:br/>
            <a:r>
              <a:t>        log.error("Unhandled exception occurred", ex);</a:t>
            </a:r>
            <a:br/>
            <a:br/>
            <a:r>
              <a:t>        return ResponseEntity</a:t>
            </a:r>
            <a:br/>
            <a:r>
              <a:t>                .internalServerError()</a:t>
            </a:r>
            <a:br/>
            <a:r>
              <a:t>                .body("Something went wrong");</a:t>
            </a:r>
            <a:br/>
            <a:r>
              <a:t>  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16" b="1">
                <a:solidFill>
                  <a:srgbClr val="003366"/>
                </a:solidFill>
              </a:defRPr>
            </a:pPr>
            <a:r>
              <a:t>Performance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96"/>
            </a:pPr>
            <a:r>
              <a:t>Track API execution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8046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36">
                <a:latin typeface="Courier New"/>
              </a:defRPr>
            </a:pPr>
            <a:r>
              <a:t>@Component</a:t>
            </a:r>
            <a:br/>
            <a:r>
              <a:t>@Slf4j</a:t>
            </a:r>
            <a:br/>
            <a:r>
              <a:t>public class RequestTimingFilter implements Filter {</a:t>
            </a:r>
            <a:br/>
            <a:br/>
            <a:r>
              <a:t>    @Override</a:t>
            </a:r>
            <a:br/>
            <a:r>
              <a:t>    public void doFilter(</a:t>
            </a:r>
            <a:br/>
            <a:r>
              <a:t>            ServletRequest request,</a:t>
            </a:r>
            <a:br/>
            <a:r>
              <a:t>            ServletResponse response,</a:t>
            </a:r>
            <a:br/>
            <a:r>
              <a:t>            FilterChain chain)</a:t>
            </a:r>
            <a:br/>
            <a:r>
              <a:t>            throws IOException, ServletException {</a:t>
            </a:r>
            <a:br/>
            <a:br/>
            <a:r>
              <a:t>        long start = System.currentTimeMillis();</a:t>
            </a:r>
            <a:br/>
            <a:br/>
            <a:r>
              <a:t>        chain.doFilter(request, response);</a:t>
            </a:r>
            <a:br/>
            <a:br/>
            <a:r>
              <a:t>        long end = System.currentTimeMillis();</a:t>
            </a:r>
            <a:br/>
            <a:br/>
            <a:r>
              <a:t>        log.info("API execution time={}ms", (end - start));</a:t>
            </a:r>
            <a:br/>
            <a:r>
              <a:t>  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16" b="1">
                <a:solidFill>
                  <a:srgbClr val="003366"/>
                </a:solidFill>
              </a:defRPr>
            </a:pPr>
            <a:r>
              <a:t>Async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96"/>
            </a:pPr>
            <a:r>
              <a:t>Async logging improves application performance.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8046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36">
                <a:latin typeface="Courier New"/>
              </a:defRPr>
            </a:pPr>
            <a:r>
              <a:t>&lt;appender name="ASYNC"</a:t>
            </a:r>
            <a:br/>
            <a:r>
              <a:t>          class="ch.qos.logback.classic.AsyncAppender"&gt;</a:t>
            </a:r>
            <a:br/>
            <a:br/>
            <a:r>
              <a:t>    &lt;appender-ref ref="STDOUT"/&gt;</a:t>
            </a:r>
            <a:br/>
            <a:r>
              <a:t>&lt;/appender&gt;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16" b="1">
                <a:solidFill>
                  <a:srgbClr val="003366"/>
                </a:solidFill>
              </a:defRPr>
            </a:pPr>
            <a:r>
              <a:t>File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96"/>
            </a:pPr>
            <a:r>
              <a:t>Store logs into files.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8046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36">
                <a:latin typeface="Courier New"/>
              </a:defRPr>
            </a:pPr>
            <a:r>
              <a:t>logging:</a:t>
            </a:r>
            <a:br/>
            <a:r>
              <a:t>  file:</a:t>
            </a:r>
            <a:br/>
            <a:r>
              <a:t>    name: logs/application.log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16" b="1">
                <a:solidFill>
                  <a:srgbClr val="003366"/>
                </a:solidFill>
              </a:defRPr>
            </a:pPr>
            <a:r>
              <a:t>Centralized Logging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96"/>
            </a:pPr>
            <a:r>
              <a:t>Application Logs → Logstash → Elasticsearch → Kibana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16" b="1">
                <a:solidFill>
                  <a:srgbClr val="003366"/>
                </a:solidFill>
              </a:defRPr>
            </a:pPr>
            <a:r>
              <a:t>Production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96"/>
            </a:pPr>
            <a:r>
              <a:t>Avoid logging sensitive data.</a:t>
            </a:r>
            <a:br/>
            <a:r>
              <a:t>Avoid logging inside loops.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8046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36">
                <a:latin typeface="Courier New"/>
              </a:defRPr>
            </a:pPr>
            <a:r>
              <a:t>for(int i=0;i&lt;100000;i++){</a:t>
            </a:r>
            <a:br/>
            <a:r>
              <a:t>    log.info("Inside loop");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16" b="1">
                <a:solidFill>
                  <a:srgbClr val="003366"/>
                </a:solidFill>
              </a:defRPr>
            </a:pPr>
            <a:r>
              <a:t>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96"/>
            </a:pPr>
            <a:r>
              <a:t>Use structured logging</a:t>
            </a:r>
            <a:br/>
            <a:r>
              <a:t>Use proper log levels</a:t>
            </a:r>
            <a:br/>
            <a:r>
              <a:t>Avoid sensitive information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16" b="1">
                <a:solidFill>
                  <a:srgbClr val="003366"/>
                </a:solidFill>
              </a:defRPr>
            </a:pPr>
            <a:r>
              <a:t>Interview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96"/>
            </a:pPr>
            <a:r>
              <a:t>Difference between DEBUG and TRACE?</a:t>
            </a:r>
            <a:br/>
            <a:r>
              <a:t>Why use MDC?</a:t>
            </a:r>
            <a:br/>
            <a:r>
              <a:t>Why async logging?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16" b="1">
                <a:solidFill>
                  <a:srgbClr val="003366"/>
                </a:solidFill>
              </a:defRPr>
            </a:pPr>
            <a:r>
              <a:t>Final 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96"/>
            </a:pPr>
            <a:r>
              <a:t>Logs are not just debugging tools.</a:t>
            </a:r>
            <a:br/>
            <a:r>
              <a:t>Logs are the production story of your application.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81D6B-9EC6-F771-967A-045C18858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A56845-4260-3C65-0776-85346F38CB23}"/>
              </a:ext>
            </a:extLst>
          </p:cNvPr>
          <p:cNvSpPr txBox="1"/>
          <p:nvPr/>
        </p:nvSpPr>
        <p:spPr>
          <a:xfrm>
            <a:off x="3139782" y="2442167"/>
            <a:ext cx="4046044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16" b="1">
                <a:solidFill>
                  <a:srgbClr val="003366"/>
                </a:solidFill>
              </a:defRPr>
            </a:pPr>
            <a:r>
              <a:rPr lang="en-IN" sz="6000" dirty="0"/>
              <a:t>Thank you…</a:t>
            </a:r>
            <a:endParaRPr sz="6000" dirty="0"/>
          </a:p>
        </p:txBody>
      </p:sp>
    </p:spTree>
    <p:extLst>
      <p:ext uri="{BB962C8B-B14F-4D97-AF65-F5344CB8AC3E}">
        <p14:creationId xmlns:p14="http://schemas.microsoft.com/office/powerpoint/2010/main" val="921728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936</Words>
  <Application>Microsoft Office PowerPoint</Application>
  <PresentationFormat>On-screen Show (4:3)</PresentationFormat>
  <Paragraphs>85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Spring Boot Logging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Narendra Sahoo</cp:lastModifiedBy>
  <cp:revision>7</cp:revision>
  <dcterms:created xsi:type="dcterms:W3CDTF">2013-01-27T09:14:16Z</dcterms:created>
  <dcterms:modified xsi:type="dcterms:W3CDTF">2026-06-07T17:13:55Z</dcterms:modified>
  <cp:category/>
</cp:coreProperties>
</file>