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71" r:id="rId9"/>
    <p:sldId id="265" r:id="rId10"/>
    <p:sldId id="268" r:id="rId11"/>
    <p:sldId id="282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Quarkus</a:t>
            </a:r>
            <a:r>
              <a:rPr b="1" dirty="0"/>
              <a:t> vs Spring Boot</a:t>
            </a:r>
          </a:p>
        </p:txBody>
      </p:sp>
      <p:pic>
        <p:nvPicPr>
          <p:cNvPr id="1026" name="Picture 2" descr="No alternative text description for this image">
            <a:extLst>
              <a:ext uri="{FF2B5EF4-FFF2-40B4-BE49-F238E27FC236}">
                <a16:creationId xmlns:a16="http://schemas.microsoft.com/office/drawing/2014/main" id="{77A931D6-D433-EDEE-9D7D-3345CD2E01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405" y="1600200"/>
            <a:ext cx="6793190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🚀 </a:t>
            </a:r>
            <a:r>
              <a:rPr lang="en-IN" b="1" dirty="0"/>
              <a:t>What You’ll Learn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Spring Boot Overview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err="1"/>
              <a:t>Quarkus</a:t>
            </a:r>
            <a:r>
              <a:rPr lang="en-IN" dirty="0"/>
              <a:t> Overview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Key Differences (Spring Boot vs </a:t>
            </a:r>
            <a:r>
              <a:rPr lang="en-IN" dirty="0" err="1"/>
              <a:t>Quarkus</a:t>
            </a:r>
            <a:r>
              <a:rPr lang="en-IN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Live Coding Demo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When to Use What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Spring Boot?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🔥 Most Popular Java Framework</a:t>
            </a:r>
          </a:p>
          <a:p>
            <a:pPr marL="0" indent="0">
              <a:buNone/>
            </a:pPr>
            <a:br>
              <a:rPr lang="en-US" sz="2000" dirty="0"/>
            </a:br>
            <a:r>
              <a:rPr lang="en-US" sz="2000" dirty="0"/>
              <a:t>🏢 Widely Used in Top Companies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dirty="0"/>
              <a:t>⚡ Rapid Development (Less Configuration)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dirty="0"/>
              <a:t>🧩 Auto Configuration Built-in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dirty="0"/>
              <a:t>🌍 Huge Community Support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dirty="0"/>
              <a:t>🚀 Easy to Learn &amp; Get Started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	💡 </a:t>
            </a:r>
            <a:r>
              <a:rPr lang="en-US" sz="2000" i="1" dirty="0"/>
              <a:t>Code less. Build faster. Scale better.</a:t>
            </a:r>
            <a:endParaRPr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🚀 </a:t>
            </a:r>
            <a:r>
              <a:rPr lang="en-IN" b="1" dirty="0"/>
              <a:t>What is </a:t>
            </a:r>
            <a:r>
              <a:rPr lang="en-IN" b="1" dirty="0" err="1"/>
              <a:t>Quarkus</a:t>
            </a:r>
            <a:r>
              <a:rPr lang="en-IN" b="1" dirty="0"/>
              <a:t>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🔥 Kubernetes-Native Java Framework</a:t>
            </a:r>
          </a:p>
          <a:p>
            <a:pPr marL="0" indent="0">
              <a:buNone/>
            </a:pPr>
            <a:br>
              <a:rPr lang="en-IN" sz="2000" dirty="0"/>
            </a:br>
            <a:r>
              <a:rPr lang="en-IN" sz="2000" dirty="0"/>
              <a:t>⚡ Super Fast Startup &amp; Low Memory Usage</a:t>
            </a:r>
            <a:br>
              <a:rPr lang="en-IN" sz="2000" dirty="0"/>
            </a:br>
            <a:endParaRPr lang="en-IN" sz="2000" dirty="0"/>
          </a:p>
          <a:p>
            <a:pPr marL="0" indent="0">
              <a:buNone/>
            </a:pPr>
            <a:r>
              <a:rPr lang="en-IN" sz="2000" dirty="0"/>
              <a:t>☁️ Built for Cloud &amp; Microservices</a:t>
            </a:r>
            <a:br>
              <a:rPr lang="en-IN" sz="2000" dirty="0"/>
            </a:br>
            <a:endParaRPr lang="en-IN" sz="2000" dirty="0"/>
          </a:p>
          <a:p>
            <a:pPr marL="0" indent="0">
              <a:buNone/>
            </a:pPr>
            <a:r>
              <a:rPr lang="en-IN" sz="2000" dirty="0"/>
              <a:t>🧩 Reactive &amp; Non-Blocking by Design</a:t>
            </a:r>
            <a:br>
              <a:rPr lang="en-IN" sz="2000" dirty="0"/>
            </a:br>
            <a:endParaRPr lang="en-IN" sz="2000" dirty="0"/>
          </a:p>
          <a:p>
            <a:pPr marL="0" indent="0">
              <a:buNone/>
            </a:pPr>
            <a:r>
              <a:rPr lang="en-IN" sz="2000" dirty="0"/>
              <a:t>🐳 Perfect for Containers &amp; Serverless</a:t>
            </a:r>
            <a:br>
              <a:rPr lang="en-IN" sz="2000" dirty="0"/>
            </a:br>
            <a:endParaRPr lang="en-IN" sz="2000" dirty="0"/>
          </a:p>
          <a:p>
            <a:pPr marL="0" indent="0">
              <a:buNone/>
            </a:pPr>
            <a:r>
              <a:rPr lang="en-IN" sz="2000" dirty="0"/>
              <a:t>🚀 Developer Joy (Live Reload + Fast Dev Mode)</a:t>
            </a:r>
          </a:p>
          <a:p>
            <a:pPr marL="0" indent="0">
              <a:buNone/>
            </a:pPr>
            <a:r>
              <a:rPr lang="en-IN" sz="2000" dirty="0"/>
              <a:t>	</a:t>
            </a:r>
            <a:r>
              <a:rPr lang="en-US" sz="2000" dirty="0"/>
              <a:t>💡 </a:t>
            </a:r>
            <a:r>
              <a:rPr lang="en-US" sz="2000" i="1" dirty="0"/>
              <a:t>Run Java faster. Scale smarter. Go cloud-native.</a:t>
            </a:r>
            <a:endParaRPr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Spring Boot = Truck (powerful but heavy)</a:t>
            </a:r>
          </a:p>
          <a:p>
            <a:r>
              <a:rPr dirty="0" err="1"/>
              <a:t>Quarkus</a:t>
            </a:r>
            <a:r>
              <a:rPr dirty="0"/>
              <a:t> = Bike (fast &amp; lightweight)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Differences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C7E8BA-D449-62F7-C347-9E3B419B0C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2435882"/>
              </p:ext>
            </p:extLst>
          </p:nvPr>
        </p:nvGraphicFramePr>
        <p:xfrm>
          <a:off x="457199" y="1417638"/>
          <a:ext cx="8337480" cy="4849600"/>
        </p:xfrm>
        <a:graphic>
          <a:graphicData uri="http://schemas.openxmlformats.org/drawingml/2006/table">
            <a:tbl>
              <a:tblPr/>
              <a:tblGrid>
                <a:gridCol w="2779160">
                  <a:extLst>
                    <a:ext uri="{9D8B030D-6E8A-4147-A177-3AD203B41FA5}">
                      <a16:colId xmlns:a16="http://schemas.microsoft.com/office/drawing/2014/main" val="4206472447"/>
                    </a:ext>
                  </a:extLst>
                </a:gridCol>
                <a:gridCol w="2779160">
                  <a:extLst>
                    <a:ext uri="{9D8B030D-6E8A-4147-A177-3AD203B41FA5}">
                      <a16:colId xmlns:a16="http://schemas.microsoft.com/office/drawing/2014/main" val="2646333136"/>
                    </a:ext>
                  </a:extLst>
                </a:gridCol>
                <a:gridCol w="2779160">
                  <a:extLst>
                    <a:ext uri="{9D8B030D-6E8A-4147-A177-3AD203B41FA5}">
                      <a16:colId xmlns:a16="http://schemas.microsoft.com/office/drawing/2014/main" val="3514639296"/>
                    </a:ext>
                  </a:extLst>
                </a:gridCol>
              </a:tblGrid>
              <a:tr h="606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highlight>
                            <a:srgbClr val="FFFF00"/>
                          </a:highlight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Quarkus 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Spring Boot 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604331"/>
                  </a:ext>
                </a:extLst>
              </a:tr>
              <a:tr h="606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What is it?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Modern Java framework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Popular Java framework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012763"/>
                  </a:ext>
                </a:extLst>
              </a:tr>
              <a:tr h="606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Startup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Very fast 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Normal 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751356"/>
                  </a:ext>
                </a:extLst>
              </a:tr>
              <a:tr h="606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Memory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732603"/>
                  </a:ext>
                </a:extLst>
              </a:tr>
              <a:tr h="606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Easy to Learn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Very Easy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150494"/>
                  </a:ext>
                </a:extLst>
              </a:tr>
              <a:tr h="606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Community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Small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Very Big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009550"/>
                  </a:ext>
                </a:extLst>
              </a:tr>
              <a:tr h="606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Best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Cloud &amp; microservices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All types of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593761"/>
                  </a:ext>
                </a:extLst>
              </a:tr>
              <a:tr h="606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Industry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Growing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Very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1146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EA08B-2524-A8E5-8D80-0484F6DDB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n-US" dirty="0"/>
              <a:t>🚀 When to Use </a:t>
            </a:r>
            <a:r>
              <a:rPr lang="en-US" b="1" dirty="0"/>
              <a:t>Spring Boot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4AD81-B7A7-D89D-75EC-1C51A3495D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065944"/>
            <a:ext cx="4038600" cy="52218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Use </a:t>
            </a:r>
            <a:r>
              <a:rPr lang="en-US" sz="1400" b="1" dirty="0"/>
              <a:t>Spring Boot</a:t>
            </a:r>
            <a:r>
              <a:rPr lang="en-US" sz="1400" dirty="0"/>
              <a:t> when stability, ecosystem, and flexibility matter most.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1. Enterprise / Large Applications</a:t>
            </a:r>
          </a:p>
          <a:p>
            <a:pPr marL="0" indent="0">
              <a:buNone/>
            </a:pPr>
            <a:r>
              <a:rPr lang="en-US" sz="1400" dirty="0"/>
              <a:t>Complex business logic</a:t>
            </a:r>
          </a:p>
          <a:p>
            <a:pPr marL="0" indent="0">
              <a:buNone/>
            </a:pPr>
            <a:r>
              <a:rPr lang="en-US" sz="1400" dirty="0"/>
              <a:t>Long-running services</a:t>
            </a:r>
          </a:p>
          <a:p>
            <a:pPr marL="0" indent="0">
              <a:buNone/>
            </a:pPr>
            <a:r>
              <a:rPr lang="en-US" sz="1400" dirty="0"/>
              <a:t>Banking, insurance, enterprise SaaS</a:t>
            </a:r>
          </a:p>
          <a:p>
            <a:pPr marL="0" indent="0">
              <a:buNone/>
            </a:pPr>
            <a:r>
              <a:rPr lang="en-US" sz="1400" dirty="0"/>
              <a:t>👉 Why?</a:t>
            </a:r>
          </a:p>
          <a:p>
            <a:pPr marL="0" indent="0">
              <a:buNone/>
            </a:pPr>
            <a:r>
              <a:rPr lang="en-US" sz="1400" dirty="0"/>
              <a:t>Mature ecosystem (Spring Security, Spring Data, etc.)</a:t>
            </a:r>
          </a:p>
          <a:p>
            <a:pPr marL="0" indent="0">
              <a:buNone/>
            </a:pPr>
            <a:r>
              <a:rPr lang="en-US" sz="1400" dirty="0"/>
              <a:t>Huge community support</a:t>
            </a:r>
          </a:p>
          <a:p>
            <a:pPr marL="0" indent="0">
              <a:buNone/>
            </a:pPr>
            <a:r>
              <a:rPr lang="en-US" sz="1400" dirty="0"/>
              <a:t>Easier hiring &amp; onboarding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2. Microservices (Traditional style)</a:t>
            </a:r>
          </a:p>
          <a:p>
            <a:pPr marL="0" indent="0">
              <a:buNone/>
            </a:pPr>
            <a:r>
              <a:rPr lang="en-US" sz="1400" dirty="0"/>
              <a:t>REST APIs</a:t>
            </a:r>
          </a:p>
          <a:p>
            <a:pPr marL="0" indent="0">
              <a:buNone/>
            </a:pPr>
            <a:r>
              <a:rPr lang="en-US" sz="1400" dirty="0"/>
              <a:t>CRUD-heavy services</a:t>
            </a:r>
          </a:p>
          <a:p>
            <a:pPr marL="0" indent="0">
              <a:buNone/>
            </a:pPr>
            <a:r>
              <a:rPr lang="en-US" sz="1400" dirty="0"/>
              <a:t>Service-to-service communication</a:t>
            </a:r>
          </a:p>
          <a:p>
            <a:pPr marL="0" indent="0">
              <a:buNone/>
            </a:pPr>
            <a:r>
              <a:rPr lang="en-US" sz="1400" dirty="0"/>
              <a:t>👉 Works great with:</a:t>
            </a:r>
          </a:p>
          <a:p>
            <a:pPr marL="0" indent="0">
              <a:buNone/>
            </a:pPr>
            <a:r>
              <a:rPr lang="en-US" sz="1400" dirty="0"/>
              <a:t>Spring Cloud</a:t>
            </a:r>
          </a:p>
          <a:p>
            <a:pPr marL="0" indent="0">
              <a:buNone/>
            </a:pPr>
            <a:r>
              <a:rPr lang="en-US" sz="1400" dirty="0"/>
              <a:t>Netflix OSS stack</a:t>
            </a: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20B4FB-144F-4746-D6E7-7B7A44FFF5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166018"/>
            <a:ext cx="4114800" cy="47929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3. When Team Experience Matters</a:t>
            </a:r>
          </a:p>
          <a:p>
            <a:pPr marL="0" indent="0">
              <a:buNone/>
            </a:pPr>
            <a:r>
              <a:rPr lang="en-US" sz="1400" dirty="0"/>
              <a:t>Your team already knows Spring</a:t>
            </a:r>
          </a:p>
          <a:p>
            <a:pPr marL="0" indent="0">
              <a:buNone/>
            </a:pPr>
            <a:r>
              <a:rPr lang="en-US" sz="1400" dirty="0"/>
              <a:t>Faster development due to familiarity</a:t>
            </a:r>
          </a:p>
          <a:p>
            <a:pPr marL="0" indent="0">
              <a:buNone/>
            </a:pPr>
            <a:br>
              <a:rPr lang="en-US" sz="1400" dirty="0"/>
            </a:b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4. Rich Feature Requirements</a:t>
            </a:r>
          </a:p>
          <a:p>
            <a:pPr marL="0" indent="0">
              <a:buNone/>
            </a:pPr>
            <a:r>
              <a:rPr lang="en-US" sz="1400" dirty="0"/>
              <a:t>Security (OAuth2, JWT)</a:t>
            </a:r>
          </a:p>
          <a:p>
            <a:pPr marL="0" indent="0">
              <a:buNone/>
            </a:pPr>
            <a:r>
              <a:rPr lang="en-US" sz="1400" dirty="0"/>
              <a:t>Transactions</a:t>
            </a:r>
          </a:p>
          <a:p>
            <a:pPr marL="0" indent="0">
              <a:buNone/>
            </a:pPr>
            <a:r>
              <a:rPr lang="en-US" sz="1400" dirty="0"/>
              <a:t>Batch processing</a:t>
            </a:r>
          </a:p>
          <a:p>
            <a:pPr marL="0" indent="0">
              <a:buNone/>
            </a:pPr>
            <a:r>
              <a:rPr lang="en-US" sz="1400" dirty="0"/>
              <a:t>👉 Spring gives everything out-of-the-box.</a:t>
            </a:r>
          </a:p>
          <a:p>
            <a:pPr marL="0" indent="0">
              <a:buNone/>
            </a:pPr>
            <a:br>
              <a:rPr lang="en-US" sz="1400" dirty="0"/>
            </a:b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⚠️ Not Ideal When:</a:t>
            </a:r>
          </a:p>
          <a:p>
            <a:pPr marL="0" indent="0">
              <a:buNone/>
            </a:pPr>
            <a:r>
              <a:rPr lang="en-US" sz="1400" dirty="0"/>
              <a:t>You need ultra-fast startup</a:t>
            </a:r>
          </a:p>
          <a:p>
            <a:pPr marL="0" indent="0">
              <a:buNone/>
            </a:pPr>
            <a:r>
              <a:rPr lang="en-US" sz="1400" dirty="0"/>
              <a:t>Memory is limited (e.g., serverless)</a:t>
            </a:r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616301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AA80B-1CE7-7DB9-C351-73AAD00D4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95551-647C-5CEA-1C73-3C21AC03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n-IN" dirty="0"/>
              <a:t>⚡ When to Use </a:t>
            </a:r>
            <a:r>
              <a:rPr lang="en-IN" b="1" dirty="0" err="1"/>
              <a:t>Quarkus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AAB8F-705A-0698-18BA-05E46D666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065944"/>
            <a:ext cx="4038600" cy="52218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Use </a:t>
            </a:r>
            <a:r>
              <a:rPr lang="en-IN" sz="1400" b="1" dirty="0" err="1"/>
              <a:t>Quarkus</a:t>
            </a:r>
            <a:r>
              <a:rPr lang="en-IN" sz="1400" dirty="0"/>
              <a:t> when performance and cloud-native efficiency matter.</a:t>
            </a:r>
          </a:p>
          <a:p>
            <a:pPr marL="0" indent="0">
              <a:buNone/>
            </a:pPr>
            <a:r>
              <a:rPr lang="en-IN" sz="1400" b="1" dirty="0"/>
              <a:t>✅ Best for:</a:t>
            </a:r>
          </a:p>
          <a:p>
            <a:pPr marL="0" indent="0">
              <a:buNone/>
            </a:pPr>
            <a:r>
              <a:rPr lang="en-IN" sz="1400" b="1" dirty="0"/>
              <a:t>1. Cloud-Native &amp; Kubernetes Apps</a:t>
            </a:r>
          </a:p>
          <a:p>
            <a:pPr marL="0" indent="0">
              <a:buNone/>
            </a:pPr>
            <a:r>
              <a:rPr lang="en-IN" sz="1400" dirty="0"/>
              <a:t>Containers</a:t>
            </a:r>
          </a:p>
          <a:p>
            <a:pPr marL="0" indent="0">
              <a:buNone/>
            </a:pPr>
            <a:r>
              <a:rPr lang="en-IN" sz="1400" dirty="0"/>
              <a:t>Auto-scaling microservices</a:t>
            </a:r>
          </a:p>
          <a:p>
            <a:pPr marL="0" indent="0">
              <a:buNone/>
            </a:pPr>
            <a:r>
              <a:rPr lang="en-IN" sz="1400" dirty="0"/>
              <a:t>👉 Why?</a:t>
            </a:r>
          </a:p>
          <a:p>
            <a:pPr marL="0" indent="0">
              <a:buNone/>
            </a:pPr>
            <a:r>
              <a:rPr lang="en-IN" sz="1400" dirty="0"/>
              <a:t>Designed for Kubernetes</a:t>
            </a:r>
          </a:p>
          <a:p>
            <a:pPr marL="0" indent="0">
              <a:buNone/>
            </a:pPr>
            <a:r>
              <a:rPr lang="en-IN" sz="1400" dirty="0"/>
              <a:t>Fast startup (milliseconds)</a:t>
            </a:r>
          </a:p>
          <a:p>
            <a:pPr marL="0" indent="0">
              <a:buNone/>
            </a:pPr>
            <a:br>
              <a:rPr lang="en-IN" sz="1400" dirty="0"/>
            </a:b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2. Serverless / Functions</a:t>
            </a:r>
          </a:p>
          <a:p>
            <a:pPr marL="0" indent="0">
              <a:buNone/>
            </a:pPr>
            <a:r>
              <a:rPr lang="en-IN" sz="1400" dirty="0"/>
              <a:t>AWS Lambda / GCP Functions</a:t>
            </a:r>
          </a:p>
          <a:p>
            <a:pPr marL="0" indent="0">
              <a:buNone/>
            </a:pPr>
            <a:r>
              <a:rPr lang="en-IN" sz="1400" dirty="0"/>
              <a:t>👉 Benefit:</a:t>
            </a:r>
          </a:p>
          <a:p>
            <a:pPr marL="0" indent="0">
              <a:buNone/>
            </a:pPr>
            <a:r>
              <a:rPr lang="en-IN" sz="1400" dirty="0"/>
              <a:t>Low cold start time</a:t>
            </a:r>
          </a:p>
          <a:p>
            <a:pPr marL="0" indent="0">
              <a:buNone/>
            </a:pPr>
            <a:r>
              <a:rPr lang="en-IN" sz="1400" dirty="0"/>
              <a:t>Less memory usage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C89C0F-3CC8-82CC-791C-2409B507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166018"/>
            <a:ext cx="4114800" cy="47929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400" b="1" dirty="0"/>
              <a:t>3. High Performance APIs</a:t>
            </a:r>
          </a:p>
          <a:p>
            <a:pPr marL="0" indent="0">
              <a:buNone/>
            </a:pPr>
            <a:r>
              <a:rPr lang="en-IN" sz="1400" dirty="0"/>
              <a:t>Reactive systems</a:t>
            </a:r>
          </a:p>
          <a:p>
            <a:pPr marL="0" indent="0">
              <a:buNone/>
            </a:pPr>
            <a:r>
              <a:rPr lang="en-IN" sz="1400" dirty="0"/>
              <a:t>Event-driven architecture</a:t>
            </a:r>
          </a:p>
          <a:p>
            <a:pPr marL="0" indent="0">
              <a:buNone/>
            </a:pPr>
            <a:r>
              <a:rPr lang="en-IN" sz="1400" dirty="0"/>
              <a:t>👉 Built with:</a:t>
            </a:r>
          </a:p>
          <a:p>
            <a:pPr marL="0" indent="0">
              <a:buNone/>
            </a:pPr>
            <a:r>
              <a:rPr lang="en-IN" sz="1400" dirty="0" err="1"/>
              <a:t>Vert.x</a:t>
            </a:r>
            <a:r>
              <a:rPr lang="en-IN" sz="1400" dirty="0"/>
              <a:t> (non-blocking)</a:t>
            </a:r>
          </a:p>
          <a:p>
            <a:pPr marL="0" indent="0">
              <a:buNone/>
            </a:pPr>
            <a:r>
              <a:rPr lang="en-IN" sz="1400" dirty="0"/>
              <a:t>Reactive programming model</a:t>
            </a:r>
          </a:p>
          <a:p>
            <a:pPr marL="0" indent="0">
              <a:buNone/>
            </a:pPr>
            <a:br>
              <a:rPr lang="en-IN" sz="1400" dirty="0"/>
            </a:b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4. DevOps-Heavy Environments</a:t>
            </a:r>
          </a:p>
          <a:p>
            <a:pPr marL="0" indent="0">
              <a:buNone/>
            </a:pPr>
            <a:r>
              <a:rPr lang="en-IN" sz="1400" dirty="0"/>
              <a:t>CI/CD pipelines</a:t>
            </a:r>
          </a:p>
          <a:p>
            <a:pPr marL="0" indent="0">
              <a:buNone/>
            </a:pPr>
            <a:r>
              <a:rPr lang="en-IN" sz="1400" dirty="0"/>
              <a:t>Docker-first workflows</a:t>
            </a:r>
          </a:p>
          <a:p>
            <a:pPr marL="0" indent="0">
              <a:buNone/>
            </a:pPr>
            <a:r>
              <a:rPr lang="en-IN" sz="1400" dirty="0"/>
              <a:t>👉 Features:</a:t>
            </a:r>
          </a:p>
          <a:p>
            <a:pPr marL="0" indent="0">
              <a:buNone/>
            </a:pPr>
            <a:r>
              <a:rPr lang="en-IN" sz="1400" dirty="0"/>
              <a:t>Live reload</a:t>
            </a:r>
          </a:p>
          <a:p>
            <a:pPr marL="0" indent="0">
              <a:buNone/>
            </a:pPr>
            <a:r>
              <a:rPr lang="en-IN" sz="1400" dirty="0"/>
              <a:t>Small container images</a:t>
            </a:r>
          </a:p>
          <a:p>
            <a:pPr marL="0" indent="0">
              <a:buNone/>
            </a:pPr>
            <a:br>
              <a:rPr lang="en-IN" sz="1400" dirty="0"/>
            </a:b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⚠️ Not Ideal When:</a:t>
            </a:r>
          </a:p>
          <a:p>
            <a:pPr marL="0" indent="0">
              <a:buNone/>
            </a:pPr>
            <a:r>
              <a:rPr lang="en-IN" sz="1400" dirty="0"/>
              <a:t>Your team is new to it</a:t>
            </a:r>
          </a:p>
          <a:p>
            <a:pPr marL="0" indent="0">
              <a:buNone/>
            </a:pPr>
            <a:r>
              <a:rPr lang="en-IN" sz="1400" dirty="0"/>
              <a:t>You need heavy Spring ecosystem features</a:t>
            </a:r>
          </a:p>
        </p:txBody>
      </p:sp>
    </p:spTree>
    <p:extLst>
      <p:ext uri="{BB962C8B-B14F-4D97-AF65-F5344CB8AC3E}">
        <p14:creationId xmlns:p14="http://schemas.microsoft.com/office/powerpoint/2010/main" val="687015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When to Use </a:t>
            </a:r>
            <a:r>
              <a:rPr dirty="0" err="1"/>
              <a:t>Quarkus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000" dirty="0"/>
              <a:t>☁️ </a:t>
            </a:r>
            <a:r>
              <a:rPr lang="en-IN" sz="2000" b="1" dirty="0"/>
              <a:t>Building Cloud-Native Applications</a:t>
            </a:r>
            <a:br>
              <a:rPr lang="en-IN" sz="2000" dirty="0"/>
            </a:br>
            <a:r>
              <a:rPr lang="en-IN" sz="2000" dirty="0"/>
              <a:t>Perfect for Kubernetes, Docker &amp; modern deployments</a:t>
            </a:r>
          </a:p>
          <a:p>
            <a:pPr marL="0" indent="0">
              <a:buNone/>
            </a:pPr>
            <a:r>
              <a:rPr lang="en-IN" sz="2000" dirty="0"/>
              <a:t>⚡ </a:t>
            </a:r>
            <a:r>
              <a:rPr lang="en-IN" sz="2000" b="1" dirty="0"/>
              <a:t>Need Fast Startup &amp; Low Memory</a:t>
            </a:r>
            <a:br>
              <a:rPr lang="en-IN" sz="2000" dirty="0"/>
            </a:br>
            <a:r>
              <a:rPr lang="en-IN" sz="2000" dirty="0"/>
              <a:t>Ideal for microservices and high-scale systems</a:t>
            </a:r>
          </a:p>
          <a:p>
            <a:pPr marL="0" indent="0">
              <a:buNone/>
            </a:pPr>
            <a:r>
              <a:rPr lang="en-IN" sz="2000" dirty="0"/>
              <a:t>🧩 </a:t>
            </a:r>
            <a:r>
              <a:rPr lang="en-IN" sz="2000" b="1" dirty="0"/>
              <a:t>Reactive &amp; High-Concurrency Systems</a:t>
            </a:r>
            <a:br>
              <a:rPr lang="en-IN" sz="2000" dirty="0"/>
            </a:br>
            <a:r>
              <a:rPr lang="en-IN" sz="2000" dirty="0"/>
              <a:t>Best for handling thousands of requests efficiently</a:t>
            </a:r>
          </a:p>
          <a:p>
            <a:pPr marL="0" indent="0">
              <a:buNone/>
            </a:pPr>
            <a:r>
              <a:rPr lang="en-IN" sz="2000" dirty="0"/>
              <a:t>🐳 </a:t>
            </a:r>
            <a:r>
              <a:rPr lang="en-IN" sz="2000" b="1" dirty="0"/>
              <a:t>Container &amp; Serverless Environments</a:t>
            </a:r>
            <a:br>
              <a:rPr lang="en-IN" sz="2000" dirty="0"/>
            </a:br>
            <a:r>
              <a:rPr lang="en-IN" sz="2000" dirty="0"/>
              <a:t>Optimized for lightweight and fast-running apps</a:t>
            </a:r>
          </a:p>
          <a:p>
            <a:pPr marL="0" indent="0">
              <a:buNone/>
            </a:pPr>
            <a:r>
              <a:rPr lang="en-IN" sz="2000" dirty="0"/>
              <a:t>🚀 </a:t>
            </a:r>
            <a:r>
              <a:rPr lang="en-IN" sz="2000" b="1" dirty="0"/>
              <a:t>Faster Development Cycles</a:t>
            </a:r>
            <a:br>
              <a:rPr lang="en-IN" sz="2000" dirty="0"/>
            </a:br>
            <a:r>
              <a:rPr lang="en-IN" sz="2000" dirty="0"/>
              <a:t>Live reload + dev mode boosts productivity</a:t>
            </a:r>
          </a:p>
          <a:p>
            <a:pPr marL="0" indent="0">
              <a:buNone/>
            </a:pPr>
            <a:r>
              <a:rPr lang="en-IN" sz="2000" dirty="0"/>
              <a:t>🌍 </a:t>
            </a:r>
            <a:r>
              <a:rPr lang="en-IN" sz="2000" b="1" dirty="0"/>
              <a:t>Microservices Architecture</a:t>
            </a:r>
            <a:br>
              <a:rPr lang="en-IN" sz="2000" dirty="0"/>
            </a:br>
            <a:r>
              <a:rPr lang="en-IN" sz="2000" dirty="0"/>
              <a:t>Great for distributed, scalable systems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US" sz="2000" dirty="0"/>
              <a:t>	💡 </a:t>
            </a:r>
            <a:r>
              <a:rPr lang="en-US" sz="2000" i="1" dirty="0"/>
              <a:t>Use </a:t>
            </a:r>
            <a:r>
              <a:rPr lang="en-US" sz="2000" i="1" dirty="0" err="1"/>
              <a:t>Quarkus</a:t>
            </a:r>
            <a:r>
              <a:rPr lang="en-US" sz="2000" i="1" dirty="0"/>
              <a:t> when performance, scalability, and cloud-native design 	matter most.</a:t>
            </a:r>
            <a:endParaRPr lang="en-IN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47624-BE50-2A53-CB6C-223931DA6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🚫 </a:t>
            </a:r>
            <a:r>
              <a:rPr lang="en-US" b="1" dirty="0"/>
              <a:t>When NOT to Use </a:t>
            </a:r>
            <a:r>
              <a:rPr lang="en-US" b="1" dirty="0" err="1"/>
              <a:t>Quarkus</a:t>
            </a:r>
            <a:r>
              <a:rPr lang="en-US" b="1" dirty="0"/>
              <a:t>?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716DC-DC4B-0535-21F9-BE3BFD9A6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🏢 </a:t>
            </a:r>
            <a:r>
              <a:rPr lang="en-US" sz="2000" b="1" dirty="0"/>
              <a:t>Traditional Monolithic Applications</a:t>
            </a:r>
            <a:br>
              <a:rPr lang="en-US" sz="2000" dirty="0"/>
            </a:br>
            <a:r>
              <a:rPr lang="en-US" sz="2000" dirty="0"/>
              <a:t>Spring Boot is often simpler &amp; more mature here</a:t>
            </a:r>
          </a:p>
          <a:p>
            <a:pPr marL="0" indent="0">
              <a:buNone/>
            </a:pPr>
            <a:r>
              <a:rPr lang="en-US" sz="2000" dirty="0"/>
              <a:t>📚 </a:t>
            </a:r>
            <a:r>
              <a:rPr lang="en-US" sz="2000" b="1" dirty="0"/>
              <a:t>Need Huge Ecosystem Support</a:t>
            </a:r>
            <a:br>
              <a:rPr lang="en-US" sz="2000" dirty="0"/>
            </a:br>
            <a:r>
              <a:rPr lang="en-US" sz="2000" dirty="0"/>
              <a:t>Spring has a much larger ecosystem &amp; integrations</a:t>
            </a:r>
          </a:p>
          <a:p>
            <a:pPr marL="0" indent="0">
              <a:buNone/>
            </a:pPr>
            <a:r>
              <a:rPr lang="en-US" sz="2000" dirty="0"/>
              <a:t>👨‍💻 </a:t>
            </a:r>
            <a:r>
              <a:rPr lang="en-US" sz="2000" b="1" dirty="0"/>
              <a:t>Team is Already Deep into Spring</a:t>
            </a:r>
            <a:br>
              <a:rPr lang="en-US" sz="2000" dirty="0"/>
            </a:br>
            <a:r>
              <a:rPr lang="en-US" sz="2000" dirty="0"/>
              <a:t>Switching may reduce productivity initially</a:t>
            </a:r>
          </a:p>
          <a:p>
            <a:pPr marL="0" indent="0">
              <a:buNone/>
            </a:pPr>
            <a:r>
              <a:rPr lang="en-US" sz="2000" dirty="0"/>
              <a:t>🧩 </a:t>
            </a:r>
            <a:r>
              <a:rPr lang="en-US" sz="2000" b="1" dirty="0"/>
              <a:t>Simple CRUD Applications</a:t>
            </a:r>
            <a:br>
              <a:rPr lang="en-US" sz="2000" dirty="0"/>
            </a:br>
            <a:r>
              <a:rPr lang="en-US" sz="2000" dirty="0" err="1"/>
              <a:t>Quarkus</a:t>
            </a:r>
            <a:r>
              <a:rPr lang="en-US" sz="2000" dirty="0"/>
              <a:t> might feel like over-optimization</a:t>
            </a:r>
          </a:p>
          <a:p>
            <a:pPr marL="0" indent="0">
              <a:buNone/>
            </a:pPr>
            <a:r>
              <a:rPr lang="en-US" sz="2000" dirty="0"/>
              <a:t>⏳ </a:t>
            </a:r>
            <a:r>
              <a:rPr lang="en-US" sz="2000" b="1" dirty="0"/>
              <a:t>No Need for Fast Startup / Low Memory</a:t>
            </a:r>
            <a:br>
              <a:rPr lang="en-US" sz="2000" dirty="0"/>
            </a:br>
            <a:r>
              <a:rPr lang="en-US" sz="2000" dirty="0" err="1"/>
              <a:t>Quarkus</a:t>
            </a:r>
            <a:r>
              <a:rPr lang="en-US" sz="2000" dirty="0"/>
              <a:t> strengths won’t add much value</a:t>
            </a:r>
          </a:p>
          <a:p>
            <a:pPr marL="0" indent="0">
              <a:buNone/>
            </a:pPr>
            <a:r>
              <a:rPr lang="en-US" sz="2000" dirty="0"/>
              <a:t>🔌 </a:t>
            </a:r>
            <a:r>
              <a:rPr lang="en-US" sz="2000" b="1" dirty="0"/>
              <a:t>Heavy Dependency on Spring Features</a:t>
            </a:r>
            <a:br>
              <a:rPr lang="en-US" sz="2000" dirty="0"/>
            </a:br>
            <a:r>
              <a:rPr lang="en-US" sz="2000" dirty="0"/>
              <a:t>Rewriting or adapting may take extra effort</a:t>
            </a:r>
          </a:p>
          <a:p>
            <a:pPr marL="0" indent="0">
              <a:buNone/>
            </a:pPr>
            <a:r>
              <a:rPr lang="en-US" sz="2000" dirty="0"/>
              <a:t> 💡 </a:t>
            </a:r>
            <a:r>
              <a:rPr lang="en-US" sz="2000" i="1" dirty="0"/>
              <a:t>Choose </a:t>
            </a:r>
            <a:r>
              <a:rPr lang="en-US" sz="2000" i="1" dirty="0" err="1"/>
              <a:t>Quarkus</a:t>
            </a:r>
            <a:r>
              <a:rPr lang="en-US" sz="2000" i="1" dirty="0"/>
              <a:t> for performance &amp; cloud-native needs — not for every    	project.</a:t>
            </a:r>
            <a:endParaRPr lang="en-US" sz="2000" dirty="0"/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41617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0E16E-A159-7AF9-CFFD-B3EEECA3D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45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IN" sz="45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IN" sz="4500" b="1" dirty="0">
                <a:solidFill>
                  <a:srgbClr val="0070C0"/>
                </a:solidFill>
              </a:rPr>
              <a:t>          Thank you….</a:t>
            </a:r>
          </a:p>
        </p:txBody>
      </p:sp>
    </p:spTree>
    <p:extLst>
      <p:ext uri="{BB962C8B-B14F-4D97-AF65-F5344CB8AC3E}">
        <p14:creationId xmlns:p14="http://schemas.microsoft.com/office/powerpoint/2010/main" val="305845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675</Words>
  <Application>Microsoft Office PowerPoint</Application>
  <PresentationFormat>On-screen Show (4:3)</PresentationFormat>
  <Paragraphs>135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Quarkus vs Spring Boot</vt:lpstr>
      <vt:lpstr>🚀 What You’ll Learn</vt:lpstr>
      <vt:lpstr>What is Spring Boot?</vt:lpstr>
      <vt:lpstr>🚀 What is Quarkus?</vt:lpstr>
      <vt:lpstr>Simple Analogy</vt:lpstr>
      <vt:lpstr>Key Differences</vt:lpstr>
      <vt:lpstr>🚀 When to Use Spring Boot</vt:lpstr>
      <vt:lpstr>⚡ When to Use Quarkus</vt:lpstr>
      <vt:lpstr>When to Use Quarkus</vt:lpstr>
      <vt:lpstr>🚫 When NOT to Use Quarkus?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Narendra Sahoo</dc:creator>
  <cp:keywords/>
  <dc:description>generated using python-pptx</dc:description>
  <cp:lastModifiedBy>Narendra Sahoo</cp:lastModifiedBy>
  <cp:revision>21</cp:revision>
  <dcterms:created xsi:type="dcterms:W3CDTF">2013-01-27T09:14:16Z</dcterms:created>
  <dcterms:modified xsi:type="dcterms:W3CDTF">2026-03-22T13:07:39Z</dcterms:modified>
  <cp:category/>
</cp:coreProperties>
</file>