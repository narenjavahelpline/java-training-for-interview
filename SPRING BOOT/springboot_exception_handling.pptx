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8" r:id="rId2"/>
    <p:sldId id="277" r:id="rId3"/>
    <p:sldId id="275" r:id="rId4"/>
    <p:sldId id="256" r:id="rId5"/>
    <p:sldId id="278" r:id="rId6"/>
    <p:sldId id="260" r:id="rId7"/>
    <p:sldId id="279" r:id="rId8"/>
    <p:sldId id="261" r:id="rId9"/>
    <p:sldId id="262" r:id="rId10"/>
    <p:sldId id="263" r:id="rId11"/>
    <p:sldId id="264" r:id="rId12"/>
    <p:sldId id="274" r:id="rId13"/>
    <p:sldId id="271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521B0-09AB-478D-A27F-9F9567780D11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2C3EF-A2B0-4A46-8E68-B51A95F6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9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2C3EF-A2B0-4A46-8E68-B51A95F64E6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0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68" y="2781532"/>
            <a:ext cx="8229600" cy="1143000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00B0F0"/>
                </a:solidFill>
              </a:rPr>
              <a:t>Spring Boot Exception Handling</a:t>
            </a:r>
            <a:endParaRPr sz="4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9A9D-1D34-1828-5E98-39C92CD7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503434"/>
            <a:ext cx="8229600" cy="1818330"/>
          </a:xfrm>
        </p:spPr>
        <p:txBody>
          <a:bodyPr>
            <a:noAutofit/>
          </a:bodyPr>
          <a:lstStyle/>
          <a:p>
            <a:r>
              <a:rPr lang="en-US" sz="3200" dirty="0"/>
              <a:t>In Core Java, we use try-catch. But in Spring Boot REST APIs, do we write try-catch in every method?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FA0B-1964-4E89-9D98-B9E7E6FE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0432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@GetMapping("/{id}")</a:t>
            </a:r>
          </a:p>
          <a:p>
            <a:pPr marL="0" indent="0">
              <a:buNone/>
            </a:pPr>
            <a:r>
              <a:rPr lang="en-US" sz="2000" dirty="0"/>
              <a:t>public Employee </a:t>
            </a:r>
            <a:r>
              <a:rPr lang="en-US" sz="2000" dirty="0" err="1"/>
              <a:t>getEmployee</a:t>
            </a:r>
            <a:r>
              <a:rPr lang="en-US" sz="2000" dirty="0"/>
              <a:t>(@PathVariable String id)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try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    return </a:t>
            </a:r>
            <a:r>
              <a:rPr lang="en-US" sz="2000" dirty="0" err="1">
                <a:highlight>
                  <a:srgbClr val="FFFF00"/>
                </a:highlight>
              </a:rPr>
              <a:t>repository.findById</a:t>
            </a:r>
            <a:r>
              <a:rPr lang="en-US" sz="2000" dirty="0">
                <a:highlight>
                  <a:srgbClr val="FFFF00"/>
                </a:highlight>
              </a:rPr>
              <a:t>(id);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} catch (Exception e)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    throw new </a:t>
            </a:r>
            <a:r>
              <a:rPr lang="en-US" sz="2000" dirty="0" err="1">
                <a:highlight>
                  <a:srgbClr val="FFFF00"/>
                </a:highlight>
              </a:rPr>
              <a:t>RuntimeException</a:t>
            </a:r>
            <a:r>
              <a:rPr lang="en-US" sz="2000" dirty="0">
                <a:highlight>
                  <a:srgbClr val="FFFF00"/>
                </a:highlight>
              </a:rPr>
              <a:t>(“Employee not found ");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96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1651-F26B-72FB-C49A-A33B3582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6B04-C583-97CC-C40B-342BCACF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in Real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12B6-2AD9-6EFB-6D8D-6139FEFF0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Try-catch everywhere leads to:</a:t>
            </a:r>
          </a:p>
          <a:p>
            <a:pPr marL="0" indent="0">
              <a:buNone/>
            </a:pPr>
            <a:r>
              <a:rPr sz="2000" dirty="0"/>
              <a:t>- Duplicate code</a:t>
            </a:r>
          </a:p>
          <a:p>
            <a:pPr marL="0" indent="0">
              <a:buNone/>
            </a:pPr>
            <a:r>
              <a:rPr sz="2000" dirty="0"/>
              <a:t>- Poor readability</a:t>
            </a:r>
          </a:p>
          <a:p>
            <a:pPr marL="0" indent="0">
              <a:buNone/>
            </a:pPr>
            <a:r>
              <a:rPr sz="2000" dirty="0"/>
              <a:t>- Bad API responses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- Controller with try-catch in every method</a:t>
            </a:r>
          </a:p>
          <a:p>
            <a:pPr marL="0" indent="0">
              <a:buNone/>
            </a:pPr>
            <a:r>
              <a:rPr lang="en-US" sz="2000" dirty="0"/>
              <a:t>- Hard to maintain and scale</a:t>
            </a:r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9932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Exception Handling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Without it :</a:t>
            </a:r>
          </a:p>
          <a:p>
            <a:pPr marL="400050" lvl="1" indent="0">
              <a:buNone/>
            </a:pPr>
            <a:r>
              <a:rPr lang="en-US" sz="1600" dirty="0"/>
              <a:t>You expose stack traces </a:t>
            </a:r>
          </a:p>
          <a:p>
            <a:pPr marL="400050" lvl="1" indent="0">
              <a:buNone/>
            </a:pPr>
            <a:r>
              <a:rPr lang="en-US" sz="1600" dirty="0"/>
              <a:t>API responses are inconsistent </a:t>
            </a:r>
          </a:p>
          <a:p>
            <a:pPr marL="400050" lvl="1" indent="0">
              <a:buNone/>
            </a:pPr>
            <a:r>
              <a:rPr lang="en-US" sz="1600" dirty="0"/>
              <a:t>Clients don’t understand errors </a:t>
            </a:r>
          </a:p>
          <a:p>
            <a:pPr marL="0" indent="0">
              <a:buNone/>
            </a:pPr>
            <a:r>
              <a:rPr lang="en-US" sz="2000" dirty="0"/>
              <a:t>With it :</a:t>
            </a:r>
          </a:p>
          <a:p>
            <a:pPr marL="400050" lvl="1" indent="0">
              <a:buNone/>
            </a:pPr>
            <a:r>
              <a:rPr lang="en-US" sz="1600" dirty="0"/>
              <a:t>Clean JSON responses </a:t>
            </a:r>
          </a:p>
          <a:p>
            <a:pPr marL="400050" lvl="1" indent="0">
              <a:buNone/>
            </a:pPr>
            <a:r>
              <a:rPr lang="en-US" sz="1600" dirty="0"/>
              <a:t>Proper HTTP status codes </a:t>
            </a:r>
          </a:p>
          <a:p>
            <a:pPr marL="400050" lvl="1" indent="0">
              <a:buNone/>
            </a:pPr>
            <a:r>
              <a:rPr lang="en-US" sz="1600" dirty="0"/>
              <a:t>Centralized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FD0C-BCD8-36F8-4934-538358B2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7313-583B-1BF7-4C76-37FD63AE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Introduce @ExceptionHandler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0FF9-901D-A0EC-32E8-7F3C6FD05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IN" sz="1800" dirty="0"/>
            </a:br>
            <a:r>
              <a:rPr lang="en-IN" sz="1800" dirty="0"/>
              <a:t>  Handles exception </a:t>
            </a:r>
            <a:r>
              <a:rPr lang="en-IN" sz="1800" b="1" dirty="0"/>
              <a:t>inside a controller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</a:rPr>
              <a:t>@ExceptionHandler(RuntimeException.class)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public </a:t>
            </a:r>
            <a:r>
              <a:rPr lang="en-IN" sz="1800" dirty="0" err="1">
                <a:highlight>
                  <a:srgbClr val="FFFF00"/>
                </a:highlight>
              </a:rPr>
              <a:t>ResponseEntity</a:t>
            </a:r>
            <a:r>
              <a:rPr lang="en-IN" sz="1800" dirty="0">
                <a:highlight>
                  <a:srgbClr val="FFFF00"/>
                </a:highlight>
              </a:rPr>
              <a:t>&lt;String&gt; </a:t>
            </a:r>
            <a:r>
              <a:rPr lang="en-IN" sz="1800" dirty="0" err="1">
                <a:highlight>
                  <a:srgbClr val="FFFF00"/>
                </a:highlight>
              </a:rPr>
              <a:t>handleException</a:t>
            </a:r>
            <a:r>
              <a:rPr lang="en-IN" sz="1800" dirty="0">
                <a:highlight>
                  <a:srgbClr val="FFFF00"/>
                </a:highlight>
              </a:rPr>
              <a:t>(</a:t>
            </a:r>
            <a:r>
              <a:rPr lang="en-IN" sz="1800" dirty="0" err="1">
                <a:highlight>
                  <a:srgbClr val="FFFF00"/>
                </a:highlight>
              </a:rPr>
              <a:t>RuntimeException</a:t>
            </a:r>
            <a:r>
              <a:rPr lang="en-IN" sz="1800" dirty="0">
                <a:highlight>
                  <a:srgbClr val="FFFF00"/>
                </a:highlight>
              </a:rPr>
              <a:t> ex) {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    return new </a:t>
            </a:r>
            <a:r>
              <a:rPr lang="en-IN" sz="1800" dirty="0" err="1">
                <a:highlight>
                  <a:srgbClr val="FFFF00"/>
                </a:highlight>
              </a:rPr>
              <a:t>ResponseEntity</a:t>
            </a:r>
            <a:r>
              <a:rPr lang="en-IN" sz="1800" dirty="0">
                <a:highlight>
                  <a:srgbClr val="FFFF00"/>
                </a:highlight>
              </a:rPr>
              <a:t>&lt;&gt;(</a:t>
            </a:r>
            <a:r>
              <a:rPr lang="en-IN" sz="1800" dirty="0" err="1">
                <a:highlight>
                  <a:srgbClr val="FFFF00"/>
                </a:highlight>
              </a:rPr>
              <a:t>ex.getMessage</a:t>
            </a:r>
            <a:r>
              <a:rPr lang="en-IN" sz="1800" dirty="0">
                <a:highlight>
                  <a:srgbClr val="FFFF00"/>
                </a:highlight>
              </a:rPr>
              <a:t>(), </a:t>
            </a:r>
            <a:r>
              <a:rPr lang="en-IN" sz="1800" dirty="0" err="1">
                <a:highlight>
                  <a:srgbClr val="FFFF00"/>
                </a:highlight>
              </a:rPr>
              <a:t>HttpStatus.NOT_FOUND</a:t>
            </a:r>
            <a:r>
              <a:rPr lang="en-IN" sz="1800" dirty="0">
                <a:highlight>
                  <a:srgbClr val="FFFF00"/>
                </a:highlight>
              </a:rPr>
              <a:t>);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endParaRPr lang="en-IN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Works only for that controller</a:t>
            </a:r>
          </a:p>
        </p:txBody>
      </p:sp>
    </p:spTree>
    <p:extLst>
      <p:ext uri="{BB962C8B-B14F-4D97-AF65-F5344CB8AC3E}">
        <p14:creationId xmlns:p14="http://schemas.microsoft.com/office/powerpoint/2010/main" val="94314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Spring Boot gives centralized exception handling using @RestControllerAdvice — one place to handle all errors.</a:t>
            </a:r>
            <a:endParaRPr lang="en-IN" sz="2000" dirty="0"/>
          </a:p>
          <a:p>
            <a:pPr lvl="1"/>
            <a:r>
              <a:rPr sz="2000" dirty="0"/>
              <a:t>Use </a:t>
            </a:r>
            <a:r>
              <a:rPr sz="2000" b="1" dirty="0"/>
              <a:t>@RestControllerAdvice</a:t>
            </a:r>
          </a:p>
          <a:p>
            <a:pPr lvl="1"/>
            <a:r>
              <a:rPr sz="2000" dirty="0"/>
              <a:t>Centralized 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6058-CC7A-E59A-8F55-90F63BA3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D71B-C1EF-1FF8-DE2F-1418C355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Global Exception Handling (Most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EFB1-2AFD-5EE2-9E47-D3ABFE9FA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IN" sz="1800" dirty="0"/>
            </a:br>
            <a:r>
              <a:rPr lang="en-IN" sz="1800" dirty="0"/>
              <a:t>@RestControllerAdvice</a:t>
            </a:r>
            <a:br>
              <a:rPr lang="en-IN" sz="1800" dirty="0"/>
            </a:br>
            <a:r>
              <a:rPr lang="en-IN" sz="1800" dirty="0"/>
              <a:t>public class </a:t>
            </a:r>
            <a:r>
              <a:rPr lang="en-IN" sz="1800" dirty="0" err="1"/>
              <a:t>GlobalExceptionHandler</a:t>
            </a:r>
            <a:r>
              <a:rPr lang="en-IN" sz="1800" dirty="0"/>
              <a:t> {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    @ExceptionHandler(RuntimeException.class)</a:t>
            </a:r>
            <a:br>
              <a:rPr lang="en-IN" sz="1800" dirty="0"/>
            </a:br>
            <a:r>
              <a:rPr lang="en-IN" sz="1800" dirty="0"/>
              <a:t>    public </a:t>
            </a:r>
            <a:r>
              <a:rPr lang="en-IN" sz="1800" dirty="0" err="1"/>
              <a:t>ResponseEntity</a:t>
            </a:r>
            <a:r>
              <a:rPr lang="en-IN" sz="1800" dirty="0"/>
              <a:t>&lt;String&gt; </a:t>
            </a:r>
            <a:r>
              <a:rPr lang="en-IN" sz="1800" dirty="0" err="1"/>
              <a:t>handleRuntimeException</a:t>
            </a:r>
            <a:r>
              <a:rPr lang="en-IN" sz="1800" dirty="0"/>
              <a:t>(</a:t>
            </a:r>
            <a:r>
              <a:rPr lang="en-IN" sz="1800" dirty="0" err="1"/>
              <a:t>RuntimeException</a:t>
            </a:r>
            <a:r>
              <a:rPr lang="en-IN" sz="1800" dirty="0"/>
              <a:t> ex) {</a:t>
            </a:r>
            <a:br>
              <a:rPr lang="en-IN" sz="1800" dirty="0"/>
            </a:br>
            <a:r>
              <a:rPr lang="en-IN" sz="1800" dirty="0"/>
              <a:t>        return new </a:t>
            </a:r>
            <a:r>
              <a:rPr lang="en-IN" sz="1800" dirty="0" err="1"/>
              <a:t>ResponseEntity</a:t>
            </a:r>
            <a:r>
              <a:rPr lang="en-IN" sz="1800" dirty="0"/>
              <a:t>&lt;&gt;(</a:t>
            </a:r>
            <a:r>
              <a:rPr lang="en-IN" sz="1800" dirty="0" err="1"/>
              <a:t>ex.getMessage</a:t>
            </a:r>
            <a:r>
              <a:rPr lang="en-IN" sz="1800" dirty="0"/>
              <a:t>(), </a:t>
            </a:r>
            <a:r>
              <a:rPr lang="en-IN" sz="1800" dirty="0" err="1"/>
              <a:t>HttpStatus.NOT_FOUND</a:t>
            </a:r>
            <a:r>
              <a:rPr lang="en-IN" sz="1800" dirty="0"/>
              <a:t>);</a:t>
            </a:r>
            <a:br>
              <a:rPr lang="en-IN" sz="1800" dirty="0"/>
            </a:br>
            <a:r>
              <a:rPr lang="en-IN" sz="1800" dirty="0"/>
              <a:t>    }</a:t>
            </a:r>
            <a:br>
              <a:rPr lang="en-IN" sz="1800" dirty="0"/>
            </a:b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Now applies to ALL controllers</a:t>
            </a:r>
          </a:p>
        </p:txBody>
      </p:sp>
    </p:spTree>
    <p:extLst>
      <p:ext uri="{BB962C8B-B14F-4D97-AF65-F5344CB8AC3E}">
        <p14:creationId xmlns:p14="http://schemas.microsoft.com/office/powerpoint/2010/main" val="345193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business exception</a:t>
            </a:r>
            <a:r>
              <a:rPr lang="en-IN" dirty="0"/>
              <a:t> which can apply in service layer</a:t>
            </a:r>
            <a:endParaRPr dirty="0"/>
          </a:p>
          <a:p>
            <a:r>
              <a:rPr dirty="0"/>
              <a:t>Example: </a:t>
            </a:r>
            <a:r>
              <a:rPr dirty="0" err="1"/>
              <a:t>ResourceNotFoundException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orElseThrow()</a:t>
            </a:r>
          </a:p>
          <a:p>
            <a:r>
              <a:t>Clean code, no try-catch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Exception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@RestControllerAdvice</a:t>
            </a:r>
          </a:p>
          <a:p>
            <a:r>
              <a:t>@ExceptionHandler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structured JSON</a:t>
            </a:r>
          </a:p>
          <a:p>
            <a:r>
              <a:t>message, status, timestamp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4FC6-799C-1AB7-2C5F-D513F3EB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A28D-896D-706E-98CC-F2598B65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Controller → Service → Exception thrown</a:t>
            </a:r>
          </a:p>
          <a:p>
            <a:pPr marL="0" indent="0">
              <a:buNone/>
            </a:pPr>
            <a:r>
              <a:rPr lang="en-US" dirty="0"/>
              <a:t>                     ↓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GlobalExceptionHandler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↓</a:t>
            </a:r>
          </a:p>
          <a:p>
            <a:pPr marL="0" indent="0">
              <a:buNone/>
            </a:pPr>
            <a:r>
              <a:rPr lang="en-US" dirty="0"/>
              <a:t>               Clean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677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handling</a:t>
            </a:r>
          </a:p>
          <a:p>
            <a:r>
              <a:t>Proper HTTP status</a:t>
            </a:r>
          </a:p>
          <a:p>
            <a:r>
              <a:t>No stack trace exposure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3540-E4EC-5DFC-012A-223A59F5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3308"/>
            <a:ext cx="8229600" cy="1143000"/>
          </a:xfrm>
        </p:spPr>
        <p:txBody>
          <a:bodyPr>
            <a:noAutofit/>
          </a:bodyPr>
          <a:lstStyle/>
          <a:p>
            <a:r>
              <a:rPr lang="en-IN" sz="9600" dirty="0">
                <a:solidFill>
                  <a:srgbClr val="00B0F0"/>
                </a:solidFill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71551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2305</TotalTime>
  <Words>352</Words>
  <Application>Microsoft Office PowerPoint</Application>
  <PresentationFormat>On-screen Show (4:3)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Spring Boot Exception Handling</vt:lpstr>
      <vt:lpstr>In Core Java, we use try-catch. But in Spring Boot REST APIs, do we write try-catch in every method? </vt:lpstr>
      <vt:lpstr>Problem in Real Projects</vt:lpstr>
      <vt:lpstr>Why Exception Handling is Important?</vt:lpstr>
      <vt:lpstr>Introduce @ExceptionHandler</vt:lpstr>
      <vt:lpstr>Solution</vt:lpstr>
      <vt:lpstr>Global Exception Handling (Most Important)</vt:lpstr>
      <vt:lpstr>Custom Exception</vt:lpstr>
      <vt:lpstr>Service Layer</vt:lpstr>
      <vt:lpstr>Global Exception Handler</vt:lpstr>
      <vt:lpstr>Error Response</vt:lpstr>
      <vt:lpstr>Exception flow</vt:lpstr>
      <vt:lpstr>Best Practices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22</cp:revision>
  <dcterms:created xsi:type="dcterms:W3CDTF">2013-01-27T09:14:16Z</dcterms:created>
  <dcterms:modified xsi:type="dcterms:W3CDTF">2026-04-03T19:05:40Z</dcterms:modified>
  <cp:category/>
</cp:coreProperties>
</file>