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97" r:id="rId2"/>
    <p:sldId id="333" r:id="rId3"/>
    <p:sldId id="278" r:id="rId4"/>
    <p:sldId id="336" r:id="rId5"/>
    <p:sldId id="323" r:id="rId6"/>
    <p:sldId id="337" r:id="rId7"/>
    <p:sldId id="338" r:id="rId8"/>
    <p:sldId id="340" r:id="rId9"/>
    <p:sldId id="341" r:id="rId10"/>
    <p:sldId id="342" r:id="rId11"/>
    <p:sldId id="343" r:id="rId12"/>
    <p:sldId id="339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258" r:id="rId23"/>
    <p:sldId id="335" r:id="rId24"/>
    <p:sldId id="344" r:id="rId25"/>
    <p:sldId id="334" r:id="rId26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23E03A-21BC-4C88-8F33-406CC2305283}">
          <p14:sldIdLst>
            <p14:sldId id="297"/>
            <p14:sldId id="333"/>
          </p14:sldIdLst>
        </p14:section>
        <p14:section name="Untitled Section" id="{996285AF-0E5A-4F45-BA54-D4594ECAA9E3}">
          <p14:sldIdLst>
            <p14:sldId id="278"/>
            <p14:sldId id="336"/>
            <p14:sldId id="323"/>
            <p14:sldId id="337"/>
            <p14:sldId id="338"/>
            <p14:sldId id="340"/>
            <p14:sldId id="341"/>
            <p14:sldId id="342"/>
            <p14:sldId id="343"/>
            <p14:sldId id="339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258"/>
            <p14:sldId id="335"/>
            <p14:sldId id="344"/>
            <p14:sldId id="3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94" autoAdjust="0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4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6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09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CD7F-F57E-B21E-C456-B50B39658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91CF1-96E3-DAD0-B18A-A9DE7CB0E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9CCFB-26A9-B4ED-CA2F-CF605A8E5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EFBAB-AB98-6722-C636-AC0780C1E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29991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EA57D-482A-11D5-BBAA-EADE97DA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67FF0-663C-0653-62E3-6E432F60E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FD0B1-DA10-DD23-764B-DCFC7DC314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D7261-B337-172B-13C6-1C9D212B7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03764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85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F6A03-97AC-C3E8-0780-9047A66A0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9F35D-C505-8AAB-4B33-D1BAEC513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D9383-5415-41AB-5062-D86F64CCB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C6207-88B0-505D-0B61-9598E9A31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449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92BB-D6A2-9D11-F465-03ED9F70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41E4C-8CE1-A5FE-1340-D7049B50CE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FF9E7-B398-C420-77C3-79BF4F2B2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872D8-BE31-A8FA-9339-7D632F4B2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59249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69B8F-154E-719C-5C74-EA2DF06A8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1C5B0-D7FB-6C16-4A9A-FE5D850393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C89F0-8A24-6B5E-1972-2AB6290C9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B3078-6FF0-F955-48EB-D1D7F9C6F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96470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C5EC1-6D26-01A6-5274-267400117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588D5-7105-F331-379D-88D5B1AD8E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99EE7-DE9D-B7FA-7F15-D6F675C44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34DC2-D411-B52D-574C-A4F8C8003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25132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3435-B17F-A905-9814-8327F7FEA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18772-5CBE-1224-4860-A37434346E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1533C-FF0C-936D-56E7-2FDACD79D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06BDE-1AED-8119-F943-C1EEFF8CA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32923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E312-ADE4-80C7-EB85-808469CF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ADC56-6455-8953-6905-B7948F16C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0D4E5-A3AE-1967-33EF-53AC4A867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02971-6218-D6C6-ABBF-71CC97B8C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28966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F5AF0-5B99-EF0E-5DBF-4287272B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67454-813A-F776-FF38-D7CEE3BAD2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3EFC6-82F8-2E7C-1A89-4208DBFA98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4F09E-C455-829C-B500-188806E5C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00834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99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41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87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74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77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10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595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73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23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519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4D24A-8E9A-8BF4-27AF-A5476C82D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24AF2-34DC-2016-5DA7-AF5B7C120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7FC70-8D9E-F692-3278-40F9B0B2B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yourself as mentor, not lecturer.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4E8DA-578D-45C2-CCD5-1BD62D245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4367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12372-CE66-4587-8D23-B379D274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C29D6-C714-DECA-53C2-484FE33B3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B4833-31F5-E855-D845-94600FFE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10166-B1AA-489B-9D8A-784D94BE714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8F4C7-77DF-798A-ABCA-74B7B6EC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4C955-E0DD-008D-6D68-FEE0C564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26B2-FEAC-498B-8EAE-C6123F60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4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/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324091" y="27386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19599" y="2262426"/>
            <a:ext cx="7477601" cy="1666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561"/>
              </a:lnSpc>
              <a:buNone/>
            </a:pPr>
            <a:r>
              <a:rPr lang="en-US" sz="5249" b="1" dirty="0">
                <a:solidFill>
                  <a:srgbClr val="1B1B27"/>
                </a:solidFill>
                <a:latin typeface="Century" panose="02040604050505020304" pitchFamily="18" charset="0"/>
                <a:ea typeface="Corben" pitchFamily="34" charset="-122"/>
                <a:cs typeface="Corben" pitchFamily="34" charset="-120"/>
              </a:rPr>
              <a:t>String</a:t>
            </a:r>
            <a:r>
              <a:rPr lang="en-US" sz="5249" dirty="0">
                <a:solidFill>
                  <a:srgbClr val="1B1B27"/>
                </a:solidFill>
                <a:latin typeface="Century" panose="02040604050505020304" pitchFamily="18" charset="0"/>
                <a:ea typeface="Corben" pitchFamily="34" charset="-122"/>
                <a:cs typeface="Corben" pitchFamily="34" charset="-120"/>
              </a:rPr>
              <a:t> in java: A Comprehensive Guide</a:t>
            </a:r>
            <a:endParaRPr lang="en-US" sz="5249" dirty="0">
              <a:latin typeface="Century" panose="020406040505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319599" y="4262080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6319599" y="5594866"/>
            <a:ext cx="355402" cy="355402"/>
          </a:xfrm>
          <a:prstGeom prst="roundRect">
            <a:avLst>
              <a:gd name="adj" fmla="val 25726039"/>
            </a:avLst>
          </a:prstGeom>
          <a:solidFill>
            <a:srgbClr val="A8771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394371" y="5589746"/>
            <a:ext cx="205740" cy="3657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152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NS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6786086" y="5578197"/>
            <a:ext cx="2727960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r>
              <a:rPr lang="en-US" sz="2187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by Narendra Sahoo</a:t>
            </a:r>
            <a:endParaRPr lang="en-US" sz="2187" dirty="0"/>
          </a:p>
        </p:txBody>
      </p:sp>
      <p:pic>
        <p:nvPicPr>
          <p:cNvPr id="10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75FC0EBA-91DA-5E0E-C2F3-847AB1D157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8302" y="6338876"/>
            <a:ext cx="1551328" cy="15249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C28FDE-4B60-DAB5-6C11-4DA475EF35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7483" y="7259089"/>
            <a:ext cx="2191477" cy="7768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A2E4A7-AC9F-CA58-9A5C-F4DD02EC5B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2052" y="5589746"/>
            <a:ext cx="582766" cy="4985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14936" y="531115"/>
            <a:ext cx="9664860" cy="7847637"/>
          </a:xfrm>
          <a:prstGeom prst="rect">
            <a:avLst/>
          </a:prstGeom>
          <a:solidFill>
            <a:srgbClr val="F9F9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pPr lvl="1" algn="just"/>
            <a:endParaRPr lang="en-US" sz="3600" b="0" i="0" dirty="0">
              <a:solidFill>
                <a:srgbClr val="610B38"/>
              </a:solidFill>
              <a:effectLst/>
              <a:latin typeface="erdana"/>
            </a:endParaRPr>
          </a:p>
          <a:p>
            <a:pPr lvl="1" algn="just"/>
            <a:endParaRPr lang="en-US" sz="3600" dirty="0">
              <a:solidFill>
                <a:srgbClr val="610B38"/>
              </a:solidFill>
              <a:latin typeface="erdana"/>
            </a:endParaRPr>
          </a:p>
          <a:p>
            <a:pPr lvl="1" algn="just"/>
            <a:endParaRPr lang="en-US" sz="3600" b="0" i="0" dirty="0">
              <a:solidFill>
                <a:srgbClr val="610B38"/>
              </a:solidFill>
              <a:effectLst/>
              <a:latin typeface="erdana"/>
            </a:endParaRPr>
          </a:p>
          <a:p>
            <a:pPr lvl="1" algn="just"/>
            <a:r>
              <a:rPr lang="en-US" sz="3600" b="0" i="0" dirty="0">
                <a:solidFill>
                  <a:srgbClr val="610B38"/>
                </a:solidFill>
                <a:effectLst/>
                <a:latin typeface="erdana"/>
              </a:rPr>
              <a:t>What is String in Java?</a:t>
            </a:r>
          </a:p>
          <a:p>
            <a:pPr lvl="1" algn="just"/>
            <a:r>
              <a:rPr lang="en-US" sz="3600" b="0" i="0" dirty="0">
                <a:solidFill>
                  <a:srgbClr val="610B4B"/>
                </a:solidFill>
                <a:effectLst/>
                <a:latin typeface="erdana"/>
              </a:rPr>
              <a:t>How to create a string object?</a:t>
            </a:r>
          </a:p>
          <a:p>
            <a:pPr lvl="1" algn="just"/>
            <a:r>
              <a:rPr lang="en-US" sz="3600" b="0" i="0" dirty="0">
                <a:solidFill>
                  <a:srgbClr val="610B4B"/>
                </a:solidFill>
                <a:effectLst/>
                <a:latin typeface="erdana"/>
              </a:rPr>
              <a:t>Pool (SCP) in Java?</a:t>
            </a:r>
          </a:p>
          <a:p>
            <a:pPr lvl="1" algn="just"/>
            <a:r>
              <a:rPr lang="en-US" sz="3600" b="0" i="0" dirty="0">
                <a:solidFill>
                  <a:srgbClr val="610B4B"/>
                </a:solidFill>
                <a:effectLst/>
                <a:latin typeface="erdana"/>
              </a:rPr>
              <a:t>Why String objects are immutable</a:t>
            </a:r>
            <a:r>
              <a:rPr lang="en-US" sz="3600" dirty="0">
                <a:solidFill>
                  <a:srgbClr val="610B4B"/>
                </a:solidFill>
                <a:latin typeface="erdana"/>
              </a:rPr>
              <a:t>?</a:t>
            </a:r>
          </a:p>
          <a:p>
            <a:pPr lvl="1" algn="just"/>
            <a:r>
              <a:rPr lang="en-US" sz="3600" b="0" i="0" dirty="0">
                <a:solidFill>
                  <a:srgbClr val="610B4B"/>
                </a:solidFill>
                <a:effectLst/>
                <a:latin typeface="erdana"/>
              </a:rPr>
              <a:t>Why String class is Final in Java?</a:t>
            </a:r>
          </a:p>
          <a:p>
            <a:pPr lvl="1" algn="just"/>
            <a:endParaRPr lang="en-US" sz="3600" b="0" i="0" dirty="0">
              <a:solidFill>
                <a:srgbClr val="610B4B"/>
              </a:solidFill>
              <a:effectLst/>
              <a:latin typeface="erdana"/>
            </a:endParaRPr>
          </a:p>
          <a:p>
            <a:pPr lvl="1" algn="just"/>
            <a:endParaRPr lang="en-US" sz="3600" b="0" i="0" dirty="0">
              <a:solidFill>
                <a:srgbClr val="610B4B"/>
              </a:solidFill>
              <a:effectLst/>
              <a:latin typeface="erdana"/>
            </a:endParaRPr>
          </a:p>
          <a:p>
            <a:pPr lvl="1" algn="just"/>
            <a:endParaRPr lang="en-US" sz="3600" b="0" i="0" dirty="0">
              <a:solidFill>
                <a:srgbClr val="610B38"/>
              </a:solidFill>
              <a:effectLst/>
              <a:latin typeface="erdana"/>
            </a:endParaRPr>
          </a:p>
          <a:p>
            <a:pPr lvl="1" algn="just"/>
            <a:endParaRPr lang="en-US" sz="3600" b="0" i="0" dirty="0">
              <a:solidFill>
                <a:srgbClr val="610B38"/>
              </a:solidFill>
              <a:effectLst/>
              <a:latin typeface="erdana"/>
            </a:endParaRPr>
          </a:p>
        </p:txBody>
      </p:sp>
      <p:sp>
        <p:nvSpPr>
          <p:cNvPr id="5" name="Text 1"/>
          <p:cNvSpPr/>
          <p:nvPr/>
        </p:nvSpPr>
        <p:spPr>
          <a:xfrm>
            <a:off x="370390" y="3136739"/>
            <a:ext cx="6285053" cy="4477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/>
            <a:endParaRPr lang="en-US" sz="4400" b="0" i="0" dirty="0">
              <a:solidFill>
                <a:srgbClr val="272C3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3199" y="3917752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830922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4FA1-2090-C6EB-7544-299C050F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1888-ECF3-1B84-EDDB-D02754B50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515" y="702260"/>
            <a:ext cx="8748065" cy="1405998"/>
          </a:xfrm>
        </p:spPr>
        <p:txBody>
          <a:bodyPr/>
          <a:lstStyle/>
          <a:p>
            <a:r>
              <a:rPr lang="en-US" sz="4000" dirty="0"/>
              <a:t>WHAT IS STRING IN JAVA?</a:t>
            </a:r>
            <a:endParaRPr sz="408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C9A27-0FEF-1702-78CC-8E0044AC9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729" y="2108258"/>
            <a:ext cx="9567764" cy="5462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In Java, a String is a sequence of characters used to store text such as </a:t>
            </a:r>
          </a:p>
          <a:p>
            <a:pPr marL="0" indent="0">
              <a:buNone/>
            </a:pPr>
            <a:r>
              <a:rPr lang="en-IN" sz="1800" dirty="0"/>
              <a:t>"Hello", "Java", or "Narendra".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String</a:t>
            </a:r>
            <a:r>
              <a:rPr lang="en-IN" sz="1800" dirty="0"/>
              <a:t> is a class in Java.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It belongs to the </a:t>
            </a:r>
            <a:r>
              <a:rPr lang="en-IN" sz="1800" dirty="0" err="1"/>
              <a:t>java.lang</a:t>
            </a:r>
            <a:r>
              <a:rPr lang="en-IN" sz="1800" dirty="0"/>
              <a:t> package, which is automatically available.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Example</a:t>
            </a:r>
            <a:r>
              <a:rPr lang="en-IN" sz="1800" dirty="0"/>
              <a:t>:</a:t>
            </a:r>
          </a:p>
          <a:p>
            <a:pPr marL="0" indent="0">
              <a:buNone/>
            </a:pPr>
            <a:r>
              <a:rPr lang="en-IN" sz="1800" dirty="0"/>
              <a:t>String name = "Java";</a:t>
            </a:r>
          </a:p>
          <a:p>
            <a:pPr marL="0" indent="0">
              <a:buNone/>
            </a:pPr>
            <a:r>
              <a:rPr lang="en-IN" sz="1800" dirty="0"/>
              <a:t>String message = "Hello World";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Important points:</a:t>
            </a:r>
          </a:p>
          <a:p>
            <a:pPr marL="0" indent="0">
              <a:buNone/>
            </a:pPr>
            <a:r>
              <a:rPr lang="en-IN" sz="1800" dirty="0"/>
              <a:t>• String stores text data</a:t>
            </a:r>
          </a:p>
          <a:p>
            <a:pPr marL="0" indent="0">
              <a:buNone/>
            </a:pPr>
            <a:r>
              <a:rPr lang="en-IN" sz="1800" dirty="0"/>
              <a:t>• String objects are immutable</a:t>
            </a:r>
          </a:p>
          <a:p>
            <a:pPr marL="0" indent="0">
              <a:buNone/>
            </a:pPr>
            <a:r>
              <a:rPr lang="en-IN" sz="1800" dirty="0"/>
              <a:t>• Very commonly used in applications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9824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4F689-B7F3-8195-AA81-099A7796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31034-1165-4007-827A-BC0E377E8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515" y="702260"/>
            <a:ext cx="8748065" cy="1405998"/>
          </a:xfrm>
        </p:spPr>
        <p:txBody>
          <a:bodyPr/>
          <a:lstStyle/>
          <a:p>
            <a:r>
              <a:rPr lang="en-US" sz="4000" dirty="0"/>
              <a:t>HOW TO CREATE STRING OBJECTS IN JAVA?</a:t>
            </a:r>
            <a:endParaRPr sz="408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DB06D-1853-0160-E03B-1C16DB042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729" y="2108258"/>
            <a:ext cx="9567764" cy="58088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There are two ways.</a:t>
            </a:r>
          </a:p>
          <a:p>
            <a:pPr marL="0" indent="0">
              <a:buNone/>
            </a:pPr>
            <a:r>
              <a:rPr lang="en-US" sz="1800" dirty="0"/>
              <a:t>1. </a:t>
            </a:r>
            <a:r>
              <a:rPr lang="en-US" sz="1800" b="1" dirty="0"/>
              <a:t>Using String Literal (Recommended)</a:t>
            </a:r>
          </a:p>
          <a:p>
            <a:pPr marL="0" indent="0">
              <a:buNone/>
            </a:pPr>
            <a:r>
              <a:rPr lang="en-US" sz="1800" dirty="0"/>
              <a:t>String s1 = "Java";</a:t>
            </a:r>
          </a:p>
          <a:p>
            <a:pPr marL="0" indent="0">
              <a:buNone/>
            </a:pPr>
            <a:r>
              <a:rPr lang="en-US" sz="1800" dirty="0"/>
              <a:t>Here the string is stored in the String Constant Pool.</a:t>
            </a:r>
          </a:p>
          <a:p>
            <a:pPr marL="0" indent="0">
              <a:buNone/>
            </a:pPr>
            <a:r>
              <a:rPr lang="en-US" sz="1800" dirty="0"/>
              <a:t>Example:</a:t>
            </a:r>
            <a:br>
              <a:rPr lang="en-US" sz="1800" dirty="0"/>
            </a:br>
            <a:r>
              <a:rPr lang="en-US" sz="1800" dirty="0"/>
              <a:t>String s1 = "Java";</a:t>
            </a:r>
            <a:br>
              <a:rPr lang="en-US" sz="1800" dirty="0"/>
            </a:br>
            <a:r>
              <a:rPr lang="en-US" sz="1800" dirty="0"/>
              <a:t>String s2 = "Java";</a:t>
            </a:r>
          </a:p>
          <a:p>
            <a:pPr marL="0" indent="0">
              <a:buNone/>
            </a:pPr>
            <a:r>
              <a:rPr lang="en-US" sz="1800" dirty="0"/>
              <a:t>Both variables refer to the same object.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2. Using new Keyword</a:t>
            </a:r>
          </a:p>
          <a:p>
            <a:pPr marL="0" indent="0">
              <a:buNone/>
            </a:pPr>
            <a:r>
              <a:rPr lang="en-US" sz="1800" dirty="0"/>
              <a:t>String s1 = new String("Java");</a:t>
            </a:r>
          </a:p>
          <a:p>
            <a:pPr marL="0" indent="0">
              <a:buNone/>
            </a:pPr>
            <a:r>
              <a:rPr lang="en-US" sz="1800" dirty="0"/>
              <a:t>This creates two objects:</a:t>
            </a:r>
            <a:br>
              <a:rPr lang="en-US" sz="1800" dirty="0"/>
            </a:br>
            <a:r>
              <a:rPr lang="en-US" sz="1800" dirty="0"/>
              <a:t>• One in Heap Memory</a:t>
            </a:r>
            <a:br>
              <a:rPr lang="en-US" sz="1800" dirty="0"/>
            </a:br>
            <a:r>
              <a:rPr lang="en-US" sz="1800" dirty="0"/>
              <a:t>• One in String Constant Pool</a:t>
            </a:r>
          </a:p>
          <a:p>
            <a:pPr marL="0" indent="0">
              <a:buNone/>
            </a:pPr>
            <a:r>
              <a:rPr lang="en-US" sz="1800" dirty="0"/>
              <a:t>Example:</a:t>
            </a:r>
            <a:br>
              <a:rPr lang="en-US" sz="1800" dirty="0"/>
            </a:br>
            <a:r>
              <a:rPr lang="en-US" sz="1800" dirty="0"/>
              <a:t>String s1 = new String("Java");</a:t>
            </a:r>
            <a:br>
              <a:rPr lang="en-US" sz="1800" dirty="0"/>
            </a:br>
            <a:r>
              <a:rPr lang="en-US" sz="1800" dirty="0"/>
              <a:t>String s2 = new String("Java");</a:t>
            </a:r>
          </a:p>
          <a:p>
            <a:pPr marL="0" indent="0">
              <a:buNone/>
            </a:pPr>
            <a:r>
              <a:rPr lang="en-US" sz="1800" dirty="0"/>
              <a:t>Here s1 and s2 are different objects.</a:t>
            </a:r>
          </a:p>
        </p:txBody>
      </p:sp>
    </p:spTree>
    <p:extLst>
      <p:ext uri="{BB962C8B-B14F-4D97-AF65-F5344CB8AC3E}">
        <p14:creationId xmlns:p14="http://schemas.microsoft.com/office/powerpoint/2010/main" val="1894420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8343"/>
            <a:ext cx="9664860" cy="7847637"/>
          </a:xfrm>
          <a:prstGeom prst="rect">
            <a:avLst/>
          </a:prstGeom>
          <a:solidFill>
            <a:srgbClr val="F9F9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pPr algn="just"/>
            <a:r>
              <a:rPr lang="en-US" sz="2800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String objects are stored in a special memory area known as the "string constant pool".</a:t>
            </a: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860" y="0"/>
            <a:ext cx="4965539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390" y="3136739"/>
            <a:ext cx="6285053" cy="4477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/>
            <a:endParaRPr lang="en-US" sz="4400" b="0" i="0" dirty="0">
              <a:solidFill>
                <a:srgbClr val="272C3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3199" y="3917752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820CF8-42A2-BAC5-145F-703019764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621" y="1615004"/>
            <a:ext cx="8671625" cy="5833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3B3E8B-8E6F-51D0-02F8-7EAEF9387D15}"/>
              </a:ext>
            </a:extLst>
          </p:cNvPr>
          <p:cNvSpPr txBox="1"/>
          <p:nvPr/>
        </p:nvSpPr>
        <p:spPr>
          <a:xfrm>
            <a:off x="4062714" y="4581198"/>
            <a:ext cx="1713053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“Java”</a:t>
            </a:r>
          </a:p>
        </p:txBody>
      </p:sp>
    </p:spTree>
    <p:extLst>
      <p:ext uri="{BB962C8B-B14F-4D97-AF65-F5344CB8AC3E}">
        <p14:creationId xmlns:p14="http://schemas.microsoft.com/office/powerpoint/2010/main" val="126659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3ADE-84F1-7117-9505-C4983C4AF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9CCA-804A-16CF-A618-09C1156C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515" y="702260"/>
            <a:ext cx="8748065" cy="1405998"/>
          </a:xfrm>
        </p:spPr>
        <p:txBody>
          <a:bodyPr/>
          <a:lstStyle/>
          <a:p>
            <a:r>
              <a:rPr lang="en-US" sz="4000" dirty="0"/>
              <a:t>WHAT IS STRING CONSTANT POOL (SCP)?</a:t>
            </a:r>
            <a:endParaRPr sz="408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829C2-47A4-E278-F39D-4AAB9953E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729" y="2108258"/>
            <a:ext cx="9567764" cy="5462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String Constant Pool is a special memory area in Heap where Java stores string literals.</a:t>
            </a:r>
          </a:p>
          <a:p>
            <a:pPr marL="0" indent="0">
              <a:buNone/>
            </a:pPr>
            <a:r>
              <a:rPr lang="en-US" sz="1800" dirty="0"/>
              <a:t>Purpose:</a:t>
            </a:r>
            <a:br>
              <a:rPr lang="en-US" sz="1800" dirty="0"/>
            </a:br>
            <a:r>
              <a:rPr lang="en-US" sz="1800" dirty="0"/>
              <a:t>• Avoid duplicate objects</a:t>
            </a:r>
            <a:br>
              <a:rPr lang="en-US" sz="1800" dirty="0"/>
            </a:br>
            <a:r>
              <a:rPr lang="en-US" sz="1800" dirty="0"/>
              <a:t>• Save memory</a:t>
            </a:r>
            <a:br>
              <a:rPr lang="en-US" sz="1800" dirty="0"/>
            </a:br>
            <a:r>
              <a:rPr lang="en-US" sz="1800" dirty="0"/>
              <a:t>• Improve performance</a:t>
            </a:r>
          </a:p>
          <a:p>
            <a:pPr marL="0" indent="0">
              <a:buNone/>
            </a:pPr>
            <a:r>
              <a:rPr lang="en-US" sz="1800" dirty="0"/>
              <a:t>Example:</a:t>
            </a:r>
            <a:br>
              <a:rPr lang="en-US" sz="1800" dirty="0"/>
            </a:br>
            <a:r>
              <a:rPr lang="en-US" sz="1800" dirty="0"/>
              <a:t>String s1 = "Java";</a:t>
            </a:r>
            <a:br>
              <a:rPr lang="en-US" sz="1800" dirty="0"/>
            </a:br>
            <a:r>
              <a:rPr lang="en-US" sz="1800" dirty="0"/>
              <a:t>String s2 = "Java";</a:t>
            </a:r>
            <a:br>
              <a:rPr lang="en-US" sz="1800" dirty="0"/>
            </a:br>
            <a:r>
              <a:rPr lang="en-US" sz="1800" dirty="0"/>
              <a:t>String s3 = "Java";</a:t>
            </a:r>
          </a:p>
          <a:p>
            <a:pPr marL="0" indent="0">
              <a:buNone/>
            </a:pPr>
            <a:r>
              <a:rPr lang="en-US" sz="1800" dirty="0"/>
              <a:t>Only one object "Java" is created in SCP and all references point to it.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56637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A3E4F-C98B-D8CF-B4CF-63E73690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7AC2D-E463-0090-F51B-A771878A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515" y="702260"/>
            <a:ext cx="8748065" cy="1405998"/>
          </a:xfrm>
        </p:spPr>
        <p:txBody>
          <a:bodyPr/>
          <a:lstStyle/>
          <a:p>
            <a:r>
              <a:rPr lang="en-US" sz="4000" dirty="0"/>
              <a:t>WHY STRING OBJECTS ARE IMMUTABLE?</a:t>
            </a:r>
            <a:endParaRPr sz="408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8DE85-EE1E-288A-CCAD-A86C23FC5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729" y="2108258"/>
            <a:ext cx="9567764" cy="5462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Immutable means the value cannot change after creation.</a:t>
            </a:r>
          </a:p>
          <a:p>
            <a:pPr marL="0" indent="0">
              <a:buNone/>
            </a:pPr>
            <a:r>
              <a:rPr lang="en-IN" sz="1800" b="1" dirty="0"/>
              <a:t>Example</a:t>
            </a:r>
            <a:r>
              <a:rPr lang="en-IN" sz="1800" dirty="0"/>
              <a:t>:</a:t>
            </a:r>
          </a:p>
          <a:p>
            <a:pPr marL="0" indent="0">
              <a:buNone/>
            </a:pPr>
            <a:r>
              <a:rPr lang="en-IN" sz="1800" dirty="0"/>
              <a:t>String s = "Java";</a:t>
            </a:r>
          </a:p>
          <a:p>
            <a:pPr marL="0" indent="0">
              <a:buNone/>
            </a:pPr>
            <a:r>
              <a:rPr lang="en-IN" sz="1800" dirty="0" err="1"/>
              <a:t>s.concat</a:t>
            </a:r>
            <a:r>
              <a:rPr lang="en-IN" sz="1800" dirty="0"/>
              <a:t>(" World");</a:t>
            </a:r>
          </a:p>
          <a:p>
            <a:pPr marL="0" indent="0">
              <a:buNone/>
            </a:pPr>
            <a:r>
              <a:rPr lang="en-IN" sz="1800" dirty="0"/>
              <a:t>Output remains:</a:t>
            </a:r>
          </a:p>
          <a:p>
            <a:pPr marL="0" indent="0">
              <a:buNone/>
            </a:pPr>
            <a:r>
              <a:rPr lang="en-IN" sz="1800" dirty="0"/>
              <a:t>Java</a:t>
            </a:r>
          </a:p>
          <a:p>
            <a:pPr marL="0" indent="0">
              <a:buNone/>
            </a:pPr>
            <a:r>
              <a:rPr lang="en-IN" sz="1800" dirty="0"/>
              <a:t>Because </a:t>
            </a:r>
            <a:r>
              <a:rPr lang="en-IN" sz="1800" dirty="0" err="1"/>
              <a:t>concat</a:t>
            </a:r>
            <a:r>
              <a:rPr lang="en-IN" sz="1800" dirty="0"/>
              <a:t>() creates a new object.</a:t>
            </a:r>
          </a:p>
          <a:p>
            <a:pPr marL="0" indent="0">
              <a:buNone/>
            </a:pPr>
            <a:r>
              <a:rPr lang="en-IN" sz="1800" dirty="0"/>
              <a:t>Correct usage:</a:t>
            </a:r>
          </a:p>
          <a:p>
            <a:pPr marL="0" indent="0">
              <a:buNone/>
            </a:pPr>
            <a:r>
              <a:rPr lang="en-IN" sz="1800" dirty="0"/>
              <a:t>s = </a:t>
            </a:r>
            <a:r>
              <a:rPr lang="en-IN" sz="1800" dirty="0" err="1"/>
              <a:t>s.concat</a:t>
            </a:r>
            <a:r>
              <a:rPr lang="en-IN" sz="1800" dirty="0"/>
              <a:t>(" World");</a:t>
            </a:r>
          </a:p>
          <a:p>
            <a:pPr marL="0" indent="0">
              <a:buNone/>
            </a:pPr>
            <a:r>
              <a:rPr lang="en-IN" sz="1800" dirty="0"/>
              <a:t>Now the result becomes:</a:t>
            </a:r>
          </a:p>
          <a:p>
            <a:pPr marL="0" indent="0">
              <a:buNone/>
            </a:pPr>
            <a:r>
              <a:rPr lang="en-IN" sz="1800" dirty="0"/>
              <a:t>Java World</a:t>
            </a:r>
          </a:p>
          <a:p>
            <a:pPr marL="0" indent="0">
              <a:buNone/>
            </a:pPr>
            <a:r>
              <a:rPr lang="en-IN" sz="1800" dirty="0"/>
              <a:t>Reasons for immutability:</a:t>
            </a:r>
          </a:p>
          <a:p>
            <a:pPr marL="0" indent="0">
              <a:buNone/>
            </a:pPr>
            <a:r>
              <a:rPr lang="en-IN" sz="1800" dirty="0"/>
              <a:t>• Security</a:t>
            </a:r>
          </a:p>
          <a:p>
            <a:pPr marL="0" indent="0">
              <a:buNone/>
            </a:pPr>
            <a:r>
              <a:rPr lang="en-IN" sz="1800" dirty="0"/>
              <a:t>• String Pool optimization</a:t>
            </a:r>
          </a:p>
          <a:p>
            <a:pPr marL="0" indent="0">
              <a:buNone/>
            </a:pPr>
            <a:r>
              <a:rPr lang="en-IN" sz="1800" dirty="0"/>
              <a:t>• Thread safety</a:t>
            </a:r>
          </a:p>
          <a:p>
            <a:pPr marL="0" indent="0">
              <a:buNone/>
            </a:pPr>
            <a:r>
              <a:rPr lang="en-IN" sz="1800" dirty="0"/>
              <a:t>• Performance improvement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774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BBF3B-1D57-1E36-182A-9058E5EB7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9D8F-04DB-C509-B66A-F7346BB34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515" y="702260"/>
            <a:ext cx="8748065" cy="1405998"/>
          </a:xfrm>
        </p:spPr>
        <p:txBody>
          <a:bodyPr/>
          <a:lstStyle/>
          <a:p>
            <a:r>
              <a:rPr lang="en-US" sz="4000" dirty="0"/>
              <a:t>How many objects are created in memory?</a:t>
            </a:r>
            <a:endParaRPr sz="408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638BAC-6AC2-0A8F-7CA4-DE218591A4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388" y="2626581"/>
            <a:ext cx="6391109" cy="442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StringMemoryDemo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String s1 = "Java";</a:t>
            </a:r>
            <a:br>
              <a:rPr lang="en-IN" dirty="0"/>
            </a:br>
            <a:r>
              <a:rPr lang="en-IN" dirty="0"/>
              <a:t>    String s2 = new String("Java");</a:t>
            </a:r>
            <a:br>
              <a:rPr lang="en-IN" dirty="0"/>
            </a:br>
            <a:r>
              <a:rPr lang="en-IN" dirty="0"/>
              <a:t>    String s3 = "Java";</a:t>
            </a:r>
            <a:br>
              <a:rPr lang="en-IN" dirty="0"/>
            </a:br>
            <a:r>
              <a:rPr lang="en-IN" dirty="0"/>
              <a:t>    String s4 = new String("Java");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8844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3F2B-ED3A-7953-83C5-535B7325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25DE-F6F0-8D93-8228-4DAB39B1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515" y="702260"/>
            <a:ext cx="8748065" cy="1405998"/>
          </a:xfrm>
        </p:spPr>
        <p:txBody>
          <a:bodyPr/>
          <a:lstStyle/>
          <a:p>
            <a:r>
              <a:rPr lang="en-US" sz="4000" dirty="0"/>
              <a:t>How many objects are created in memory?</a:t>
            </a:r>
            <a:endParaRPr sz="408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95AE3B-AB26-C3CF-E108-F287E6AB03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388" y="2768158"/>
            <a:ext cx="8611906" cy="4142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800" dirty="0"/>
              <a:t>String Constant Pool (SCP)</a:t>
            </a:r>
          </a:p>
          <a:p>
            <a:pPr marL="0" indent="0">
              <a:buNone/>
            </a:pPr>
            <a:r>
              <a:rPr lang="en-US" sz="2800" dirty="0"/>
              <a:t>--------------------------</a:t>
            </a:r>
          </a:p>
          <a:p>
            <a:pPr marL="0" indent="0">
              <a:buNone/>
            </a:pPr>
            <a:r>
              <a:rPr lang="en-US" sz="2800" dirty="0"/>
              <a:t>"Java"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Heap Memory</a:t>
            </a:r>
          </a:p>
          <a:p>
            <a:pPr marL="0" indent="0">
              <a:buNone/>
            </a:pPr>
            <a:r>
              <a:rPr lang="en-US" sz="2800" dirty="0"/>
              <a:t>--------------------------</a:t>
            </a:r>
          </a:p>
          <a:p>
            <a:pPr marL="0" indent="0">
              <a:buNone/>
            </a:pPr>
            <a:r>
              <a:rPr lang="en-US" sz="2800" dirty="0"/>
              <a:t>Object1 -&gt; new String("Java")  (s2)</a:t>
            </a:r>
          </a:p>
          <a:p>
            <a:pPr marL="0" indent="0">
              <a:buNone/>
            </a:pPr>
            <a:r>
              <a:rPr lang="en-US" sz="2800" dirty="0"/>
              <a:t>Object2 -&gt; new String("Java")  (s4)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41707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161F-6125-52F0-1DBE-906BC310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5EF1-B7B2-F62C-3051-729E03E7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515" y="702260"/>
            <a:ext cx="8748065" cy="1405998"/>
          </a:xfrm>
        </p:spPr>
        <p:txBody>
          <a:bodyPr/>
          <a:lstStyle/>
          <a:p>
            <a:r>
              <a:rPr lang="en-US" sz="4000" dirty="0"/>
              <a:t>How many objects are created in memory?</a:t>
            </a:r>
            <a:endParaRPr sz="408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C98CAA-869E-F16E-4199-1D6E65A141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388" y="2823558"/>
            <a:ext cx="6785832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StringMemoryDemo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String s1 = "Java";</a:t>
            </a:r>
            <a:br>
              <a:rPr lang="en-IN" dirty="0"/>
            </a:br>
            <a:r>
              <a:rPr lang="en-IN" dirty="0"/>
              <a:t>        s1= s1+" Programming";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System.</a:t>
            </a:r>
            <a:r>
              <a:rPr lang="en-IN" i="1" dirty="0" err="1"/>
              <a:t>out</a:t>
            </a:r>
            <a:r>
              <a:rPr lang="en-IN" dirty="0" err="1"/>
              <a:t>.println</a:t>
            </a:r>
            <a:r>
              <a:rPr lang="en-IN" dirty="0"/>
              <a:t>("s1: " + s1);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939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2EFC-00FD-06CD-A23A-CE274680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2869-B518-FAF7-81D8-51AF5D56B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378" y="263095"/>
            <a:ext cx="8748065" cy="732328"/>
          </a:xfrm>
        </p:spPr>
        <p:txBody>
          <a:bodyPr/>
          <a:lstStyle/>
          <a:p>
            <a:r>
              <a:rPr lang="en-US" sz="2800" b="1" dirty="0"/>
              <a:t>How many objects are created in memory?</a:t>
            </a:r>
            <a:endParaRPr sz="28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BB708F-FB70-2AC7-90CB-AD60F98749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95378" y="1022631"/>
            <a:ext cx="8532065" cy="6592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200" b="1" dirty="0"/>
              <a:t>Step-by-Step Object Creation</a:t>
            </a:r>
          </a:p>
          <a:p>
            <a:pPr marL="0" indent="0">
              <a:buNone/>
            </a:pPr>
            <a:r>
              <a:rPr lang="en-US" sz="1200" b="1" dirty="0"/>
              <a:t>First line</a:t>
            </a:r>
          </a:p>
          <a:p>
            <a:pPr marL="0" indent="0">
              <a:buNone/>
            </a:pPr>
            <a:r>
              <a:rPr lang="en-US" sz="1200" dirty="0"/>
              <a:t>String s1 = "Java";</a:t>
            </a:r>
          </a:p>
          <a:p>
            <a:pPr marL="0" indent="0">
              <a:buNone/>
            </a:pPr>
            <a:r>
              <a:rPr lang="en-US" sz="1200" dirty="0"/>
              <a:t>Object </a:t>
            </a:r>
            <a:r>
              <a:rPr lang="en-US" sz="1200" dirty="0" err="1"/>
              <a:t>created:"Java</a:t>
            </a:r>
            <a:r>
              <a:rPr lang="en-US" sz="1200" dirty="0"/>
              <a:t>"</a:t>
            </a:r>
          </a:p>
          <a:p>
            <a:pPr marL="0" indent="0">
              <a:buNone/>
            </a:pPr>
            <a:r>
              <a:rPr lang="en-US" sz="1200" dirty="0"/>
              <a:t>Stored in </a:t>
            </a:r>
            <a:r>
              <a:rPr lang="en-US" sz="1200" b="1" dirty="0"/>
              <a:t>String Constant Pool (SCP)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dirty="0"/>
              <a:t>Objects so far = </a:t>
            </a:r>
            <a:r>
              <a:rPr lang="en-US" sz="1200" b="1" dirty="0"/>
              <a:t>1</a:t>
            </a:r>
            <a:endParaRPr lang="en-US" sz="1200" dirty="0"/>
          </a:p>
          <a:p>
            <a:pPr marL="0" indent="0">
              <a:buNone/>
            </a:pPr>
            <a:br>
              <a:rPr lang="en-US" sz="1200" dirty="0"/>
            </a:b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 Second line</a:t>
            </a:r>
          </a:p>
          <a:p>
            <a:pPr marL="0" indent="0">
              <a:buNone/>
            </a:pPr>
            <a:r>
              <a:rPr lang="en-US" sz="1200" dirty="0"/>
              <a:t>s1 = s1 + " Programming";</a:t>
            </a:r>
          </a:p>
          <a:p>
            <a:pPr marL="0" indent="0">
              <a:buNone/>
            </a:pPr>
            <a:r>
              <a:rPr lang="en-US" sz="1200" dirty="0"/>
              <a:t>The compiler converts it internally to:</a:t>
            </a:r>
          </a:p>
          <a:p>
            <a:pPr marL="0" indent="0">
              <a:buNone/>
            </a:pPr>
            <a:r>
              <a:rPr lang="en-US" sz="1200" b="1" dirty="0"/>
              <a:t>new StringBuilder().append(s1).append(" Programming").</a:t>
            </a:r>
            <a:r>
              <a:rPr lang="en-US" sz="1200" b="1" dirty="0" err="1"/>
              <a:t>toString</a:t>
            </a:r>
            <a:r>
              <a:rPr lang="en-US" sz="1200" b="1" dirty="0"/>
              <a:t>();</a:t>
            </a:r>
          </a:p>
          <a:p>
            <a:pPr marL="0" indent="0">
              <a:buNone/>
            </a:pPr>
            <a:r>
              <a:rPr lang="en-US" sz="1200" dirty="0"/>
              <a:t>Now let's count objects.</a:t>
            </a:r>
          </a:p>
          <a:p>
            <a:pPr marL="0" indent="0">
              <a:buNone/>
            </a:pPr>
            <a:r>
              <a:rPr lang="en-US" sz="1200" b="1" dirty="0"/>
              <a:t>Object 1</a:t>
            </a:r>
          </a:p>
          <a:p>
            <a:pPr marL="0" indent="0">
              <a:buNone/>
            </a:pPr>
            <a:r>
              <a:rPr lang="en-US" sz="1200" dirty="0"/>
              <a:t>" Programming"</a:t>
            </a:r>
          </a:p>
          <a:p>
            <a:pPr marL="0" indent="0">
              <a:buNone/>
            </a:pPr>
            <a:r>
              <a:rPr lang="en-US" sz="1200" dirty="0"/>
              <a:t>String literal → stored in </a:t>
            </a:r>
            <a:r>
              <a:rPr lang="en-US" sz="1200" b="1" dirty="0"/>
              <a:t>String Constant Pool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Objects = </a:t>
            </a:r>
            <a:r>
              <a:rPr lang="en-US" sz="1200" b="1" dirty="0"/>
              <a:t>2</a:t>
            </a:r>
            <a:endParaRPr lang="en-US" sz="1200" dirty="0"/>
          </a:p>
          <a:p>
            <a:pPr marL="0" indent="0">
              <a:buNone/>
            </a:pPr>
            <a:br>
              <a:rPr lang="en-US" sz="1200" dirty="0"/>
            </a:b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Object 2</a:t>
            </a:r>
          </a:p>
          <a:p>
            <a:pPr marL="0" indent="0">
              <a:buNone/>
            </a:pPr>
            <a:r>
              <a:rPr lang="en-US" sz="1200" dirty="0"/>
              <a:t>new StringBuilder()</a:t>
            </a:r>
          </a:p>
          <a:p>
            <a:pPr marL="0" indent="0">
              <a:buNone/>
            </a:pPr>
            <a:r>
              <a:rPr lang="en-US" sz="1200" dirty="0"/>
              <a:t>Temporary object created in </a:t>
            </a:r>
            <a:r>
              <a:rPr lang="en-US" sz="1200" b="1" dirty="0"/>
              <a:t>Heap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Objects = </a:t>
            </a:r>
            <a:r>
              <a:rPr lang="en-US" sz="1200" b="1" dirty="0"/>
              <a:t>3</a:t>
            </a:r>
            <a:endParaRPr lang="en-US" sz="1200" dirty="0"/>
          </a:p>
          <a:p>
            <a:pPr marL="0" indent="0">
              <a:buNone/>
            </a:pPr>
            <a:br>
              <a:rPr lang="en-US" sz="1200" dirty="0"/>
            </a:b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Object 3</a:t>
            </a:r>
          </a:p>
          <a:p>
            <a:pPr marL="0" indent="0">
              <a:buNone/>
            </a:pPr>
            <a:r>
              <a:rPr lang="en-US" sz="1200" dirty="0"/>
              <a:t>Result of .</a:t>
            </a:r>
            <a:r>
              <a:rPr lang="en-US" sz="1200" dirty="0" err="1"/>
              <a:t>toString</a:t>
            </a:r>
            <a:r>
              <a:rPr lang="en-US" sz="1200" dirty="0"/>
              <a:t>()</a:t>
            </a:r>
          </a:p>
          <a:p>
            <a:pPr marL="0" indent="0">
              <a:buNone/>
            </a:pPr>
            <a:r>
              <a:rPr lang="en-US" sz="1200" dirty="0"/>
              <a:t>"Java Programming"</a:t>
            </a:r>
          </a:p>
          <a:p>
            <a:pPr marL="0" indent="0">
              <a:buNone/>
            </a:pPr>
            <a:r>
              <a:rPr lang="en-US" sz="1200" dirty="0"/>
              <a:t>New </a:t>
            </a:r>
            <a:r>
              <a:rPr lang="en-US" sz="1200" b="1" dirty="0"/>
              <a:t>String object in Heap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Objects = </a:t>
            </a:r>
            <a:r>
              <a:rPr lang="en-US" sz="1200" b="1" dirty="0"/>
              <a:t>4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6FF12-3439-4F78-D673-A7A4B3A43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06" y="1022631"/>
            <a:ext cx="5621575" cy="286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15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F9E00-EF0D-43F1-BE0C-C406CFBE6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50FC-4518-8EA4-E71C-3593947F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515" y="702260"/>
            <a:ext cx="8748065" cy="1405998"/>
          </a:xfrm>
        </p:spPr>
        <p:txBody>
          <a:bodyPr/>
          <a:lstStyle/>
          <a:p>
            <a:r>
              <a:rPr lang="en-IN" dirty="0"/>
              <a:t>WHY STRING CLASS IS FINAL?</a:t>
            </a:r>
            <a:br>
              <a:rPr lang="en-IN" dirty="0"/>
            </a:br>
            <a:endParaRPr sz="408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0E93D-6FEE-3F1F-F660-2BD8CD414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729" y="2108258"/>
            <a:ext cx="9567764" cy="5462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The String class in Java is declared as final.</a:t>
            </a:r>
          </a:p>
          <a:p>
            <a:pPr marL="0" indent="0">
              <a:buNone/>
            </a:pPr>
            <a:r>
              <a:rPr lang="en-IN" sz="1800" dirty="0"/>
              <a:t>Meaning it cannot be extended by any other class.</a:t>
            </a:r>
          </a:p>
          <a:p>
            <a:pPr marL="0" indent="0">
              <a:buNone/>
            </a:pPr>
            <a:r>
              <a:rPr lang="en-IN" sz="1800" b="1" dirty="0"/>
              <a:t>Example</a:t>
            </a:r>
            <a:r>
              <a:rPr lang="en-IN" sz="1800" dirty="0"/>
              <a:t>:</a:t>
            </a:r>
          </a:p>
          <a:p>
            <a:pPr marL="0" indent="0">
              <a:buNone/>
            </a:pPr>
            <a:r>
              <a:rPr lang="en-IN" sz="1800" dirty="0"/>
              <a:t>class </a:t>
            </a:r>
            <a:r>
              <a:rPr lang="en-IN" sz="1800" dirty="0" err="1"/>
              <a:t>MyString</a:t>
            </a:r>
            <a:r>
              <a:rPr lang="en-IN" sz="1800" dirty="0"/>
              <a:t> extends String {} // Not allowed</a:t>
            </a:r>
          </a:p>
          <a:p>
            <a:pPr marL="0" indent="0">
              <a:buNone/>
            </a:pPr>
            <a:r>
              <a:rPr lang="en-IN" sz="1800" dirty="0"/>
              <a:t>Reasons:</a:t>
            </a:r>
          </a:p>
          <a:p>
            <a:pPr marL="0" indent="0">
              <a:buNone/>
            </a:pPr>
            <a:r>
              <a:rPr lang="en-IN" sz="1800" dirty="0"/>
              <a:t>• Prevents modification of String </a:t>
            </a:r>
            <a:r>
              <a:rPr lang="en-IN" sz="1800" dirty="0" err="1"/>
              <a:t>behavior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• Maintains immutability</a:t>
            </a:r>
          </a:p>
          <a:p>
            <a:pPr marL="0" indent="0">
              <a:buNone/>
            </a:pPr>
            <a:r>
              <a:rPr lang="en-IN" sz="1800" dirty="0"/>
              <a:t>• Provides security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42310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8343"/>
            <a:ext cx="9664860" cy="7847637"/>
          </a:xfrm>
          <a:prstGeom prst="rect">
            <a:avLst/>
          </a:prstGeom>
          <a:solidFill>
            <a:srgbClr val="F9F9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pPr algn="just"/>
            <a:endParaRPr lang="en-US" sz="2400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endParaRPr lang="en-US" sz="2400" dirty="0">
              <a:solidFill>
                <a:srgbClr val="610B4B"/>
              </a:solidFill>
              <a:latin typeface="erdana"/>
            </a:endParaRPr>
          </a:p>
          <a:p>
            <a:pPr algn="just"/>
            <a:endParaRPr lang="en-US" sz="2400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sz="2400" b="0" i="0" dirty="0">
                <a:solidFill>
                  <a:srgbClr val="610B4B"/>
                </a:solidFill>
                <a:effectLst/>
                <a:latin typeface="erdana"/>
              </a:rPr>
              <a:t>Why Java uses the concept of String literal?</a:t>
            </a:r>
          </a:p>
          <a:p>
            <a:pPr algn="just"/>
            <a:endParaRPr lang="en-US" sz="2400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make Java more memory efficient</a:t>
            </a:r>
            <a:endParaRPr lang="en-US" sz="1600" b="0" i="0" dirty="0">
              <a:solidFill>
                <a:srgbClr val="610B4B"/>
              </a:solidFill>
              <a:effectLst/>
              <a:latin typeface="erdana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860" y="0"/>
            <a:ext cx="4965539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390" y="3136739"/>
            <a:ext cx="6285053" cy="4477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/>
            <a:endParaRPr lang="en-US" sz="4400" b="0" i="0" dirty="0">
              <a:solidFill>
                <a:srgbClr val="272C3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3199" y="3917752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063583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8343"/>
            <a:ext cx="9664860" cy="7847637"/>
          </a:xfrm>
          <a:prstGeom prst="rect">
            <a:avLst/>
          </a:prstGeom>
          <a:solidFill>
            <a:srgbClr val="F9F9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pPr algn="just"/>
            <a:r>
              <a:rPr lang="en-IN" sz="2400" b="0" i="0" dirty="0">
                <a:solidFill>
                  <a:srgbClr val="610B38"/>
                </a:solidFill>
                <a:effectLst/>
                <a:latin typeface="erdana"/>
              </a:rPr>
              <a:t>Immutable String in Java:</a:t>
            </a:r>
          </a:p>
          <a:p>
            <a:pPr algn="just"/>
            <a:endParaRPr lang="en-IN" sz="2400" dirty="0">
              <a:solidFill>
                <a:srgbClr val="610B38"/>
              </a:solidFill>
              <a:latin typeface="erdana"/>
            </a:endParaRP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In Java,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inter-bold"/>
              </a:rPr>
              <a:t>String objects are immutable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. Immutable simply means unmodifiable or unchangeable.</a:t>
            </a:r>
          </a:p>
          <a:p>
            <a:pPr algn="just"/>
            <a:endParaRPr lang="en-US" sz="24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400" dirty="0">
                <a:solidFill>
                  <a:srgbClr val="333333"/>
                </a:solidFill>
                <a:latin typeface="inter-regular"/>
              </a:rPr>
              <a:t>Once String object is created its data or state can't be changed but a new String object is created.</a:t>
            </a:r>
          </a:p>
          <a:p>
            <a:pPr algn="just"/>
            <a:endParaRPr lang="en-US" sz="2400" dirty="0">
              <a:solidFill>
                <a:srgbClr val="333333"/>
              </a:solidFill>
              <a:latin typeface="inter-regular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860" y="0"/>
            <a:ext cx="4965539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390" y="3136739"/>
            <a:ext cx="6285053" cy="4477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/>
            <a:endParaRPr lang="en-US" sz="4400" b="0" i="0" dirty="0">
              <a:solidFill>
                <a:srgbClr val="272C3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3199" y="3917752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508524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8343"/>
            <a:ext cx="9664860" cy="7847637"/>
          </a:xfrm>
          <a:prstGeom prst="rect">
            <a:avLst/>
          </a:prstGeom>
          <a:solidFill>
            <a:srgbClr val="F9F9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pPr algn="just"/>
            <a:endParaRPr lang="en-US" sz="2400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endParaRPr lang="en-US" sz="2400" dirty="0">
              <a:solidFill>
                <a:srgbClr val="610B4B"/>
              </a:solidFill>
              <a:latin typeface="erdana"/>
            </a:endParaRPr>
          </a:p>
          <a:p>
            <a:pPr algn="just"/>
            <a:endParaRPr lang="en-US" sz="2400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sz="2400" b="0" i="0" dirty="0">
                <a:solidFill>
                  <a:srgbClr val="610B4B"/>
                </a:solidFill>
                <a:effectLst/>
                <a:latin typeface="erdana"/>
              </a:rPr>
              <a:t>Why String objects are immutable in Java?</a:t>
            </a:r>
          </a:p>
          <a:p>
            <a:pPr algn="just"/>
            <a:endParaRPr lang="en-US" sz="2400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342900" indent="-342900" algn="just">
              <a:buAutoNum type="arabicPeriod"/>
            </a:pPr>
            <a:r>
              <a:rPr lang="en-IN" sz="1600" b="1" i="0" dirty="0">
                <a:solidFill>
                  <a:srgbClr val="333333"/>
                </a:solidFill>
                <a:effectLst/>
                <a:latin typeface="inter-bold"/>
              </a:rPr>
              <a:t>Class Loader</a:t>
            </a:r>
            <a:endParaRPr lang="en-IN" sz="1600" b="1" dirty="0">
              <a:solidFill>
                <a:srgbClr val="333333"/>
              </a:solidFill>
              <a:latin typeface="inter-bold"/>
            </a:endParaRPr>
          </a:p>
          <a:p>
            <a:pPr marL="342900" indent="-342900" algn="just">
              <a:buAutoNum type="arabicPeriod"/>
            </a:pPr>
            <a:r>
              <a:rPr lang="en-IN" sz="1600" b="1" i="0" dirty="0">
                <a:solidFill>
                  <a:srgbClr val="333333"/>
                </a:solidFill>
                <a:effectLst/>
                <a:latin typeface="inter-bold"/>
              </a:rPr>
              <a:t>Thread Safe</a:t>
            </a:r>
          </a:p>
          <a:p>
            <a:pPr marL="342900" indent="-342900" algn="just">
              <a:buAutoNum type="arabicPeriod"/>
            </a:pPr>
            <a:r>
              <a:rPr lang="en-IN" sz="1600" b="1" i="0" dirty="0">
                <a:solidFill>
                  <a:srgbClr val="333333"/>
                </a:solidFill>
                <a:effectLst/>
                <a:latin typeface="inter-bold"/>
              </a:rPr>
              <a:t>Security</a:t>
            </a:r>
          </a:p>
          <a:p>
            <a:pPr marL="342900" indent="-342900" algn="just">
              <a:buAutoNum type="arabicPeriod"/>
            </a:pPr>
            <a:r>
              <a:rPr lang="en-IN" sz="1600" b="1" i="0" dirty="0">
                <a:solidFill>
                  <a:srgbClr val="333333"/>
                </a:solidFill>
                <a:effectLst/>
                <a:latin typeface="inter-bold"/>
              </a:rPr>
              <a:t>Heap Space</a:t>
            </a:r>
            <a:endParaRPr lang="en-IN" sz="1600" b="1" dirty="0">
              <a:solidFill>
                <a:srgbClr val="333333"/>
              </a:solidFill>
              <a:latin typeface="inter-bold"/>
            </a:endParaRPr>
          </a:p>
          <a:p>
            <a:pPr marL="342900" indent="-342900" algn="just">
              <a:buAutoNum type="arabicPeriod"/>
            </a:pPr>
            <a:endParaRPr lang="en-US" sz="16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860" y="0"/>
            <a:ext cx="4965539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390" y="3136739"/>
            <a:ext cx="6285053" cy="4477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/>
            <a:endParaRPr lang="en-US" sz="4400" b="0" i="0" dirty="0">
              <a:solidFill>
                <a:srgbClr val="272C3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3199" y="3917752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712893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8343"/>
            <a:ext cx="9664860" cy="7847637"/>
          </a:xfrm>
          <a:prstGeom prst="rect">
            <a:avLst/>
          </a:prstGeom>
          <a:solidFill>
            <a:srgbClr val="F9F9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pPr algn="just"/>
            <a:endParaRPr lang="en-US" sz="2400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sz="2400" b="0" i="0" dirty="0">
                <a:solidFill>
                  <a:srgbClr val="610B4B"/>
                </a:solidFill>
                <a:effectLst/>
                <a:latin typeface="erdana"/>
              </a:rPr>
              <a:t>Why String class is Final in Java?</a:t>
            </a: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860" y="0"/>
            <a:ext cx="4965539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390" y="3136739"/>
            <a:ext cx="6285053" cy="4477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/>
            <a:endParaRPr lang="en-US" sz="4400" b="0" i="0" dirty="0">
              <a:solidFill>
                <a:srgbClr val="272C3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3199" y="3917752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033065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8343"/>
            <a:ext cx="9664860" cy="7847637"/>
          </a:xfrm>
          <a:prstGeom prst="rect">
            <a:avLst/>
          </a:prstGeom>
          <a:solidFill>
            <a:srgbClr val="F9F9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pPr algn="just"/>
            <a:r>
              <a:rPr lang="en-IN" sz="2400" b="0" i="0" dirty="0">
                <a:solidFill>
                  <a:srgbClr val="610B38"/>
                </a:solidFill>
                <a:effectLst/>
                <a:latin typeface="erdana"/>
              </a:rPr>
              <a:t>Java String compare:</a:t>
            </a:r>
          </a:p>
          <a:p>
            <a:pPr algn="just"/>
            <a:endParaRPr lang="en-IN" sz="2400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/>
            <a:r>
              <a:rPr lang="en-IN" sz="2400" dirty="0">
                <a:solidFill>
                  <a:srgbClr val="610B38"/>
                </a:solidFill>
                <a:latin typeface="erdana"/>
              </a:rPr>
              <a:t>How many ways we can compare String in Java?</a:t>
            </a:r>
          </a:p>
          <a:p>
            <a:pPr algn="just"/>
            <a:endParaRPr lang="en-IN" sz="2400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/>
            <a:endParaRPr lang="en-IN" sz="2400" b="0" i="0" dirty="0">
              <a:solidFill>
                <a:srgbClr val="610B38"/>
              </a:solidFill>
              <a:effectLst/>
              <a:latin typeface="erdana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860" y="0"/>
            <a:ext cx="4965539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390" y="3136739"/>
            <a:ext cx="6285053" cy="4477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/>
            <a:endParaRPr lang="en-US" sz="4400" b="0" i="0" dirty="0">
              <a:solidFill>
                <a:srgbClr val="272C3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3199" y="3917752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58463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8343"/>
            <a:ext cx="9664860" cy="7847637"/>
          </a:xfrm>
          <a:prstGeom prst="rect">
            <a:avLst/>
          </a:prstGeom>
          <a:solidFill>
            <a:srgbClr val="F9F9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pPr algn="just">
              <a:buFont typeface="+mj-lt"/>
              <a:buAutoNum type="arabicPeriod"/>
            </a:pPr>
            <a:endParaRPr lang="en-US" sz="24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inter-regular"/>
            </a:endParaRPr>
          </a:p>
          <a:p>
            <a:pPr algn="just">
              <a:buFont typeface="+mj-lt"/>
              <a:buAutoNum type="arabicPeriod"/>
            </a:pPr>
            <a:endParaRPr lang="en-US" sz="24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+mj-lt"/>
              <a:buAutoNum type="arabicPeriod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By Using equals() Method</a:t>
            </a:r>
          </a:p>
          <a:p>
            <a:pPr algn="just">
              <a:buFont typeface="+mj-lt"/>
              <a:buAutoNum type="arabicPeriod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By Using == Operator</a:t>
            </a:r>
          </a:p>
          <a:p>
            <a:pPr algn="just">
              <a:buFont typeface="+mj-lt"/>
              <a:buAutoNum type="arabicPeriod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By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inter-regular"/>
              </a:rPr>
              <a:t>compareTo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() Method</a:t>
            </a:r>
          </a:p>
          <a:p>
            <a:pPr algn="just"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inter-regular"/>
            </a:endParaRPr>
          </a:p>
          <a:p>
            <a:pPr algn="just">
              <a:buFont typeface="+mj-lt"/>
              <a:buAutoNum type="arabicPeriod"/>
            </a:pPr>
            <a:endParaRPr lang="en-US" sz="24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860" y="0"/>
            <a:ext cx="4965539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390" y="3136739"/>
            <a:ext cx="6285053" cy="4477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/>
            <a:endParaRPr lang="en-US" sz="4400" b="0" i="0" dirty="0">
              <a:solidFill>
                <a:srgbClr val="272C3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3199" y="3917752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212756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8343"/>
            <a:ext cx="9664860" cy="7847637"/>
          </a:xfrm>
          <a:prstGeom prst="rect">
            <a:avLst/>
          </a:prstGeom>
          <a:solidFill>
            <a:srgbClr val="F9F9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pPr algn="just"/>
            <a:r>
              <a:rPr lang="en-IN" sz="2400" b="0" i="0" dirty="0">
                <a:solidFill>
                  <a:srgbClr val="610B38"/>
                </a:solidFill>
                <a:effectLst/>
                <a:latin typeface="erdana"/>
              </a:rPr>
              <a:t>Substring in Java:</a:t>
            </a:r>
          </a:p>
          <a:p>
            <a:pPr algn="just"/>
            <a:endParaRPr lang="en-IN" sz="2400" dirty="0">
              <a:solidFill>
                <a:srgbClr val="610B38"/>
              </a:solidFill>
              <a:latin typeface="erdana"/>
            </a:endParaRPr>
          </a:p>
          <a:p>
            <a:pPr algn="just"/>
            <a:r>
              <a:rPr lang="en-IN" sz="2400" b="0" i="0" dirty="0">
                <a:solidFill>
                  <a:srgbClr val="610B38"/>
                </a:solidFill>
                <a:effectLst/>
                <a:latin typeface="erdana"/>
              </a:rPr>
              <a:t>We can get a substring using below ways:</a:t>
            </a:r>
          </a:p>
          <a:p>
            <a:pPr algn="just"/>
            <a:endParaRPr lang="en-IN" sz="2400" dirty="0">
              <a:solidFill>
                <a:srgbClr val="610B38"/>
              </a:solidFill>
              <a:latin typeface="erdana"/>
            </a:endParaRPr>
          </a:p>
          <a:p>
            <a:pPr algn="just"/>
            <a:r>
              <a:rPr lang="en-US" sz="1600" b="0" i="0" dirty="0">
                <a:effectLst/>
                <a:latin typeface="erdana"/>
              </a:rPr>
              <a:t>public String substring(int </a:t>
            </a:r>
            <a:r>
              <a:rPr lang="en-US" sz="1600" b="0" i="0" dirty="0" err="1">
                <a:effectLst/>
                <a:latin typeface="erdana"/>
              </a:rPr>
              <a:t>startIndex</a:t>
            </a:r>
            <a:r>
              <a:rPr lang="en-US" sz="1600" b="0" i="0" dirty="0">
                <a:effectLst/>
                <a:latin typeface="erdana"/>
              </a:rPr>
              <a:t>)</a:t>
            </a:r>
          </a:p>
          <a:p>
            <a:pPr algn="just"/>
            <a:r>
              <a:rPr lang="en-US" sz="1600" b="0" i="0" dirty="0">
                <a:effectLst/>
                <a:latin typeface="erdana"/>
              </a:rPr>
              <a:t>public String substring(int </a:t>
            </a:r>
            <a:r>
              <a:rPr lang="en-US" sz="1600" b="0" i="0" dirty="0" err="1">
                <a:effectLst/>
                <a:latin typeface="erdana"/>
              </a:rPr>
              <a:t>startIndex</a:t>
            </a:r>
            <a:r>
              <a:rPr lang="en-US" sz="1600" b="0" i="0" dirty="0">
                <a:effectLst/>
                <a:latin typeface="erdana"/>
              </a:rPr>
              <a:t>, int </a:t>
            </a:r>
            <a:r>
              <a:rPr lang="en-US" sz="1600" b="0" i="0" dirty="0" err="1">
                <a:effectLst/>
                <a:latin typeface="erdana"/>
              </a:rPr>
              <a:t>endIndex</a:t>
            </a:r>
            <a:r>
              <a:rPr lang="en-US" sz="1600" b="0" i="0" dirty="0">
                <a:effectLst/>
                <a:latin typeface="erdana"/>
              </a:rPr>
              <a:t>):</a:t>
            </a:r>
          </a:p>
          <a:p>
            <a:pPr algn="just"/>
            <a:r>
              <a:rPr lang="en-US" sz="1600" b="0" i="0" dirty="0">
                <a:effectLst/>
                <a:latin typeface="erdana"/>
              </a:rPr>
              <a:t>Using </a:t>
            </a:r>
            <a:r>
              <a:rPr lang="en-US" sz="1600" b="0" i="0" dirty="0" err="1">
                <a:effectLst/>
                <a:latin typeface="erdana"/>
              </a:rPr>
              <a:t>String.split</a:t>
            </a:r>
            <a:r>
              <a:rPr lang="en-US" sz="1600" b="0" i="0" dirty="0">
                <a:effectLst/>
                <a:latin typeface="erdana"/>
              </a:rPr>
              <a:t>() method</a:t>
            </a:r>
          </a:p>
          <a:p>
            <a:pPr algn="just"/>
            <a:endParaRPr lang="en-IN" sz="2400" b="0" i="0" dirty="0">
              <a:solidFill>
                <a:srgbClr val="610B38"/>
              </a:solidFill>
              <a:effectLst/>
              <a:latin typeface="erdana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860" y="0"/>
            <a:ext cx="4965539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390" y="3136739"/>
            <a:ext cx="6285053" cy="4477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/>
            <a:endParaRPr lang="en-US" sz="4400" b="0" i="0" dirty="0">
              <a:solidFill>
                <a:srgbClr val="272C3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3199" y="3917752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764215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8343"/>
            <a:ext cx="9664860" cy="7847637"/>
          </a:xfrm>
          <a:prstGeom prst="rect">
            <a:avLst/>
          </a:prstGeom>
          <a:solidFill>
            <a:srgbClr val="F9F9FF">
              <a:alpha val="75000"/>
            </a:srgbClr>
          </a:solidFill>
          <a:ln w="13811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pPr algn="just"/>
            <a:r>
              <a:rPr lang="en-IN" sz="3200" b="0" i="0" dirty="0">
                <a:solidFill>
                  <a:srgbClr val="610B38"/>
                </a:solidFill>
                <a:effectLst/>
                <a:latin typeface="erdana"/>
              </a:rPr>
              <a:t>Some imp Java String Class Methods:</a:t>
            </a:r>
          </a:p>
          <a:p>
            <a:pPr algn="just"/>
            <a:endParaRPr lang="en-IN" sz="2400" dirty="0">
              <a:solidFill>
                <a:srgbClr val="610B38"/>
              </a:solidFill>
              <a:latin typeface="erdana"/>
            </a:endParaRPr>
          </a:p>
          <a:p>
            <a:pPr lvl="1" algn="just"/>
            <a:r>
              <a:rPr lang="en-US" sz="2800" b="0" i="0" dirty="0" err="1">
                <a:effectLst/>
                <a:latin typeface="erdana"/>
              </a:rPr>
              <a:t>toUpperCase</a:t>
            </a:r>
            <a:r>
              <a:rPr lang="en-US" sz="2800" b="0" i="0" dirty="0">
                <a:effectLst/>
                <a:latin typeface="erdana"/>
              </a:rPr>
              <a:t>() and </a:t>
            </a:r>
            <a:r>
              <a:rPr lang="en-US" sz="2800" b="0" i="0" dirty="0" err="1">
                <a:effectLst/>
                <a:latin typeface="erdana"/>
              </a:rPr>
              <a:t>toLowerCase</a:t>
            </a:r>
            <a:r>
              <a:rPr lang="en-US" sz="2800" b="0" i="0" dirty="0">
                <a:effectLst/>
                <a:latin typeface="erdana"/>
              </a:rPr>
              <a:t>()</a:t>
            </a:r>
          </a:p>
          <a:p>
            <a:pPr lvl="1" algn="just"/>
            <a:r>
              <a:rPr lang="en-US" sz="2800" b="0" i="0" dirty="0">
                <a:effectLst/>
                <a:latin typeface="erdana"/>
              </a:rPr>
              <a:t>trim()</a:t>
            </a:r>
          </a:p>
          <a:p>
            <a:pPr lvl="1" algn="just"/>
            <a:r>
              <a:rPr lang="en-US" sz="2800" b="0" i="0" dirty="0" err="1">
                <a:effectLst/>
                <a:latin typeface="erdana"/>
              </a:rPr>
              <a:t>startsWith</a:t>
            </a:r>
            <a:r>
              <a:rPr lang="en-US" sz="2800" b="0" i="0" dirty="0">
                <a:effectLst/>
                <a:latin typeface="erdana"/>
              </a:rPr>
              <a:t>() and </a:t>
            </a:r>
            <a:r>
              <a:rPr lang="en-US" sz="2800" b="0" i="0" dirty="0" err="1">
                <a:effectLst/>
                <a:latin typeface="erdana"/>
              </a:rPr>
              <a:t>endsWith</a:t>
            </a:r>
            <a:r>
              <a:rPr lang="en-US" sz="2800" b="0" i="0" dirty="0">
                <a:effectLst/>
                <a:latin typeface="erdana"/>
              </a:rPr>
              <a:t>()</a:t>
            </a:r>
          </a:p>
          <a:p>
            <a:pPr lvl="1" algn="just"/>
            <a:r>
              <a:rPr lang="en-US" sz="2800" b="0" i="0" dirty="0" err="1">
                <a:effectLst/>
                <a:latin typeface="erdana"/>
              </a:rPr>
              <a:t>charAt</a:t>
            </a:r>
            <a:r>
              <a:rPr lang="en-US" sz="2800" b="0" i="0" dirty="0">
                <a:effectLst/>
                <a:latin typeface="erdana"/>
              </a:rPr>
              <a:t>() </a:t>
            </a:r>
          </a:p>
          <a:p>
            <a:pPr lvl="1" algn="just"/>
            <a:r>
              <a:rPr lang="en-US" sz="2800" b="0" i="0" dirty="0">
                <a:effectLst/>
                <a:latin typeface="erdana"/>
              </a:rPr>
              <a:t>length()</a:t>
            </a:r>
          </a:p>
          <a:p>
            <a:pPr lvl="1" algn="just"/>
            <a:r>
              <a:rPr lang="en-US" sz="2800" b="0" i="0" dirty="0">
                <a:effectLst/>
                <a:latin typeface="erdana"/>
              </a:rPr>
              <a:t>intern() </a:t>
            </a:r>
          </a:p>
          <a:p>
            <a:pPr lvl="1" algn="just"/>
            <a:r>
              <a:rPr lang="en-US" sz="2800" b="0" i="0" dirty="0" err="1">
                <a:effectLst/>
                <a:latin typeface="erdana"/>
              </a:rPr>
              <a:t>valueOf</a:t>
            </a:r>
            <a:r>
              <a:rPr lang="en-US" sz="2800" b="0" i="0" dirty="0">
                <a:effectLst/>
                <a:latin typeface="erdana"/>
              </a:rPr>
              <a:t>()</a:t>
            </a:r>
          </a:p>
          <a:p>
            <a:pPr lvl="1" algn="just"/>
            <a:r>
              <a:rPr lang="en-US" sz="2800" b="0" i="0" dirty="0">
                <a:effectLst/>
                <a:latin typeface="erdana"/>
              </a:rPr>
              <a:t>replace() </a:t>
            </a:r>
          </a:p>
          <a:p>
            <a:pPr algn="just"/>
            <a:endParaRPr lang="en-IN" sz="2400" b="0" i="0" dirty="0">
              <a:solidFill>
                <a:srgbClr val="610B38"/>
              </a:solidFill>
              <a:effectLst/>
              <a:latin typeface="erdana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860" y="0"/>
            <a:ext cx="4965539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390" y="3136739"/>
            <a:ext cx="6285053" cy="4477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/>
            <a:endParaRPr lang="en-US" sz="4400" b="0" i="0" dirty="0">
              <a:solidFill>
                <a:srgbClr val="272C3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3199" y="3917752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966762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19179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2821" y="2334126"/>
            <a:ext cx="13764125" cy="54623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037993" y="5484257"/>
            <a:ext cx="1055441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7219E-D050-2190-57F3-CAC67A0C1A1F}"/>
              </a:ext>
            </a:extLst>
          </p:cNvPr>
          <p:cNvSpPr txBox="1"/>
          <p:nvPr/>
        </p:nvSpPr>
        <p:spPr>
          <a:xfrm>
            <a:off x="3657600" y="3930134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4400" b="0" i="0" dirty="0">
                <a:solidFill>
                  <a:srgbClr val="610B38"/>
                </a:solidFill>
                <a:effectLst/>
                <a:latin typeface="erdana"/>
              </a:rPr>
              <a:t>What is Java </a:t>
            </a:r>
            <a:r>
              <a:rPr lang="en-IN" sz="4400" b="0" i="0" dirty="0" err="1">
                <a:solidFill>
                  <a:srgbClr val="610B38"/>
                </a:solidFill>
                <a:effectLst/>
                <a:latin typeface="erdana"/>
              </a:rPr>
              <a:t>StringBuffer</a:t>
            </a:r>
            <a:r>
              <a:rPr lang="en-IN" sz="4400" b="0" i="0" dirty="0">
                <a:solidFill>
                  <a:srgbClr val="610B38"/>
                </a:solidFill>
                <a:effectLst/>
                <a:latin typeface="erdan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10036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5287-3491-D8F4-F4C6-3B2FBDF0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		                                                                                          Difference between String and </a:t>
            </a:r>
            <a:r>
              <a:rPr lang="en-US" b="0" i="0" dirty="0" err="1">
                <a:solidFill>
                  <a:srgbClr val="610B38"/>
                </a:solidFill>
                <a:effectLst/>
                <a:latin typeface="erdana"/>
              </a:rPr>
              <a:t>StringBuffer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937192-D6EB-5784-7FEE-50E24B7F3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1315" y="2190750"/>
            <a:ext cx="8047770" cy="522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15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19179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2821" y="2334126"/>
            <a:ext cx="13764125" cy="54623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037993" y="5484257"/>
            <a:ext cx="1055441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7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B7219E-D050-2190-57F3-CAC67A0C1A1F}"/>
              </a:ext>
            </a:extLst>
          </p:cNvPr>
          <p:cNvSpPr txBox="1"/>
          <p:nvPr/>
        </p:nvSpPr>
        <p:spPr>
          <a:xfrm>
            <a:off x="3657600" y="3930134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4400" b="0" i="0" dirty="0">
                <a:solidFill>
                  <a:srgbClr val="610B38"/>
                </a:solidFill>
                <a:effectLst/>
                <a:latin typeface="erdana"/>
              </a:rPr>
              <a:t>What is Java StringBuilder?</a:t>
            </a:r>
          </a:p>
        </p:txBody>
      </p:sp>
    </p:spTree>
    <p:extLst>
      <p:ext uri="{BB962C8B-B14F-4D97-AF65-F5344CB8AC3E}">
        <p14:creationId xmlns:p14="http://schemas.microsoft.com/office/powerpoint/2010/main" val="550162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13187-1BD7-C897-7792-53E2AB1B6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E0FF3-B3B5-366C-DF7E-A12A93E21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515" y="702260"/>
            <a:ext cx="8748065" cy="1405998"/>
          </a:xfrm>
        </p:spPr>
        <p:txBody>
          <a:bodyPr/>
          <a:lstStyle/>
          <a:p>
            <a:r>
              <a:rPr lang="en-US" sz="2400" dirty="0"/>
              <a:t>Here </a:t>
            </a:r>
            <a:r>
              <a:rPr lang="en-US" sz="2400" b="1" dirty="0"/>
              <a:t>no new object is created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The same </a:t>
            </a:r>
            <a:r>
              <a:rPr lang="en-US" sz="2400" b="1" dirty="0" err="1"/>
              <a:t>StringBuffer</a:t>
            </a:r>
            <a:r>
              <a:rPr lang="en-US" sz="2400" b="1" dirty="0"/>
              <a:t> object is modified</a:t>
            </a:r>
            <a:r>
              <a:rPr lang="en-US" sz="2400" dirty="0"/>
              <a:t>.</a:t>
            </a:r>
            <a:endParaRPr sz="24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3619BC-4A22-191F-BF38-B08E77E6D4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388" y="2660436"/>
            <a:ext cx="8160493" cy="4358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800" dirty="0"/>
              <a:t>public class </a:t>
            </a:r>
            <a:r>
              <a:rPr lang="en-IN" sz="1800" dirty="0" err="1"/>
              <a:t>StringBufferExample</a:t>
            </a:r>
            <a:r>
              <a:rPr lang="en-IN" sz="1800" dirty="0"/>
              <a:t> {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    public static void main(String[] </a:t>
            </a:r>
            <a:r>
              <a:rPr lang="en-IN" sz="1800" dirty="0" err="1"/>
              <a:t>args</a:t>
            </a:r>
            <a:r>
              <a:rPr lang="en-IN" sz="1800" dirty="0"/>
              <a:t>) {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StringBuffer</a:t>
            </a:r>
            <a:r>
              <a:rPr lang="en-IN" sz="1800" dirty="0"/>
              <a:t> </a:t>
            </a:r>
            <a:r>
              <a:rPr lang="en-IN" sz="1800" dirty="0" err="1"/>
              <a:t>sb</a:t>
            </a:r>
            <a:r>
              <a:rPr lang="en-IN" sz="1800" dirty="0"/>
              <a:t> = new </a:t>
            </a:r>
            <a:r>
              <a:rPr lang="en-IN" sz="1800" dirty="0" err="1"/>
              <a:t>StringBuffer</a:t>
            </a:r>
            <a:r>
              <a:rPr lang="en-IN" sz="1800" dirty="0"/>
              <a:t>("Java");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sb.append</a:t>
            </a:r>
            <a:r>
              <a:rPr lang="en-IN" sz="1800" dirty="0"/>
              <a:t>(" Programming");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System.out.println</a:t>
            </a:r>
            <a:r>
              <a:rPr lang="en-IN" sz="1800" dirty="0"/>
              <a:t>(</a:t>
            </a:r>
            <a:r>
              <a:rPr lang="en-IN" sz="1800" dirty="0" err="1"/>
              <a:t>sb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    }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1152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5287-3491-D8F4-F4C6-3B2FBDF0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		                                                                                                             Difference between </a:t>
            </a:r>
            <a:r>
              <a:rPr lang="en-US" b="0" i="0" dirty="0" err="1">
                <a:solidFill>
                  <a:srgbClr val="610B38"/>
                </a:solidFill>
                <a:effectLst/>
                <a:latin typeface="erdana"/>
              </a:rPr>
              <a:t>StringBuffer</a:t>
            </a:r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 and StringBuilder 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994C9900-1E37-5A02-8AB8-DD860E727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531" y="2581996"/>
            <a:ext cx="6578938" cy="2838596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22D6BC-91A9-4E9E-D531-ADE8A8C71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904" y="2176040"/>
            <a:ext cx="9461805" cy="4073833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0F47175-F1CC-B0EA-7CA6-6EC663A43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75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2277</TotalTime>
  <Words>1109</Words>
  <Application>Microsoft Office PowerPoint</Application>
  <PresentationFormat>Custom</PresentationFormat>
  <Paragraphs>209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Century</vt:lpstr>
      <vt:lpstr>erdana</vt:lpstr>
      <vt:lpstr>inter-bold</vt:lpstr>
      <vt:lpstr>inter-regular</vt:lpstr>
      <vt:lpstr>Nobile</vt:lpstr>
      <vt:lpstr>Roboto</vt:lpstr>
      <vt:lpstr>Verdana</vt:lpstr>
      <vt:lpstr>Office Theme</vt:lpstr>
      <vt:lpstr>PowerPoint Presentation</vt:lpstr>
      <vt:lpstr>PowerPoint Presentation</vt:lpstr>
      <vt:lpstr>WHAT IS STRING IN JAVA?</vt:lpstr>
      <vt:lpstr>HOW TO CREATE STRING OBJECTS IN JAVA?</vt:lpstr>
      <vt:lpstr>PowerPoint Presentation</vt:lpstr>
      <vt:lpstr>WHAT IS STRING CONSTANT POOL (SCP)?</vt:lpstr>
      <vt:lpstr>WHY STRING OBJECTS ARE IMMUTABLE?</vt:lpstr>
      <vt:lpstr>How many objects are created in memory?</vt:lpstr>
      <vt:lpstr>How many objects are created in memory?</vt:lpstr>
      <vt:lpstr>How many objects are created in memory?</vt:lpstr>
      <vt:lpstr>How many objects are created in memory?</vt:lpstr>
      <vt:lpstr>WHY STRING CLASS IS FINAL?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                     Difference between String and StringBuffer </vt:lpstr>
      <vt:lpstr>PowerPoint Presentation</vt:lpstr>
      <vt:lpstr>Here no new object is created. The same StringBuffer object is modified.</vt:lpstr>
      <vt:lpstr>                                                                                                               Difference between StringBuffer and StringBuilder 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Narendra Sahoo</cp:lastModifiedBy>
  <cp:revision>115</cp:revision>
  <dcterms:created xsi:type="dcterms:W3CDTF">2023-11-27T16:13:53Z</dcterms:created>
  <dcterms:modified xsi:type="dcterms:W3CDTF">2026-03-15T17:33:59Z</dcterms:modified>
</cp:coreProperties>
</file>