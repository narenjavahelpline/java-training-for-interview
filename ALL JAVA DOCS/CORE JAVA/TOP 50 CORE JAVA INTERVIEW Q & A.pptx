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06" r:id="rId24"/>
    <p:sldId id="278" r:id="rId25"/>
    <p:sldId id="308" r:id="rId26"/>
    <p:sldId id="309" r:id="rId27"/>
    <p:sldId id="311" r:id="rId28"/>
    <p:sldId id="307" r:id="rId29"/>
    <p:sldId id="279" r:id="rId30"/>
    <p:sldId id="280" r:id="rId31"/>
    <p:sldId id="316" r:id="rId32"/>
    <p:sldId id="312" r:id="rId33"/>
    <p:sldId id="313" r:id="rId34"/>
    <p:sldId id="314" r:id="rId35"/>
    <p:sldId id="315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CE3C8-5152-4258-B8F6-1820F7A45129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FFA17-A688-4869-96EA-18AF61A15C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6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FA17-A688-4869-96EA-18AF61A15C2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07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5522-EDE3-8C89-25E1-76B63F05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F89F9-96FE-B604-AAB2-42F87161E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1B39F-9DE3-16C1-EABD-A791FA642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4DEF2-A7F9-6F07-1B97-B15C0BA10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FA17-A688-4869-96EA-18AF61A15C2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9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F324-BFC8-C708-3D36-39215539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2BC75-606B-4C90-C0DE-D05EAF427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1EB9D-2EE6-8988-666D-B09039408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CC18-943C-AC46-9F90-1448349B7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FA17-A688-4869-96EA-18AF61A15C2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4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F88C-0C34-F3BE-F0F3-F0059003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3D6AA-E73C-061F-9D07-76D97DCEB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759F5-A892-730F-CDB3-3CE9F8157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5B6BB-FB1F-16F7-BE3B-31CF17D41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FA17-A688-4869-96EA-18AF61A15C2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820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8EE3-6D74-F92E-3E06-2F61E270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04020-9A4B-DC8F-B393-FB5565D4F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9B848-C01D-DD0A-ECC4-99A89F187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07F4-2579-C994-65AB-29A90F443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FA17-A688-4869-96EA-18AF61A15C2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57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OOPs principles with real project examples.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Encapsulation</a:t>
            </a:r>
            <a:r>
              <a:rPr lang="en-IN" sz="1400" dirty="0"/>
              <a:t>: Hiding fields using private variables (e.g., User entity fields).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Inheritance</a:t>
            </a:r>
            <a:r>
              <a:rPr lang="en-IN" sz="1400" dirty="0"/>
              <a:t>: Reusing base classes (e.g., </a:t>
            </a:r>
            <a:r>
              <a:rPr lang="en-IN" sz="1400" dirty="0" err="1"/>
              <a:t>BaseEntity</a:t>
            </a:r>
            <a:r>
              <a:rPr lang="en-IN" sz="1400" dirty="0"/>
              <a:t> with audit fields).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Polymorphism</a:t>
            </a:r>
            <a:r>
              <a:rPr lang="en-IN" sz="1400" dirty="0"/>
              <a:t>: Same interface, different </a:t>
            </a:r>
            <a:r>
              <a:rPr lang="en-IN" sz="1400" dirty="0" err="1"/>
              <a:t>behavior</a:t>
            </a:r>
            <a:r>
              <a:rPr lang="en-IN" sz="1400" dirty="0"/>
              <a:t> (e.g., </a:t>
            </a:r>
            <a:r>
              <a:rPr lang="en-IN" sz="1400" dirty="0" err="1"/>
              <a:t>PaymentService</a:t>
            </a:r>
            <a:r>
              <a:rPr lang="en-IN" sz="1400" dirty="0"/>
              <a:t> for Card/UPI).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Abstraction</a:t>
            </a:r>
            <a:r>
              <a:rPr lang="en-IN" sz="1400" dirty="0"/>
              <a:t>: Exposing contracts via interfaces (e.g., </a:t>
            </a:r>
            <a:r>
              <a:rPr lang="en-IN" sz="1400" dirty="0" err="1"/>
              <a:t>NotificationService</a:t>
            </a:r>
            <a:r>
              <a:rPr lang="en-IN" sz="1400" dirty="0"/>
              <a:t>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E</a:t>
            </a:r>
            <a:r>
              <a:rPr lang="en-IN" sz="2400" dirty="0">
                <a:solidFill>
                  <a:srgbClr val="00B050"/>
                </a:solidFill>
              </a:rPr>
              <a:t>at</a:t>
            </a:r>
            <a:r>
              <a:rPr lang="en-IN" dirty="0">
                <a:solidFill>
                  <a:srgbClr val="00B050"/>
                </a:solidFill>
              </a:rPr>
              <a:t> I</a:t>
            </a:r>
            <a:r>
              <a:rPr lang="en-IN" sz="2400" dirty="0">
                <a:solidFill>
                  <a:srgbClr val="00B050"/>
                </a:solidFill>
              </a:rPr>
              <a:t>cecream</a:t>
            </a:r>
            <a:r>
              <a:rPr lang="en-IN" dirty="0">
                <a:solidFill>
                  <a:srgbClr val="00B050"/>
                </a:solidFill>
              </a:rPr>
              <a:t>, P</a:t>
            </a:r>
            <a:r>
              <a:rPr lang="en-IN" sz="2400" dirty="0">
                <a:solidFill>
                  <a:srgbClr val="00B050"/>
                </a:solidFill>
              </a:rPr>
              <a:t>lay</a:t>
            </a:r>
            <a:r>
              <a:rPr lang="en-IN" dirty="0">
                <a:solidFill>
                  <a:srgbClr val="00B050"/>
                </a:solidFill>
              </a:rPr>
              <a:t> A</a:t>
            </a:r>
            <a:r>
              <a:rPr lang="en-IN" sz="2400" dirty="0">
                <a:solidFill>
                  <a:srgbClr val="00B050"/>
                </a:solidFill>
              </a:rPr>
              <a:t>lone</a:t>
            </a:r>
            <a:endParaRPr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abstraction and encapsulation?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1600" dirty="0"/>
          </a:p>
          <a:p>
            <a:r>
              <a:rPr lang="en-US" sz="1600" dirty="0"/>
              <a:t>Abstraction defines what a system does (interface).</a:t>
            </a:r>
          </a:p>
          <a:p>
            <a:r>
              <a:rPr lang="en-US" sz="1600" dirty="0"/>
              <a:t>Encapsulation controls how data is accessed.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sz="1600" dirty="0"/>
              <a:t>Example: Service interface vs private fields.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method overloading and method overriding?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Overloading is compile-time polymorphism (same method, different params).</a:t>
            </a:r>
          </a:p>
          <a:p>
            <a:r>
              <a:rPr lang="en-IN" sz="1600" dirty="0"/>
              <a:t>Overriding is runtime polymorphism (child changes </a:t>
            </a:r>
            <a:r>
              <a:rPr lang="en-IN" sz="1600" dirty="0" err="1"/>
              <a:t>behavior</a:t>
            </a:r>
            <a:r>
              <a:rPr lang="en-IN" sz="1600" dirty="0"/>
              <a:t>).</a:t>
            </a:r>
          </a:p>
          <a:p>
            <a:pPr marL="0" indent="0">
              <a:buNone/>
            </a:pPr>
            <a:r>
              <a:rPr lang="en-IN" sz="1600" dirty="0"/>
              <a:t>Example: Different </a:t>
            </a:r>
            <a:r>
              <a:rPr lang="en-IN" sz="1600" dirty="0" err="1"/>
              <a:t>findUser</a:t>
            </a:r>
            <a:r>
              <a:rPr lang="en-IN" sz="1600" dirty="0"/>
              <a:t>() methods vs overridden </a:t>
            </a:r>
            <a:r>
              <a:rPr lang="en-IN" sz="1600" dirty="0" err="1"/>
              <a:t>processPayment</a:t>
            </a:r>
            <a:r>
              <a:rPr lang="en-IN" sz="1600" dirty="0"/>
              <a:t>().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Can we override a static method? Why or why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No. Static methods belong to the class and are resolved at compile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8535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abstract class and interface after Java 8?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Abstract class</a:t>
            </a:r>
            <a:r>
              <a:rPr lang="en-US" sz="1400" dirty="0"/>
              <a:t> → share common code</a:t>
            </a:r>
            <a:br>
              <a:rPr lang="en-US" sz="1400" dirty="0"/>
            </a:br>
            <a:r>
              <a:rPr lang="en-US" sz="1400" b="1" dirty="0"/>
              <a:t>Interface</a:t>
            </a:r>
            <a:r>
              <a:rPr lang="en-US" sz="1400" dirty="0"/>
              <a:t> → define what a class must do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Abstract Class</a:t>
            </a:r>
            <a:endParaRPr lang="en-US" sz="1400" dirty="0"/>
          </a:p>
          <a:p>
            <a:pPr lvl="1"/>
            <a:r>
              <a:rPr lang="en-US" sz="1400" dirty="0"/>
              <a:t>Can have </a:t>
            </a:r>
            <a:r>
              <a:rPr lang="en-US" sz="1400" b="1" dirty="0"/>
              <a:t>state and constructors</a:t>
            </a:r>
            <a:endParaRPr lang="en-US" sz="1400" dirty="0"/>
          </a:p>
          <a:p>
            <a:pPr lvl="1"/>
            <a:r>
              <a:rPr lang="en-US" sz="1400" dirty="0"/>
              <a:t>Used for </a:t>
            </a:r>
            <a:r>
              <a:rPr lang="en-US" sz="1400" b="1" dirty="0"/>
              <a:t>shared base behavior</a:t>
            </a:r>
            <a:endParaRPr lang="en-US" sz="1400" dirty="0"/>
          </a:p>
          <a:p>
            <a:pPr lvl="1"/>
            <a:r>
              <a:rPr lang="en-US" sz="1400" dirty="0"/>
              <a:t>Supports </a:t>
            </a:r>
            <a:r>
              <a:rPr lang="en-US" sz="1400" b="1" dirty="0"/>
              <a:t>single inheritance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Interface (Java 8+)</a:t>
            </a:r>
            <a:endParaRPr lang="en-US" sz="1400" dirty="0"/>
          </a:p>
          <a:p>
            <a:pPr lvl="1"/>
            <a:r>
              <a:rPr lang="en-US" sz="1400" dirty="0"/>
              <a:t>No state, no constructors</a:t>
            </a:r>
          </a:p>
          <a:p>
            <a:pPr lvl="1"/>
            <a:r>
              <a:rPr lang="en-US" sz="1400" dirty="0"/>
              <a:t>Supports </a:t>
            </a:r>
            <a:r>
              <a:rPr lang="en-US" sz="1400" b="1" dirty="0"/>
              <a:t>default and static methods</a:t>
            </a:r>
            <a:endParaRPr lang="en-US" sz="1400" dirty="0"/>
          </a:p>
          <a:p>
            <a:pPr lvl="1"/>
            <a:r>
              <a:rPr lang="en-US" sz="1400" dirty="0"/>
              <a:t>Used to define </a:t>
            </a:r>
            <a:r>
              <a:rPr lang="en-US" sz="1400" b="1" dirty="0"/>
              <a:t>contracts</a:t>
            </a:r>
            <a:endParaRPr lang="en-US" sz="1400" dirty="0"/>
          </a:p>
          <a:p>
            <a:pPr lvl="1"/>
            <a:r>
              <a:rPr lang="en-US" sz="1400" dirty="0"/>
              <a:t>Supports </a:t>
            </a:r>
            <a:r>
              <a:rPr lang="en-US" sz="1400" b="1" dirty="0"/>
              <a:t>multiple inheritance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Real-world example:</a:t>
            </a:r>
            <a:br>
              <a:rPr lang="en-US" sz="1400" dirty="0"/>
            </a:br>
            <a:r>
              <a:rPr lang="en-US" sz="1400" dirty="0"/>
              <a:t>Abstract class → </a:t>
            </a:r>
            <a:r>
              <a:rPr lang="en-US" sz="1400" dirty="0" err="1"/>
              <a:t>BaseEntity</a:t>
            </a:r>
            <a:br>
              <a:rPr lang="en-US" sz="1400" dirty="0"/>
            </a:br>
            <a:r>
              <a:rPr lang="en-US" sz="1400" dirty="0"/>
              <a:t>Interface → </a:t>
            </a:r>
            <a:r>
              <a:rPr lang="en-US" sz="1400" dirty="0" err="1"/>
              <a:t>PaymentService</a:t>
            </a:r>
            <a:endParaRPr lang="en-US" sz="1400" dirty="0"/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is multiple inheritance not supported in Java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To avoid ambiguity caused by the diamond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role of Object class in Java.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It is the root class and provides equals, </a:t>
            </a:r>
            <a:r>
              <a:rPr sz="1400" dirty="0" err="1"/>
              <a:t>hashCode</a:t>
            </a:r>
            <a:r>
              <a:rPr sz="1400" dirty="0"/>
              <a:t>, </a:t>
            </a:r>
            <a:r>
              <a:rPr sz="1400" dirty="0" err="1"/>
              <a:t>toString</a:t>
            </a:r>
            <a:r>
              <a:rPr sz="1400" dirty="0"/>
              <a:t>, wait, notify.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1800" dirty="0">
                <a:highlight>
                  <a:srgbClr val="FFFF00"/>
                </a:highlight>
              </a:rPr>
              <a:t>Why must equals() and </a:t>
            </a:r>
            <a:r>
              <a:rPr sz="1800" dirty="0" err="1">
                <a:highlight>
                  <a:srgbClr val="FFFF00"/>
                </a:highlight>
              </a:rPr>
              <a:t>hashCode</a:t>
            </a:r>
            <a:r>
              <a:rPr sz="1800" dirty="0">
                <a:highlight>
                  <a:srgbClr val="FFFF00"/>
                </a:highlight>
              </a:rPr>
              <a:t>() be overridden together?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Because hash-based collections depend on both.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HashMap / HashSet first use </a:t>
            </a:r>
            <a:r>
              <a:rPr lang="en-US" sz="1400" b="1" dirty="0" err="1"/>
              <a:t>hashCode</a:t>
            </a:r>
            <a:r>
              <a:rPr lang="en-US" sz="1400" b="1" dirty="0"/>
              <a:t>()</a:t>
            </a:r>
            <a:r>
              <a:rPr lang="en-US" sz="1400" dirty="0"/>
              <a:t> to find the bucket</a:t>
            </a:r>
          </a:p>
          <a:p>
            <a:pPr marL="0" indent="0">
              <a:buNone/>
            </a:pPr>
            <a:r>
              <a:rPr lang="en-US" sz="1400" dirty="0"/>
              <a:t>Then use </a:t>
            </a:r>
            <a:r>
              <a:rPr lang="en-US" sz="1400" b="1" dirty="0"/>
              <a:t>equals()</a:t>
            </a:r>
            <a:r>
              <a:rPr lang="en-US" sz="1400" dirty="0"/>
              <a:t> to find the exact object</a:t>
            </a:r>
          </a:p>
          <a:p>
            <a:pPr marL="0" indent="0">
              <a:buNone/>
            </a:pPr>
            <a:r>
              <a:rPr lang="en-US" sz="1400" dirty="0"/>
              <a:t>If only one is overridden, collections may behave incorrectly</a:t>
            </a:r>
          </a:p>
          <a:p>
            <a:pPr marL="0" indent="0">
              <a:buNone/>
            </a:pPr>
            <a:r>
              <a:rPr lang="en-US" sz="1400" b="1" dirty="0"/>
              <a:t>Simple example:</a:t>
            </a:r>
            <a:br>
              <a:rPr lang="en-US" sz="1400" dirty="0"/>
            </a:br>
            <a:r>
              <a:rPr lang="en-US" sz="1400" dirty="0"/>
              <a:t>Two objects look equal using equals(), but different </a:t>
            </a:r>
            <a:r>
              <a:rPr lang="en-US" sz="1400" dirty="0" err="1"/>
              <a:t>hashCode</a:t>
            </a:r>
            <a:r>
              <a:rPr lang="en-US" sz="1400" dirty="0"/>
              <a:t>() → both get stored as duplicates.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What is the use of functional interface?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400" dirty="0"/>
              <a:t>It enables lambda expressions and functional programming.</a:t>
            </a:r>
            <a:endParaRPr lang="en-IN" sz="1400" dirty="0"/>
          </a:p>
          <a:p>
            <a:pPr marL="0" indent="0">
              <a:buNone/>
            </a:pPr>
            <a:r>
              <a:rPr lang="en-US" sz="1400" dirty="0"/>
              <a:t>A </a:t>
            </a:r>
            <a:r>
              <a:rPr lang="en-US" sz="1400" b="1" dirty="0"/>
              <a:t>functional interface</a:t>
            </a:r>
            <a:r>
              <a:rPr lang="en-US" sz="1400" dirty="0"/>
              <a:t> has </a:t>
            </a:r>
            <a:r>
              <a:rPr lang="en-US" sz="1400" b="1" dirty="0"/>
              <a:t>only one abstract method</a:t>
            </a:r>
            <a:r>
              <a:rPr lang="en-US" sz="1400" dirty="0"/>
              <a:t>, so Java knows </a:t>
            </a:r>
            <a:r>
              <a:rPr lang="en-US" sz="1400" b="1" dirty="0"/>
              <a:t>what to execute</a:t>
            </a:r>
            <a:r>
              <a:rPr lang="en-US" sz="1400" dirty="0"/>
              <a:t> when you use a lambda.</a:t>
            </a:r>
          </a:p>
          <a:p>
            <a:pPr marL="0" indent="0">
              <a:buNone/>
            </a:pPr>
            <a:r>
              <a:rPr lang="en-US" sz="1400" b="1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@FunctionalInterface</a:t>
            </a:r>
          </a:p>
          <a:p>
            <a:pPr marL="0" indent="0">
              <a:buNone/>
            </a:pPr>
            <a:r>
              <a:rPr lang="en-US" sz="1400" dirty="0"/>
              <a:t>interface Calculator {</a:t>
            </a:r>
          </a:p>
          <a:p>
            <a:pPr marL="0" indent="0">
              <a:buNone/>
            </a:pPr>
            <a:r>
              <a:rPr lang="en-US" sz="1400" dirty="0"/>
              <a:t>    int add(int a, int b);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Using </a:t>
            </a:r>
            <a:r>
              <a:rPr lang="en-US" sz="1400" b="1" dirty="0"/>
              <a:t>lambda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dirty="0"/>
              <a:t>Calculator c = (a, b) -&gt; a + b;</a:t>
            </a:r>
          </a:p>
          <a:p>
            <a:pPr marL="0" indent="0">
              <a:buNone/>
            </a:pPr>
            <a:r>
              <a:rPr lang="en-US" sz="1400" dirty="0" err="1"/>
              <a:t>System.out.println</a:t>
            </a:r>
            <a:r>
              <a:rPr lang="en-US" sz="1400" dirty="0"/>
              <a:t>(</a:t>
            </a:r>
            <a:r>
              <a:rPr lang="en-US" sz="1400" dirty="0" err="1"/>
              <a:t>c.add</a:t>
            </a:r>
            <a:r>
              <a:rPr lang="en-US" sz="1400" dirty="0"/>
              <a:t>(2, 3)); // 5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Why it’s useful (in simple words)</a:t>
            </a:r>
          </a:p>
          <a:p>
            <a:pPr marL="0" indent="0">
              <a:buNone/>
            </a:pPr>
            <a:r>
              <a:rPr lang="en-US" sz="1400" dirty="0"/>
              <a:t>Lets you write </a:t>
            </a:r>
            <a:r>
              <a:rPr lang="en-US" sz="1400" b="1" dirty="0"/>
              <a:t>less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Avoids creating full classes</a:t>
            </a:r>
          </a:p>
          <a:p>
            <a:pPr marL="0" indent="0">
              <a:buNone/>
            </a:pPr>
            <a:r>
              <a:rPr lang="en-US" sz="1400" dirty="0"/>
              <a:t>Makes code </a:t>
            </a:r>
            <a:r>
              <a:rPr lang="en-US" sz="1400" b="1" dirty="0"/>
              <a:t>clean and readable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One-line explanation: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to resolve diamond problem in java in interface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400" dirty="0"/>
              <a:t>Use </a:t>
            </a:r>
            <a:r>
              <a:rPr sz="1400" dirty="0" err="1"/>
              <a:t>InterfaceName.super.method</a:t>
            </a:r>
            <a:r>
              <a:rPr sz="1400" dirty="0"/>
              <a:t>() to resolve ambiguity.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JDK, JRE, and JVM?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JVM runs code, JRE provides runtime, JDK provides development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What happens internally when you create an object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Class loading → memory allocation → constructor execution → reference returned.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static keyword in terms of memory allocation.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Static variables and methods are stored once in memory at the class level.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Memory is allocated </a:t>
            </a:r>
            <a:r>
              <a:rPr lang="en-US" sz="1400" b="1" dirty="0"/>
              <a:t>when the class is loaded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Stored in the </a:t>
            </a:r>
            <a:r>
              <a:rPr lang="en-US" sz="1400" b="1" dirty="0"/>
              <a:t>Method Area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Shared by all objects</a:t>
            </a:r>
            <a:r>
              <a:rPr lang="en-US" sz="1400" dirty="0"/>
              <a:t> of the class</a:t>
            </a:r>
          </a:p>
          <a:p>
            <a:pPr marL="0" indent="0">
              <a:buNone/>
            </a:pPr>
            <a:r>
              <a:rPr lang="en-US" sz="1400" b="1" dirty="0"/>
              <a:t>Simple example: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class Counter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    static int count = 0;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1400" dirty="0"/>
              <a:t>No matter how many objects you create, </a:t>
            </a:r>
            <a:r>
              <a:rPr lang="en-US" sz="1400" b="1" dirty="0"/>
              <a:t>only one count exists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is static not allowed on local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static is class-level, local variables are method-level—so they can’t be used together.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local variables live only inside a method, but static belongs to the class.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Local variables are created on the </a:t>
            </a:r>
            <a:r>
              <a:rPr lang="en-US" sz="1400" b="1" dirty="0"/>
              <a:t>stack</a:t>
            </a:r>
            <a:r>
              <a:rPr lang="en-US" sz="1400" dirty="0"/>
              <a:t> when a method runs</a:t>
            </a:r>
          </a:p>
          <a:p>
            <a:pPr marL="0" indent="0">
              <a:buNone/>
            </a:pPr>
            <a:r>
              <a:rPr lang="en-US" sz="1400" dirty="0"/>
              <a:t>static variables are created at the </a:t>
            </a:r>
            <a:r>
              <a:rPr lang="en-US" sz="1400" b="1" dirty="0"/>
              <a:t>class level</a:t>
            </a:r>
            <a:r>
              <a:rPr lang="en-US" sz="1400" dirty="0"/>
              <a:t> and live longer</a:t>
            </a:r>
          </a:p>
          <a:p>
            <a:pPr marL="0" indent="0">
              <a:buNone/>
            </a:pPr>
            <a:r>
              <a:rPr lang="en-US" sz="1400" dirty="0"/>
              <a:t>Their lifecycles don’t match, so Java doesn’t allow it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example:</a:t>
            </a:r>
            <a:br>
              <a:rPr lang="en-US" sz="1400" dirty="0"/>
            </a:br>
            <a:r>
              <a:rPr lang="en-US" sz="1400" dirty="0"/>
              <a:t>A local variable exists only while the method runs,</a:t>
            </a:r>
            <a:br>
              <a:rPr lang="en-US" sz="1400" dirty="0"/>
            </a:br>
            <a:r>
              <a:rPr lang="en-US" sz="1400" dirty="0"/>
              <a:t>but static should exist even without calling the method.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50728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class loading process at a high level.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Class loading happens in three simple steps: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Loading</a:t>
            </a:r>
            <a:r>
              <a:rPr lang="en-US" sz="1400" dirty="0"/>
              <a:t> – JVM loads the .class file into memory</a:t>
            </a:r>
          </a:p>
          <a:p>
            <a:pPr marL="0" indent="0">
              <a:buNone/>
            </a:pPr>
            <a:r>
              <a:rPr lang="en-US" sz="1400" b="1" dirty="0"/>
              <a:t>Linking</a:t>
            </a:r>
            <a:r>
              <a:rPr lang="en-US" sz="1400" dirty="0"/>
              <a:t> – Verifies code, allocates memory, resolves references</a:t>
            </a:r>
          </a:p>
          <a:p>
            <a:pPr marL="0" indent="0">
              <a:buNone/>
            </a:pPr>
            <a:r>
              <a:rPr lang="en-US" sz="1400" b="1" dirty="0"/>
              <a:t>Initialization</a:t>
            </a:r>
            <a:r>
              <a:rPr lang="en-US" sz="1400" dirty="0"/>
              <a:t> – Executes static variables and static blocks</a:t>
            </a:r>
          </a:p>
          <a:p>
            <a:pPr marL="0" indent="0">
              <a:buNone/>
            </a:pPr>
            <a:r>
              <a:rPr lang="en-US" sz="1400" b="1" dirty="0"/>
              <a:t>Simple view:</a:t>
            </a:r>
            <a:br>
              <a:rPr lang="en-US" sz="1400" dirty="0"/>
            </a:br>
            <a:r>
              <a:rPr lang="en-US" sz="1400" dirty="0"/>
              <a:t>Load the class → prepare it → run static code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is String immutable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String is immutable for security, thread safety, and performance.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Security</a:t>
            </a:r>
            <a:r>
              <a:rPr lang="en-US" sz="1400" dirty="0"/>
              <a:t> – prevents changes to sensitive data (URLs, passwords)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Thread-safe</a:t>
            </a:r>
            <a:r>
              <a:rPr lang="en-US" sz="1400" dirty="0"/>
              <a:t> – same String can be shared across threads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Performance</a:t>
            </a:r>
            <a:r>
              <a:rPr lang="en-US" sz="1400" dirty="0"/>
              <a:t> – enables String Pool caching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StringBuilder and </a:t>
            </a:r>
            <a:r>
              <a:rPr sz="2800" dirty="0" err="1">
                <a:highlight>
                  <a:srgbClr val="FFFF00"/>
                </a:highlight>
              </a:rPr>
              <a:t>StringBuffer</a:t>
            </a:r>
            <a:r>
              <a:rPr sz="2800" dirty="0">
                <a:highlight>
                  <a:srgbClr val="FFFF00"/>
                </a:highlight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StringBuilder</a:t>
            </a:r>
            <a:r>
              <a:rPr lang="en-US" sz="1500" dirty="0"/>
              <a:t> → faster, </a:t>
            </a:r>
            <a:r>
              <a:rPr lang="en-US" sz="1500" b="1" dirty="0"/>
              <a:t>not thread-safe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 err="1"/>
              <a:t>StringBuffer</a:t>
            </a:r>
            <a:r>
              <a:rPr lang="en-US" sz="1500" dirty="0"/>
              <a:t> → slower, </a:t>
            </a:r>
            <a:r>
              <a:rPr lang="en-US" sz="1500" b="1" dirty="0"/>
              <a:t>thread-safe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When to use: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Use </a:t>
            </a:r>
            <a:r>
              <a:rPr lang="en-US" sz="1500" b="1" dirty="0"/>
              <a:t>StringBuilder</a:t>
            </a:r>
            <a:r>
              <a:rPr lang="en-US" sz="1500" dirty="0"/>
              <a:t> in single-threaded code (most cases)</a:t>
            </a:r>
          </a:p>
          <a:p>
            <a:pPr marL="0" indent="0">
              <a:buNone/>
            </a:pPr>
            <a:r>
              <a:rPr lang="en-US" sz="1500" dirty="0"/>
              <a:t>Use </a:t>
            </a:r>
            <a:r>
              <a:rPr lang="en-US" sz="1500" b="1" dirty="0" err="1"/>
              <a:t>StringBuffer</a:t>
            </a:r>
            <a:r>
              <a:rPr lang="en-US" sz="1500" dirty="0"/>
              <a:t> when multiple threads modify the same string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Checked vs unchecked exceptions – when do you use each?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Checked exceptions handle recoverable errors; unchecked exceptions indicate code bugs.</a:t>
            </a:r>
          </a:p>
          <a:p>
            <a:pPr marL="0" indent="0">
              <a:buNone/>
            </a:pPr>
            <a:r>
              <a:rPr lang="en-US" sz="1400" b="1" dirty="0"/>
              <a:t>Checked exceptions</a:t>
            </a:r>
            <a:r>
              <a:rPr lang="en-US" sz="1400" dirty="0"/>
              <a:t> → use when the error </a:t>
            </a:r>
            <a:r>
              <a:rPr lang="en-US" sz="1400" b="1" dirty="0"/>
              <a:t>can be recovered</a:t>
            </a:r>
            <a:endParaRPr lang="en-US" sz="1400" dirty="0"/>
          </a:p>
          <a:p>
            <a:pPr marL="457200" lvl="1" indent="0">
              <a:buNone/>
            </a:pPr>
            <a:r>
              <a:rPr lang="en-US" sz="1400" dirty="0"/>
              <a:t>Example: </a:t>
            </a:r>
            <a:r>
              <a:rPr lang="en-US" sz="1400" dirty="0" err="1"/>
              <a:t>IOException</a:t>
            </a:r>
            <a:r>
              <a:rPr lang="en-US" sz="1400" dirty="0"/>
              <a:t>, </a:t>
            </a:r>
            <a:r>
              <a:rPr lang="en-US" sz="1400" dirty="0" err="1"/>
              <a:t>SQLException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Unchecked exceptions</a:t>
            </a:r>
            <a:r>
              <a:rPr lang="en-US" sz="1400" dirty="0"/>
              <a:t> → use for </a:t>
            </a:r>
            <a:r>
              <a:rPr lang="en-US" sz="1400" b="1" dirty="0"/>
              <a:t>programming mistakes</a:t>
            </a:r>
            <a:endParaRPr lang="en-US" sz="1400" dirty="0"/>
          </a:p>
          <a:p>
            <a:pPr marL="457200" lvl="1" indent="0">
              <a:buNone/>
            </a:pPr>
            <a:r>
              <a:rPr lang="en-US" sz="1400" dirty="0"/>
              <a:t>Example: </a:t>
            </a:r>
            <a:r>
              <a:rPr lang="en-US" sz="1400" dirty="0" err="1"/>
              <a:t>NullPointerException</a:t>
            </a:r>
            <a:r>
              <a:rPr lang="en-US" sz="1400" dirty="0"/>
              <a:t>, </a:t>
            </a:r>
            <a:r>
              <a:rPr lang="en-US" sz="1400" dirty="0" err="1"/>
              <a:t>IllegalArgumentException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Real-world use: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Checked → file not found, DB down</a:t>
            </a:r>
          </a:p>
          <a:p>
            <a:pPr marL="0" indent="0">
              <a:buNone/>
            </a:pPr>
            <a:r>
              <a:rPr lang="en-US" sz="1400" dirty="0"/>
              <a:t>Unchecked → null access, wrong input logic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1800" dirty="0">
                <a:highlight>
                  <a:srgbClr val="FFFF00"/>
                </a:highlight>
              </a:rPr>
              <a:t>What is try-with-resources and why is it preferred?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400" dirty="0"/>
              <a:t>It automatically closes resources and avoids leaks.</a:t>
            </a:r>
            <a:endParaRPr lang="en-IN" sz="1400" dirty="0"/>
          </a:p>
          <a:p>
            <a:pPr marL="0" indent="0">
              <a:buNone/>
            </a:pPr>
            <a:r>
              <a:rPr lang="en-US" sz="1400" b="1" dirty="0"/>
              <a:t>Try-with-resources</a:t>
            </a:r>
            <a:r>
              <a:rPr lang="en-US" sz="1400" dirty="0"/>
              <a:t> automatically </a:t>
            </a:r>
            <a:r>
              <a:rPr lang="en-US" sz="1400" b="1" dirty="0"/>
              <a:t>closes resources</a:t>
            </a:r>
            <a:r>
              <a:rPr lang="en-US" sz="1400" dirty="0"/>
              <a:t> after use.</a:t>
            </a:r>
          </a:p>
          <a:p>
            <a:pPr marL="0" indent="0">
              <a:buNone/>
            </a:pPr>
            <a:r>
              <a:rPr lang="en-US" sz="1400" dirty="0"/>
              <a:t>No need for finally block</a:t>
            </a:r>
          </a:p>
          <a:p>
            <a:pPr marL="0" indent="0">
              <a:buNone/>
            </a:pPr>
            <a:r>
              <a:rPr lang="en-US" sz="1400" dirty="0"/>
              <a:t>Prevents </a:t>
            </a:r>
            <a:r>
              <a:rPr lang="en-US" sz="1400" b="1" dirty="0"/>
              <a:t>resource leaks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Cleaner and safer code</a:t>
            </a:r>
          </a:p>
          <a:p>
            <a:pPr marL="0" indent="0">
              <a:buNone/>
            </a:pPr>
            <a:r>
              <a:rPr lang="en-US" sz="1400" b="1" dirty="0"/>
              <a:t>Simple example:</a:t>
            </a:r>
          </a:p>
          <a:p>
            <a:pPr marL="0" indent="0">
              <a:buNone/>
            </a:pPr>
            <a:r>
              <a:rPr lang="en-US" sz="1400" dirty="0"/>
              <a:t>try (</a:t>
            </a:r>
            <a:r>
              <a:rPr lang="en-US" sz="1400" dirty="0" err="1"/>
              <a:t>FileReader</a:t>
            </a:r>
            <a:r>
              <a:rPr lang="en-US" sz="1400" dirty="0"/>
              <a:t> </a:t>
            </a:r>
            <a:r>
              <a:rPr lang="en-US" sz="1400" dirty="0" err="1"/>
              <a:t>fr</a:t>
            </a:r>
            <a:r>
              <a:rPr lang="en-US" sz="1400" dirty="0"/>
              <a:t> = new </a:t>
            </a:r>
            <a:r>
              <a:rPr lang="en-US" sz="1400" dirty="0" err="1"/>
              <a:t>FileReader</a:t>
            </a:r>
            <a:r>
              <a:rPr lang="en-US" sz="1400" dirty="0"/>
              <a:t>("data.txt")) {</a:t>
            </a:r>
          </a:p>
          <a:p>
            <a:pPr marL="0" indent="0">
              <a:buNone/>
            </a:pPr>
            <a:r>
              <a:rPr lang="en-US" sz="1400" dirty="0"/>
              <a:t>    // use file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The file is </a:t>
            </a:r>
            <a:r>
              <a:rPr lang="en-US" sz="1400" b="1" dirty="0"/>
              <a:t>closed automatically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IN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you design custom exceptions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Custom exceptions make error handling clear and meaningful in business logic.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steps:</a:t>
            </a:r>
          </a:p>
          <a:p>
            <a:pPr marL="0" indent="0">
              <a:buNone/>
            </a:pPr>
            <a:r>
              <a:rPr lang="en-US" sz="1400" dirty="0"/>
              <a:t>Create a class that </a:t>
            </a:r>
            <a:r>
              <a:rPr lang="en-US" sz="1400" b="1" dirty="0"/>
              <a:t>extends Exception</a:t>
            </a:r>
            <a:r>
              <a:rPr lang="en-US" sz="1400" dirty="0"/>
              <a:t> or </a:t>
            </a:r>
            <a:r>
              <a:rPr lang="en-US" sz="1400" b="1" dirty="0" err="1"/>
              <a:t>RuntimeException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Give it a </a:t>
            </a:r>
            <a:r>
              <a:rPr lang="en-US" sz="1400" b="1" dirty="0"/>
              <a:t>meaningful name and message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class </a:t>
            </a:r>
            <a:r>
              <a:rPr lang="en-US" sz="1400" dirty="0" err="1"/>
              <a:t>UserNotFoundException</a:t>
            </a:r>
            <a:r>
              <a:rPr lang="en-US" sz="1400" dirty="0"/>
              <a:t> extends </a:t>
            </a:r>
            <a:r>
              <a:rPr lang="en-US" sz="1400" dirty="0" err="1"/>
              <a:t>RuntimeException</a:t>
            </a:r>
            <a:r>
              <a:rPr lang="en-US" sz="1400" dirty="0"/>
              <a:t> {</a:t>
            </a:r>
          </a:p>
          <a:p>
            <a:pPr marL="0" indent="0">
              <a:buNone/>
            </a:pPr>
            <a:r>
              <a:rPr lang="en-US" sz="1400" dirty="0"/>
              <a:t>    public </a:t>
            </a:r>
            <a:r>
              <a:rPr lang="en-US" sz="1400" dirty="0" err="1"/>
              <a:t>UserNotFoundException</a:t>
            </a:r>
            <a:r>
              <a:rPr lang="en-US" sz="1400" dirty="0"/>
              <a:t>(String msg) {</a:t>
            </a:r>
          </a:p>
          <a:p>
            <a:pPr marL="0" indent="0">
              <a:buNone/>
            </a:pPr>
            <a:r>
              <a:rPr lang="en-US" sz="1400" dirty="0"/>
              <a:t>        super(msg);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b="1" dirty="0"/>
              <a:t>Real-world use:</a:t>
            </a:r>
            <a:br>
              <a:rPr lang="en-US" sz="1400" dirty="0"/>
            </a:br>
            <a:r>
              <a:rPr lang="en-US" sz="1400" dirty="0"/>
              <a:t>Thrown when a requested user is not found in DB.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List, Set, and 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List stores duplicates, Set stores unique values, Map stores key–value pairs.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b="1" dirty="0"/>
              <a:t>List vs Set vs Map :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List</a:t>
            </a:r>
            <a:r>
              <a:rPr lang="en-IN" sz="1400" dirty="0"/>
              <a:t> → allows </a:t>
            </a:r>
            <a:r>
              <a:rPr lang="en-IN" sz="1400" b="1" dirty="0"/>
              <a:t>duplicates</a:t>
            </a:r>
            <a:r>
              <a:rPr lang="en-IN" sz="1400" dirty="0"/>
              <a:t>, maintains order</a:t>
            </a:r>
          </a:p>
          <a:p>
            <a:pPr marL="457200" lvl="1" indent="0">
              <a:buNone/>
            </a:pPr>
            <a:r>
              <a:rPr lang="en-IN" sz="1400" dirty="0"/>
              <a:t>Example: List of orders</a:t>
            </a:r>
          </a:p>
          <a:p>
            <a:pPr marL="0" indent="0">
              <a:buNone/>
            </a:pPr>
            <a:r>
              <a:rPr lang="en-IN" sz="1400" b="1" dirty="0"/>
              <a:t>Set</a:t>
            </a:r>
            <a:r>
              <a:rPr lang="en-IN" sz="1400" dirty="0"/>
              <a:t> → </a:t>
            </a:r>
            <a:r>
              <a:rPr lang="en-IN" sz="1400" b="1" dirty="0"/>
              <a:t>no duplicates</a:t>
            </a:r>
            <a:r>
              <a:rPr lang="en-IN" sz="1400" dirty="0"/>
              <a:t>, order not guaranteed</a:t>
            </a:r>
          </a:p>
          <a:p>
            <a:pPr marL="457200" lvl="1" indent="0">
              <a:buNone/>
            </a:pPr>
            <a:r>
              <a:rPr lang="en-IN" sz="1400" dirty="0"/>
              <a:t>Example: Unique user IDs</a:t>
            </a:r>
          </a:p>
          <a:p>
            <a:pPr marL="0" indent="0">
              <a:buNone/>
            </a:pPr>
            <a:r>
              <a:rPr lang="en-IN" sz="1400" b="1" dirty="0"/>
              <a:t>Map</a:t>
            </a:r>
            <a:r>
              <a:rPr lang="en-IN" sz="1400" dirty="0"/>
              <a:t> → </a:t>
            </a:r>
            <a:r>
              <a:rPr lang="en-IN" sz="1400" b="1" dirty="0"/>
              <a:t>key–value pairs</a:t>
            </a:r>
            <a:r>
              <a:rPr lang="en-IN" sz="1400" dirty="0"/>
              <a:t>, keys are unique</a:t>
            </a:r>
          </a:p>
          <a:p>
            <a:pPr marL="457200" lvl="1" indent="0">
              <a:buNone/>
            </a:pPr>
            <a:r>
              <a:rPr lang="en-IN" sz="1400" dirty="0"/>
              <a:t>Example: User ID → User details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HashMap.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HashMap internally uses an array of buckets</a:t>
            </a:r>
          </a:p>
          <a:p>
            <a:pPr marL="0" indent="0">
              <a:buNone/>
            </a:pPr>
            <a:r>
              <a:rPr lang="en-US" sz="1400" dirty="0"/>
              <a:t>Each bucket can store:</a:t>
            </a:r>
          </a:p>
          <a:p>
            <a:pPr marL="0" indent="0">
              <a:buNone/>
            </a:pPr>
            <a:r>
              <a:rPr lang="en-US" sz="1400" dirty="0"/>
              <a:t>One entry</a:t>
            </a:r>
          </a:p>
          <a:p>
            <a:pPr marL="0" indent="0">
              <a:buNone/>
            </a:pPr>
            <a:r>
              <a:rPr lang="en-US" sz="1400" dirty="0"/>
              <a:t>A Linked List</a:t>
            </a:r>
          </a:p>
          <a:p>
            <a:pPr marL="0" indent="0">
              <a:buNone/>
            </a:pPr>
            <a:r>
              <a:rPr lang="en-US" sz="1400" dirty="0"/>
              <a:t>A Red-Black Tree (Java 8+)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7F846-CC1E-24F2-F3A3-9556ACA35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894" y="2085654"/>
            <a:ext cx="6613106" cy="44059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D8AF8-71D0-5A07-5128-0CAD9FE83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097" y="2999679"/>
            <a:ext cx="462776" cy="317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F37333-3683-F83A-17B3-B932E8158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045" y="2925177"/>
            <a:ext cx="562052" cy="466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E6CA5-8D30-96BB-951E-FF9B7C4B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945C-3A41-3B85-82B9-DFE00C20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HashMap.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0425-F2F1-4C2B-A1E9-8C45A5588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err="1"/>
              <a:t>map.put</a:t>
            </a:r>
            <a:r>
              <a:rPr lang="en-US" sz="1400" b="1" dirty="0"/>
              <a:t>("</a:t>
            </a:r>
            <a:r>
              <a:rPr lang="en-US" sz="1400" b="1" dirty="0" err="1"/>
              <a:t>Dillip</a:t>
            </a:r>
            <a:r>
              <a:rPr lang="en-US" sz="1400" b="1" dirty="0"/>
              <a:t>", 101);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HashMap calls:</a:t>
            </a:r>
          </a:p>
          <a:p>
            <a:pPr marL="0" indent="0">
              <a:buNone/>
            </a:pPr>
            <a:r>
              <a:rPr lang="en-US" sz="1400" b="1" dirty="0"/>
              <a:t>"</a:t>
            </a:r>
            <a:r>
              <a:rPr lang="en-US" sz="1400" b="1" dirty="0" err="1"/>
              <a:t>Dillip</a:t>
            </a:r>
            <a:r>
              <a:rPr lang="en-US" sz="1400" b="1" dirty="0"/>
              <a:t>".</a:t>
            </a:r>
            <a:r>
              <a:rPr lang="en-US" sz="1400" b="1" dirty="0" err="1"/>
              <a:t>hashCode</a:t>
            </a:r>
            <a:r>
              <a:rPr lang="en-US" sz="1400" b="1" dirty="0"/>
              <a:t>()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Hash value is generated</a:t>
            </a:r>
          </a:p>
          <a:p>
            <a:pPr marL="0" indent="0">
              <a:buNone/>
            </a:pPr>
            <a:r>
              <a:rPr lang="en-US" sz="1400" dirty="0"/>
              <a:t>Hash decides which bucket to use</a:t>
            </a:r>
          </a:p>
          <a:p>
            <a:pPr marL="0" indent="0">
              <a:buNone/>
            </a:pPr>
            <a:r>
              <a:rPr lang="en-US" sz="1400" dirty="0"/>
              <a:t>Hash is converted into an array index</a:t>
            </a:r>
          </a:p>
          <a:p>
            <a:pPr marL="0" indent="0">
              <a:buNone/>
            </a:pPr>
            <a:r>
              <a:rPr lang="en-US" sz="1400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Bucket[13] → </a:t>
            </a:r>
            <a:r>
              <a:rPr lang="en-US" sz="1400" dirty="0" err="1"/>
              <a:t>Dillip</a:t>
            </a:r>
            <a:r>
              <a:rPr lang="en-US" sz="1400" dirty="0"/>
              <a:t> = 101</a:t>
            </a:r>
          </a:p>
          <a:p>
            <a:pPr marL="0" indent="0">
              <a:buNone/>
            </a:pPr>
            <a:r>
              <a:rPr lang="en-US" sz="1400" dirty="0"/>
              <a:t>If bucket is empty → store directly</a:t>
            </a:r>
            <a:br>
              <a:rPr lang="en-US" sz="1400" dirty="0"/>
            </a:br>
            <a:r>
              <a:rPr lang="en-US" sz="1400" dirty="0"/>
              <a:t>If bucket already has data → collision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 err="1"/>
              <a:t>map.put</a:t>
            </a:r>
            <a:r>
              <a:rPr lang="en-US" sz="1400" b="1" dirty="0"/>
              <a:t>("Kiran", 201);</a:t>
            </a:r>
            <a:br>
              <a:rPr lang="en-US" sz="1400" b="1" dirty="0"/>
            </a:br>
            <a:r>
              <a:rPr lang="en-US" sz="1400" b="1" dirty="0"/>
              <a:t>If </a:t>
            </a:r>
            <a:r>
              <a:rPr lang="en-IN" sz="1400" b="1" dirty="0"/>
              <a:t>b</a:t>
            </a:r>
            <a:r>
              <a:rPr lang="en-IN" sz="1400" dirty="0"/>
              <a:t>oth produce same Bucket[13]</a:t>
            </a:r>
            <a:br>
              <a:rPr lang="en-IN" sz="1400" dirty="0"/>
            </a:br>
            <a:r>
              <a:rPr lang="en-IN" sz="1400" dirty="0"/>
              <a:t>Collision happens </a:t>
            </a:r>
          </a:p>
          <a:p>
            <a:pPr marL="0" indent="0">
              <a:buNone/>
            </a:pPr>
            <a:r>
              <a:rPr lang="en-IN" sz="1400" dirty="0"/>
              <a:t>Bucket[13] → </a:t>
            </a:r>
            <a:r>
              <a:rPr lang="en-IN" sz="1400" dirty="0" err="1"/>
              <a:t>Dillip</a:t>
            </a:r>
            <a:r>
              <a:rPr lang="en-IN" sz="1400" dirty="0"/>
              <a:t> → Kiran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1D5A83-9916-4A66-7612-BB61A46C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447" y="2397922"/>
            <a:ext cx="429076" cy="356512"/>
          </a:xfrm>
          <a:prstGeom prst="rect">
            <a:avLst/>
          </a:prstGeom>
        </p:spPr>
      </p:pic>
      <p:pic>
        <p:nvPicPr>
          <p:cNvPr id="5122" name="Picture 2" descr="Java HashMap - Understanding equals() and hashCode() methods">
            <a:extLst>
              <a:ext uri="{FF2B5EF4-FFF2-40B4-BE49-F238E27FC236}">
                <a16:creationId xmlns:a16="http://schemas.microsoft.com/office/drawing/2014/main" id="{D7796C2F-7F5D-6196-B9A0-1D2434A08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895" y="1805348"/>
            <a:ext cx="5279105" cy="41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53B1B8-A791-4246-D1F8-5B1E98B1A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447" y="1607976"/>
            <a:ext cx="2806661" cy="540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ACC8F4-2A8E-89E6-8C49-C1D69A90C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895" y="5626557"/>
            <a:ext cx="1047896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74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the internal working of HashMap.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16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("</a:t>
            </a:r>
            <a:r>
              <a:rPr lang="en-IN" sz="1400" dirty="0" err="1"/>
              <a:t>Dillip</a:t>
            </a:r>
            <a:r>
              <a:rPr lang="en-IN" sz="1400" dirty="0"/>
              <a:t>", 101);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("Kiran", 102);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("Naren", 103);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("Ravi", 104);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("Hari", 105);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(“Madhu", 106);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(“Manu", 107);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(“Manoja", 107);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(“Varun", 108);</a:t>
            </a:r>
          </a:p>
          <a:p>
            <a:pPr marL="0" indent="0">
              <a:buNone/>
            </a:pPr>
            <a:r>
              <a:rPr lang="en-IN" sz="1400" dirty="0" err="1"/>
              <a:t>map.put</a:t>
            </a:r>
            <a:r>
              <a:rPr lang="en-IN" sz="1400" dirty="0"/>
              <a:t>(“Jiban", 109);</a:t>
            </a:r>
          </a:p>
          <a:p>
            <a:pPr marL="0" indent="0">
              <a:buNone/>
            </a:pPr>
            <a:r>
              <a:rPr lang="en-IN" sz="1400" dirty="0"/>
              <a:t>-----</a:t>
            </a:r>
          </a:p>
          <a:p>
            <a:pPr marL="0" indent="0">
              <a:buNone/>
            </a:pPr>
            <a:r>
              <a:rPr lang="en-IN" sz="1400" dirty="0"/>
              <a:t>-----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Bucket[13] → </a:t>
            </a:r>
            <a:r>
              <a:rPr lang="en-IN" sz="1400" dirty="0" err="1"/>
              <a:t>Dillip</a:t>
            </a:r>
            <a:r>
              <a:rPr lang="en-IN" sz="1400" dirty="0"/>
              <a:t> </a:t>
            </a:r>
            <a:r>
              <a:rPr lang="en-IN" sz="1400" dirty="0">
                <a:sym typeface="Wingdings" panose="05000000000000000000" pitchFamily="2" charset="2"/>
              </a:rPr>
              <a:t> </a:t>
            </a:r>
            <a:r>
              <a:rPr lang="en-IN" sz="1400" dirty="0"/>
              <a:t>Kiran → Naren → Ravi … If entries &gt; 8 </a:t>
            </a:r>
            <a:r>
              <a:rPr lang="en-IN" sz="1400" dirty="0">
                <a:sym typeface="Wingdings" panose="05000000000000000000" pitchFamily="2" charset="2"/>
              </a:rPr>
              <a:t> </a:t>
            </a:r>
            <a:r>
              <a:rPr lang="en-IN" sz="1400" dirty="0"/>
              <a:t>and map size ≥ 64</a:t>
            </a:r>
          </a:p>
          <a:p>
            <a:pPr marL="0" indent="0">
              <a:buNone/>
            </a:pPr>
            <a:endParaRPr sz="1400" dirty="0"/>
          </a:p>
        </p:txBody>
      </p:sp>
      <p:pic>
        <p:nvPicPr>
          <p:cNvPr id="6146" name="Picture 2" descr="A Deep Dive into Java 8 HashMap. The main data structures in ...">
            <a:extLst>
              <a:ext uri="{FF2B5EF4-FFF2-40B4-BE49-F238E27FC236}">
                <a16:creationId xmlns:a16="http://schemas.microsoft.com/office/drawing/2014/main" id="{F07D0F81-27C2-9FE2-A98C-1E1D0F90D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220" y="1417638"/>
            <a:ext cx="4886325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8633-835F-83AB-4063-1532F0AE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5570-D2F6-7334-2398-91E911B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the internal working of HashMap.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9D0-0E1E-DAF3-1D61-66A25995A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1612"/>
            <a:ext cx="8229600" cy="53863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How get("Ravi") Works? If Ravi is in Linked List </a:t>
            </a:r>
          </a:p>
          <a:p>
            <a:pPr marL="0" indent="0">
              <a:buNone/>
            </a:pPr>
            <a:r>
              <a:rPr lang="en-IN" sz="1400" dirty="0" err="1"/>
              <a:t>map.get</a:t>
            </a:r>
            <a:r>
              <a:rPr lang="en-IN" sz="1400" dirty="0"/>
              <a:t>("Ravi");</a:t>
            </a:r>
          </a:p>
          <a:p>
            <a:pPr marL="0" indent="0">
              <a:buNone/>
            </a:pPr>
            <a:r>
              <a:rPr lang="en-IN" sz="1400" dirty="0"/>
              <a:t>Steps:</a:t>
            </a:r>
          </a:p>
          <a:p>
            <a:pPr marL="0" indent="0">
              <a:buNone/>
            </a:pPr>
            <a:r>
              <a:rPr lang="en-IN" sz="1400" dirty="0"/>
              <a:t>"Ravi".</a:t>
            </a:r>
            <a:r>
              <a:rPr lang="en-IN" sz="1400" dirty="0" err="1"/>
              <a:t>hashCode</a:t>
            </a:r>
            <a:r>
              <a:rPr lang="en-IN" sz="1400" dirty="0"/>
              <a:t>() calculated</a:t>
            </a:r>
          </a:p>
          <a:p>
            <a:pPr marL="0" indent="0">
              <a:buNone/>
            </a:pPr>
            <a:r>
              <a:rPr lang="en-IN" sz="1400" dirty="0"/>
              <a:t>Bucket index found</a:t>
            </a:r>
          </a:p>
          <a:p>
            <a:pPr marL="0" indent="0">
              <a:buNone/>
            </a:pPr>
            <a:r>
              <a:rPr lang="en-IN" sz="1400" dirty="0"/>
              <a:t>Inside bucket:</a:t>
            </a:r>
          </a:p>
          <a:p>
            <a:pPr marL="457200" lvl="1" indent="0">
              <a:buNone/>
            </a:pPr>
            <a:r>
              <a:rPr lang="en-IN" sz="1400" dirty="0"/>
              <a:t>Compare using equals()</a:t>
            </a:r>
          </a:p>
          <a:p>
            <a:pPr marL="0" indent="0">
              <a:buNone/>
            </a:pPr>
            <a:r>
              <a:rPr lang="en-IN" sz="1400" dirty="0"/>
              <a:t>Value returned → 104</a:t>
            </a:r>
            <a:br>
              <a:rPr lang="en-IN" sz="1400" dirty="0"/>
            </a:br>
            <a:br>
              <a:rPr lang="en-IN" sz="1400" dirty="0"/>
            </a:br>
            <a:r>
              <a:rPr lang="en-US" sz="1400" b="1" dirty="0"/>
              <a:t>If Ravi is in a Red-Black Tree, then what happens?</a:t>
            </a:r>
          </a:p>
          <a:p>
            <a:pPr marL="0" indent="0">
              <a:buNone/>
            </a:pPr>
            <a:r>
              <a:rPr lang="en-US" sz="1400" b="1" dirty="0"/>
              <a:t>Case 1️⃣ get("Ravi")</a:t>
            </a:r>
          </a:p>
          <a:p>
            <a:pPr marL="0" indent="0">
              <a:buNone/>
            </a:pPr>
            <a:r>
              <a:rPr lang="en-US" sz="1400" dirty="0"/>
              <a:t>HashMap calculates "Ravi".</a:t>
            </a:r>
            <a:r>
              <a:rPr lang="en-US" sz="1400" dirty="0" err="1"/>
              <a:t>hashCode</a:t>
            </a:r>
            <a:r>
              <a:rPr lang="en-US" sz="1400" dirty="0"/>
              <a:t>()</a:t>
            </a:r>
          </a:p>
          <a:p>
            <a:pPr marL="0" indent="0">
              <a:buNone/>
            </a:pPr>
            <a:r>
              <a:rPr lang="en-US" sz="1400" dirty="0"/>
              <a:t>Finds the </a:t>
            </a:r>
            <a:r>
              <a:rPr lang="en-US" sz="1400" b="1" dirty="0"/>
              <a:t>bucket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the bucket is a </a:t>
            </a:r>
            <a:r>
              <a:rPr lang="en-US" sz="1400" b="1" dirty="0"/>
              <a:t>Red-Black Tree</a:t>
            </a:r>
            <a:r>
              <a:rPr lang="en-US" sz="1400" dirty="0"/>
              <a:t>:</a:t>
            </a:r>
          </a:p>
          <a:p>
            <a:pPr marL="457200" lvl="1" indent="0">
              <a:buNone/>
            </a:pPr>
            <a:r>
              <a:rPr lang="en-US" sz="1400" dirty="0"/>
              <a:t>It </a:t>
            </a:r>
            <a:r>
              <a:rPr lang="en-US" sz="1400" b="1" dirty="0"/>
              <a:t>searches like a tree</a:t>
            </a:r>
            <a:r>
              <a:rPr lang="en-US" sz="1400" dirty="0"/>
              <a:t>, not a list</a:t>
            </a:r>
          </a:p>
          <a:p>
            <a:pPr marL="457200" lvl="1" indent="0">
              <a:buNone/>
            </a:pPr>
            <a:r>
              <a:rPr lang="en-US" sz="1400" dirty="0"/>
              <a:t>Lookup time becomes </a:t>
            </a:r>
            <a:r>
              <a:rPr lang="en-US" sz="1400" b="1" dirty="0"/>
              <a:t>O(log n)</a:t>
            </a:r>
            <a:r>
              <a:rPr lang="en-US" sz="1400" dirty="0"/>
              <a:t> (fast)</a:t>
            </a:r>
          </a:p>
          <a:p>
            <a:pPr marL="0" indent="0">
              <a:buNone/>
            </a:pPr>
            <a:r>
              <a:rPr lang="en-US" sz="1400" dirty="0"/>
              <a:t>Uses </a:t>
            </a:r>
            <a:r>
              <a:rPr lang="en-US" sz="1400" b="1" dirty="0"/>
              <a:t>equals()</a:t>
            </a:r>
            <a:r>
              <a:rPr lang="en-US" sz="1400" dirty="0"/>
              <a:t> to confirm the key</a:t>
            </a:r>
          </a:p>
          <a:p>
            <a:pPr marL="0" indent="0">
              <a:buNone/>
            </a:pPr>
            <a:r>
              <a:rPr lang="en-US" sz="1400" dirty="0"/>
              <a:t>Returns Ravi’s value</a:t>
            </a:r>
          </a:p>
          <a:p>
            <a:pPr marL="0" indent="0">
              <a:buNone/>
            </a:pPr>
            <a:r>
              <a:rPr lang="en-US" sz="1400" dirty="0"/>
              <a:t>✅ Faster than linked list search</a:t>
            </a:r>
          </a:p>
          <a:p>
            <a:pPr marL="0" indent="0">
              <a:buNone/>
            </a:pPr>
            <a:r>
              <a:rPr lang="en-US" sz="1400" dirty="0"/>
              <a:t>Linked List search → O(n)</a:t>
            </a:r>
          </a:p>
          <a:p>
            <a:pPr marL="0" indent="0">
              <a:buNone/>
            </a:pPr>
            <a:r>
              <a:rPr lang="en-US" sz="1400" dirty="0"/>
              <a:t>Tree search → O(log n) (faster)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sz="1400" dirty="0"/>
          </a:p>
        </p:txBody>
      </p:sp>
      <p:pic>
        <p:nvPicPr>
          <p:cNvPr id="6146" name="Picture 2" descr="A Deep Dive into Java 8 HashMap. The main data structures in ...">
            <a:extLst>
              <a:ext uri="{FF2B5EF4-FFF2-40B4-BE49-F238E27FC236}">
                <a16:creationId xmlns:a16="http://schemas.microsoft.com/office/drawing/2014/main" id="{1ED1E6E7-1664-4F16-B890-33204BFDE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1614736"/>
            <a:ext cx="4886325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629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EE4E-405A-711D-A8E6-4A3A11A4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B43F-093D-0DC0-5C87-613A09F0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the internal working of HashMap.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284AD-ED8C-79DA-ED05-BE169B985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16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Case 2️⃣ put("Ravi", </a:t>
            </a:r>
            <a:r>
              <a:rPr lang="en-US" sz="1400" b="1" dirty="0" err="1"/>
              <a:t>newValue</a:t>
            </a:r>
            <a:r>
              <a:rPr lang="en-US" sz="1400" b="1" dirty="0"/>
              <a:t>)</a:t>
            </a:r>
          </a:p>
          <a:p>
            <a:pPr marL="0" indent="0">
              <a:buNone/>
            </a:pPr>
            <a:r>
              <a:rPr lang="en-US" sz="1400" dirty="0"/>
              <a:t>HashMap finds the same bucket</a:t>
            </a:r>
          </a:p>
          <a:p>
            <a:pPr marL="0" indent="0">
              <a:buNone/>
            </a:pPr>
            <a:r>
              <a:rPr lang="en-US" sz="1400" dirty="0"/>
              <a:t>Tree is searched to find "Ravi"</a:t>
            </a:r>
          </a:p>
          <a:p>
            <a:pPr marL="0" indent="0">
              <a:buNone/>
            </a:pPr>
            <a:r>
              <a:rPr lang="en-US" sz="1400" dirty="0"/>
              <a:t>Since key already exists:</a:t>
            </a:r>
          </a:p>
          <a:p>
            <a:pPr marL="457200" lvl="1" indent="0">
              <a:buNone/>
            </a:pPr>
            <a:r>
              <a:rPr lang="en-US" sz="1400" b="1" dirty="0"/>
              <a:t>Value is replaced</a:t>
            </a:r>
            <a:endParaRPr lang="en-US" sz="1400" dirty="0"/>
          </a:p>
          <a:p>
            <a:pPr marL="457200" lvl="1" indent="0">
              <a:buNone/>
            </a:pPr>
            <a:r>
              <a:rPr lang="en-US" sz="1400" dirty="0"/>
              <a:t>Tree structure remains the same</a:t>
            </a:r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Case 3️⃣ New key added (e.g., "Hari")</a:t>
            </a:r>
          </a:p>
          <a:p>
            <a:pPr marL="0" indent="0">
              <a:buNone/>
            </a:pPr>
            <a:r>
              <a:rPr lang="en-US" sz="1400" dirty="0"/>
              <a:t>"Hari" hashes to the same bucket</a:t>
            </a:r>
          </a:p>
          <a:p>
            <a:pPr marL="0" indent="0">
              <a:buNone/>
            </a:pPr>
            <a:r>
              <a:rPr lang="en-US" sz="1400" dirty="0"/>
              <a:t>Entry is inserted into the </a:t>
            </a:r>
            <a:r>
              <a:rPr lang="en-US" sz="1400" b="1" dirty="0"/>
              <a:t>Red-Black Tree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Tree automatically </a:t>
            </a:r>
            <a:r>
              <a:rPr lang="en-US" sz="1400" b="1" dirty="0"/>
              <a:t>rebalances itself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HashMap performance stays efficient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457200" lvl="1" indent="0">
              <a:buNone/>
            </a:pPr>
            <a:endParaRPr lang="en-US" sz="1400" dirty="0"/>
          </a:p>
        </p:txBody>
      </p:sp>
      <p:pic>
        <p:nvPicPr>
          <p:cNvPr id="6146" name="Picture 2" descr="A Deep Dive into Java 8 HashMap. The main data structures in ...">
            <a:extLst>
              <a:ext uri="{FF2B5EF4-FFF2-40B4-BE49-F238E27FC236}">
                <a16:creationId xmlns:a16="http://schemas.microsoft.com/office/drawing/2014/main" id="{D68B48CE-1800-3FF3-5F46-7673428A1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1614736"/>
            <a:ext cx="4886325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451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536B-2952-C1DA-20B0-99D88ACE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D378-039C-F679-3BDF-CA5B1580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the internal working of HashMap.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CBB2-F182-DD12-452C-E214791C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16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1" dirty="0"/>
              <a:t>Resizing &amp; Rehashing:</a:t>
            </a:r>
          </a:p>
          <a:p>
            <a:pPr marL="0" indent="0">
              <a:buNone/>
            </a:pPr>
            <a:r>
              <a:rPr lang="en-US" sz="1400" dirty="0"/>
              <a:t>Defaults:</a:t>
            </a:r>
          </a:p>
          <a:p>
            <a:pPr marL="0" indent="0">
              <a:buNone/>
            </a:pPr>
            <a:r>
              <a:rPr lang="en-US" sz="1400" dirty="0"/>
              <a:t>Initial capacity = </a:t>
            </a:r>
            <a:r>
              <a:rPr lang="en-US" sz="1400" b="1" dirty="0"/>
              <a:t>16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Load factor = </a:t>
            </a:r>
            <a:r>
              <a:rPr lang="en-US" sz="1400" b="1" dirty="0"/>
              <a:t>0.75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When size exceeds threshold:</a:t>
            </a:r>
          </a:p>
          <a:p>
            <a:pPr marL="0" indent="0">
              <a:buNone/>
            </a:pPr>
            <a:r>
              <a:rPr lang="en-US" sz="1400" dirty="0"/>
              <a:t>Capacity </a:t>
            </a:r>
            <a:r>
              <a:rPr lang="en-US" sz="1400" b="1" dirty="0"/>
              <a:t>doubles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All entries (</a:t>
            </a:r>
            <a:r>
              <a:rPr lang="en-US" sz="1400" b="1" dirty="0" err="1"/>
              <a:t>Dillip</a:t>
            </a:r>
            <a:r>
              <a:rPr lang="en-US" sz="1400" b="1" dirty="0"/>
              <a:t>, Kiran, Naren, Ravi, Hari</a:t>
            </a:r>
            <a:r>
              <a:rPr lang="en-US" sz="1400" dirty="0"/>
              <a:t>) </a:t>
            </a:r>
          </a:p>
          <a:p>
            <a:pPr marL="0" indent="0">
              <a:buNone/>
            </a:pPr>
            <a:r>
              <a:rPr lang="en-US" sz="1400" dirty="0"/>
              <a:t>are </a:t>
            </a:r>
            <a:r>
              <a:rPr lang="en-US" sz="1400" b="1" dirty="0"/>
              <a:t>rehashed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New bucket positions assigned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457200" lvl="1" indent="0">
              <a:buNone/>
            </a:pPr>
            <a:endParaRPr lang="en-US" sz="1400" dirty="0"/>
          </a:p>
        </p:txBody>
      </p:sp>
      <p:pic>
        <p:nvPicPr>
          <p:cNvPr id="8196" name="Picture 4" descr="Rehashing in Data Structure - Naukri Code 360">
            <a:extLst>
              <a:ext uri="{FF2B5EF4-FFF2-40B4-BE49-F238E27FC236}">
                <a16:creationId xmlns:a16="http://schemas.microsoft.com/office/drawing/2014/main" id="{1782BF55-6DD7-8B86-3051-69BEA681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569" y="1471612"/>
            <a:ext cx="5239282" cy="400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596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B5DB-22A7-6E61-8DC1-C723BB6B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FF50-7CFD-DD1C-95A0-2BCD3BD1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Difference between HashMap and </a:t>
            </a:r>
            <a:r>
              <a:rPr sz="2800" dirty="0" err="1">
                <a:highlight>
                  <a:srgbClr val="FFFF00"/>
                </a:highlight>
              </a:rPr>
              <a:t>ConcurrentHashMap</a:t>
            </a:r>
            <a:r>
              <a:rPr sz="2800" dirty="0">
                <a:highlight>
                  <a:srgbClr val="FFFF00"/>
                </a:highlight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9C81B-2737-C6F3-FEBC-2D890FE9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HashMap is fast but not safe for multiple threads; </a:t>
            </a:r>
            <a:r>
              <a:rPr lang="en-US" sz="1400" dirty="0" err="1"/>
              <a:t>ConcurrentHashMap</a:t>
            </a:r>
            <a:r>
              <a:rPr lang="en-US" sz="1400" dirty="0"/>
              <a:t> is safe and works well with many threads.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126186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does HashMap allow one null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Because HashMap treats the null key in a special way.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HashMap stores the </a:t>
            </a:r>
            <a:r>
              <a:rPr lang="en-US" sz="1400" b="1" dirty="0"/>
              <a:t>null key in a fixed bucket (bucket 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there is only </a:t>
            </a:r>
            <a:r>
              <a:rPr lang="en-US" sz="1400" b="1" dirty="0"/>
              <a:t>one such special bucket</a:t>
            </a:r>
            <a:r>
              <a:rPr lang="en-US" sz="1400" dirty="0"/>
              <a:t>, only </a:t>
            </a:r>
            <a:r>
              <a:rPr lang="en-US" sz="1400" b="1" dirty="0"/>
              <a:t>one null key</a:t>
            </a:r>
            <a:r>
              <a:rPr lang="en-US" sz="1400" dirty="0"/>
              <a:t> is allowed</a:t>
            </a:r>
          </a:p>
          <a:p>
            <a:pPr marL="0" indent="0">
              <a:buNone/>
            </a:pPr>
            <a:r>
              <a:rPr lang="en-US" sz="1400" dirty="0"/>
              <a:t>Multiple null keys would create confusion, so HashMap restricts it to one</a:t>
            </a:r>
          </a:p>
          <a:p>
            <a:pPr marL="0" indent="0">
              <a:buNone/>
            </a:pPr>
            <a:r>
              <a:rPr lang="en-US" sz="1400" b="1" dirty="0"/>
              <a:t>example: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map.put</a:t>
            </a:r>
            <a:r>
              <a:rPr lang="en-US" sz="1400" dirty="0"/>
              <a:t>(null, "Apple");</a:t>
            </a:r>
          </a:p>
          <a:p>
            <a:pPr marL="0" indent="0">
              <a:buNone/>
            </a:pPr>
            <a:r>
              <a:rPr lang="en-US" sz="1400" dirty="0" err="1"/>
              <a:t>map.put</a:t>
            </a:r>
            <a:r>
              <a:rPr lang="en-US" sz="1400" dirty="0"/>
              <a:t>(null, "Mango"); // replaces Apple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It uses a Red-Black Tree to maintain sorting.</a:t>
            </a:r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r>
              <a:rPr lang="en-US" sz="1600" dirty="0" err="1"/>
              <a:t>TreeSet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↓</a:t>
            </a:r>
          </a:p>
          <a:p>
            <a:pPr marL="0" indent="0">
              <a:buNone/>
            </a:pPr>
            <a:r>
              <a:rPr lang="en-US" sz="1600" dirty="0" err="1"/>
              <a:t>TreeMap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↓</a:t>
            </a:r>
          </a:p>
          <a:p>
            <a:pPr marL="0" indent="0">
              <a:buNone/>
            </a:pPr>
            <a:r>
              <a:rPr lang="en-US" sz="1600" dirty="0"/>
              <a:t>Red-Black Tree (Self balancing BST)</a:t>
            </a:r>
          </a:p>
          <a:p>
            <a:endParaRPr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ABBA-AA7D-5179-570F-40E5AF06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0C66-E1A3-0621-4A2F-FCAE92F6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CB7F0-6F00-95AB-93F1-6FEFE9475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It uses a Red-Black Tree to maintain sorting.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TreeSet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↓</a:t>
            </a:r>
          </a:p>
          <a:p>
            <a:pPr marL="0" indent="0">
              <a:buNone/>
            </a:pPr>
            <a:r>
              <a:rPr lang="en-US" sz="1600" dirty="0" err="1"/>
              <a:t>TreeMap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↓</a:t>
            </a:r>
          </a:p>
          <a:p>
            <a:pPr marL="0" indent="0">
              <a:buNone/>
            </a:pPr>
            <a:r>
              <a:rPr lang="en-US" sz="1600" dirty="0"/>
              <a:t>Red-Black Tree (Self balancing BST)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When you do:</a:t>
            </a:r>
          </a:p>
          <a:p>
            <a:pPr marL="0" indent="0">
              <a:buNone/>
            </a:pPr>
            <a:r>
              <a:rPr lang="en-IN" sz="1600" b="1" dirty="0" err="1"/>
              <a:t>TreeSet</a:t>
            </a:r>
            <a:r>
              <a:rPr lang="en-IN" sz="1600" b="1" dirty="0"/>
              <a:t>&lt;Integer&gt; </a:t>
            </a:r>
            <a:r>
              <a:rPr lang="en-IN" sz="1600" b="1" dirty="0" err="1"/>
              <a:t>mySet</a:t>
            </a:r>
            <a:r>
              <a:rPr lang="en-IN" sz="1600" b="1" dirty="0"/>
              <a:t> = new </a:t>
            </a:r>
            <a:r>
              <a:rPr lang="en-IN" sz="1600" b="1" dirty="0" err="1"/>
              <a:t>TreeSet</a:t>
            </a:r>
            <a:r>
              <a:rPr lang="en-IN" sz="1600" b="1" dirty="0"/>
              <a:t>&lt;&gt;();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dirty="0"/>
              <a:t>Java actually creates:</a:t>
            </a:r>
          </a:p>
          <a:p>
            <a:pPr marL="0" indent="0">
              <a:buNone/>
            </a:pPr>
            <a:r>
              <a:rPr lang="en-IN" sz="1600" b="1" dirty="0" err="1"/>
              <a:t>TreeMap</a:t>
            </a:r>
            <a:r>
              <a:rPr lang="en-IN" sz="1600" b="1" dirty="0"/>
              <a:t>&lt;Integer, Object&gt; map;</a:t>
            </a:r>
          </a:p>
          <a:p>
            <a:pPr marL="0" indent="0">
              <a:buNone/>
            </a:pPr>
            <a:r>
              <a:rPr lang="en-IN" sz="1600" dirty="0"/>
              <a:t>Each element you add to </a:t>
            </a:r>
            <a:r>
              <a:rPr lang="en-IN" sz="1600" dirty="0" err="1"/>
              <a:t>TreeSet</a:t>
            </a:r>
            <a:r>
              <a:rPr lang="en-IN" sz="1600" dirty="0"/>
              <a:t> becomes a </a:t>
            </a:r>
            <a:r>
              <a:rPr lang="en-IN" sz="1600" b="1" dirty="0"/>
              <a:t>key in </a:t>
            </a:r>
            <a:r>
              <a:rPr lang="en-IN" sz="1600" b="1" dirty="0" err="1"/>
              <a:t>TreeMap</a:t>
            </a:r>
            <a:br>
              <a:rPr lang="en-IN" sz="1600" dirty="0"/>
            </a:br>
            <a:r>
              <a:rPr lang="en-IN" sz="1600" dirty="0"/>
              <a:t>(with a dummy value like </a:t>
            </a:r>
            <a:r>
              <a:rPr lang="en-IN" sz="1600" b="1" dirty="0"/>
              <a:t>PRESENT</a:t>
            </a:r>
            <a:r>
              <a:rPr lang="en-IN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75295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08FF-95F3-3E0A-602D-1F155DBF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2B8E-56CE-522D-7210-EA799B3E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75FFA-D207-D450-DF51-264DE3E2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When you add elements:</a:t>
            </a:r>
          </a:p>
          <a:p>
            <a:pPr marL="0" indent="0">
              <a:buNone/>
            </a:pPr>
            <a:r>
              <a:rPr lang="en-IN" sz="1600" dirty="0"/>
              <a:t>Example:</a:t>
            </a:r>
          </a:p>
          <a:p>
            <a:pPr marL="400050" lvl="1" indent="0">
              <a:buNone/>
            </a:pPr>
            <a:r>
              <a:rPr lang="en-IN" sz="1400" dirty="0" err="1"/>
              <a:t>TreeSet</a:t>
            </a:r>
            <a:r>
              <a:rPr lang="en-IN" sz="1400" dirty="0"/>
              <a:t>&lt;Integer&gt; set = new </a:t>
            </a:r>
            <a:r>
              <a:rPr lang="en-IN" sz="1400" dirty="0" err="1"/>
              <a:t>TreeSet</a:t>
            </a:r>
            <a:r>
              <a:rPr lang="en-IN" sz="1400" dirty="0"/>
              <a:t>&lt;&gt;();</a:t>
            </a:r>
          </a:p>
          <a:p>
            <a:pPr marL="400050" lvl="1" indent="0">
              <a:buNone/>
            </a:pPr>
            <a:r>
              <a:rPr lang="en-IN" sz="1400" dirty="0" err="1"/>
              <a:t>set.add</a:t>
            </a:r>
            <a:r>
              <a:rPr lang="en-IN" sz="1400" dirty="0"/>
              <a:t>(40);</a:t>
            </a:r>
          </a:p>
          <a:p>
            <a:pPr marL="400050" lvl="1" indent="0">
              <a:buNone/>
            </a:pPr>
            <a:r>
              <a:rPr lang="en-IN" sz="1400" dirty="0" err="1"/>
              <a:t>set.add</a:t>
            </a:r>
            <a:r>
              <a:rPr lang="en-IN" sz="1400" dirty="0"/>
              <a:t>(20);</a:t>
            </a:r>
          </a:p>
          <a:p>
            <a:pPr marL="400050" lvl="1" indent="0">
              <a:buNone/>
            </a:pPr>
            <a:r>
              <a:rPr lang="en-IN" sz="1400" dirty="0" err="1"/>
              <a:t>set.add</a:t>
            </a:r>
            <a:r>
              <a:rPr lang="en-IN" sz="1400" dirty="0"/>
              <a:t>(60);</a:t>
            </a:r>
          </a:p>
          <a:p>
            <a:pPr marL="400050" lvl="1" indent="0">
              <a:buNone/>
            </a:pPr>
            <a:r>
              <a:rPr lang="en-IN" sz="1400" dirty="0" err="1"/>
              <a:t>set.add</a:t>
            </a:r>
            <a:r>
              <a:rPr lang="en-IN" sz="1400" dirty="0"/>
              <a:t>(10);</a:t>
            </a:r>
          </a:p>
          <a:p>
            <a:pPr marL="400050" lvl="1" indent="0">
              <a:buNone/>
            </a:pPr>
            <a:r>
              <a:rPr lang="en-IN" sz="1400" dirty="0" err="1"/>
              <a:t>set.add</a:t>
            </a:r>
            <a:r>
              <a:rPr lang="en-IN" sz="1400" dirty="0"/>
              <a:t>(30);</a:t>
            </a:r>
          </a:p>
          <a:p>
            <a:pPr marL="0" indent="0"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68616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D88F-1D59-179B-4112-4A423B80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603F-D182-D018-5E0E-B38855F0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55CD-4431-5DF2-D88E-7C0207AE0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Step 1 — First element becomes root</a:t>
            </a:r>
          </a:p>
          <a:p>
            <a:pPr marL="0" indent="0">
              <a:buNone/>
            </a:pPr>
            <a:r>
              <a:rPr lang="en-US" sz="1600" dirty="0"/>
              <a:t>40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Step 2 — Smaller goes left, bigger goes right</a:t>
            </a:r>
          </a:p>
          <a:p>
            <a:pPr marL="0" indent="0">
              <a:buNone/>
            </a:pPr>
            <a:r>
              <a:rPr lang="en-US" sz="1600" dirty="0"/>
              <a:t>    40</a:t>
            </a:r>
          </a:p>
          <a:p>
            <a:pPr marL="0" indent="0">
              <a:buNone/>
            </a:pPr>
            <a:r>
              <a:rPr lang="en-US" sz="1600" dirty="0"/>
              <a:t>   /  \</a:t>
            </a:r>
          </a:p>
          <a:p>
            <a:pPr marL="0" indent="0">
              <a:buNone/>
            </a:pPr>
            <a:r>
              <a:rPr lang="en-US" sz="1600" dirty="0"/>
              <a:t> 20   60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Step 3 — Keep inserting in sorted position</a:t>
            </a:r>
          </a:p>
          <a:p>
            <a:pPr marL="0" indent="0">
              <a:buNone/>
            </a:pPr>
            <a:r>
              <a:rPr lang="en-US" sz="1600" dirty="0"/>
              <a:t>        40</a:t>
            </a:r>
          </a:p>
          <a:p>
            <a:pPr marL="0" indent="0">
              <a:buNone/>
            </a:pPr>
            <a:r>
              <a:rPr lang="en-US" sz="1600" dirty="0"/>
              <a:t>       /  \</a:t>
            </a:r>
          </a:p>
          <a:p>
            <a:pPr marL="0" indent="0">
              <a:buNone/>
            </a:pPr>
            <a:r>
              <a:rPr lang="en-US" sz="1600" dirty="0"/>
              <a:t>     20    60</a:t>
            </a:r>
          </a:p>
          <a:p>
            <a:pPr marL="0" indent="0">
              <a:buNone/>
            </a:pPr>
            <a:r>
              <a:rPr lang="en-US" sz="1600" dirty="0"/>
              <a:t>    /  \</a:t>
            </a:r>
          </a:p>
          <a:p>
            <a:pPr marL="0" indent="0">
              <a:buNone/>
            </a:pPr>
            <a:r>
              <a:rPr lang="en-US" sz="1600" dirty="0"/>
              <a:t>  10   30</a:t>
            </a:r>
          </a:p>
          <a:p>
            <a:pPr marL="0" indent="0">
              <a:buNone/>
            </a:pPr>
            <a:endParaRPr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CAB30-0BF9-630B-CC8C-AAD8950662B2}"/>
              </a:ext>
            </a:extLst>
          </p:cNvPr>
          <p:cNvSpPr txBox="1"/>
          <p:nvPr/>
        </p:nvSpPr>
        <p:spPr>
          <a:xfrm>
            <a:off x="4572000" y="465486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Tree automatically balances itself</a:t>
            </a:r>
          </a:p>
          <a:p>
            <a:pPr>
              <a:buNone/>
            </a:pPr>
            <a:r>
              <a:rPr lang="en-US" dirty="0"/>
              <a:t>(so, it never becomes long or slow)</a:t>
            </a:r>
          </a:p>
          <a:p>
            <a:pPr>
              <a:buNone/>
            </a:pPr>
            <a:r>
              <a:rPr lang="en-US" dirty="0"/>
              <a:t>This is why operations are </a:t>
            </a:r>
            <a:r>
              <a:rPr lang="en-US" b="1" dirty="0"/>
              <a:t>O(log n)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CE527-B7F6-F316-AA8D-967852C03976}"/>
              </a:ext>
            </a:extLst>
          </p:cNvPr>
          <p:cNvSpPr txBox="1"/>
          <p:nvPr/>
        </p:nvSpPr>
        <p:spPr>
          <a:xfrm>
            <a:off x="4572000" y="160020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 indent="0">
              <a:buNone/>
            </a:pPr>
            <a:r>
              <a:rPr lang="en-IN" sz="1800" dirty="0" err="1"/>
              <a:t>TreeSet</a:t>
            </a:r>
            <a:r>
              <a:rPr lang="en-IN" sz="1800" dirty="0"/>
              <a:t>&lt;Integer&gt; set = new </a:t>
            </a:r>
            <a:r>
              <a:rPr lang="en-IN" sz="1800" dirty="0" err="1"/>
              <a:t>TreeSet</a:t>
            </a:r>
            <a:r>
              <a:rPr lang="en-IN" sz="1800" dirty="0"/>
              <a:t>&lt;&gt;();</a:t>
            </a:r>
          </a:p>
          <a:p>
            <a:pPr marL="400050" lvl="1" indent="0">
              <a:buNone/>
            </a:pPr>
            <a:r>
              <a:rPr lang="en-IN" sz="1800" dirty="0" err="1"/>
              <a:t>set.add</a:t>
            </a:r>
            <a:r>
              <a:rPr lang="en-IN" sz="1800" dirty="0"/>
              <a:t>(40);</a:t>
            </a:r>
          </a:p>
          <a:p>
            <a:pPr marL="400050" lvl="1" indent="0">
              <a:buNone/>
            </a:pPr>
            <a:r>
              <a:rPr lang="en-IN" sz="1800" dirty="0" err="1"/>
              <a:t>set.add</a:t>
            </a:r>
            <a:r>
              <a:rPr lang="en-IN" sz="1800" dirty="0"/>
              <a:t>(20);</a:t>
            </a:r>
          </a:p>
          <a:p>
            <a:pPr marL="400050" lvl="1" indent="0">
              <a:buNone/>
            </a:pPr>
            <a:r>
              <a:rPr lang="en-IN" sz="1800" dirty="0" err="1"/>
              <a:t>set.add</a:t>
            </a:r>
            <a:r>
              <a:rPr lang="en-IN" sz="1800" dirty="0"/>
              <a:t>(60);</a:t>
            </a:r>
          </a:p>
          <a:p>
            <a:pPr marL="400050" lvl="1" indent="0">
              <a:buNone/>
            </a:pPr>
            <a:r>
              <a:rPr lang="en-IN" sz="1800" dirty="0" err="1"/>
              <a:t>set.add</a:t>
            </a:r>
            <a:r>
              <a:rPr lang="en-IN" sz="1800" dirty="0"/>
              <a:t>(10);</a:t>
            </a:r>
          </a:p>
          <a:p>
            <a:pPr marL="400050" lvl="1" indent="0">
              <a:buNone/>
            </a:pPr>
            <a:r>
              <a:rPr lang="en-IN" sz="1800" dirty="0" err="1"/>
              <a:t>set.add</a:t>
            </a:r>
            <a:r>
              <a:rPr lang="en-IN" sz="1800" dirty="0"/>
              <a:t>(30);</a:t>
            </a:r>
          </a:p>
        </p:txBody>
      </p:sp>
    </p:spTree>
    <p:extLst>
      <p:ext uri="{BB962C8B-B14F-4D97-AF65-F5344CB8AC3E}">
        <p14:creationId xmlns:p14="http://schemas.microsoft.com/office/powerpoint/2010/main" val="39258348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2BE2-ED03-4A5B-D878-E424B361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E0CE-7CDF-A1F3-6454-9E51EA39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47B5A-FA90-280D-2C83-546CA3EC1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How </a:t>
            </a:r>
            <a:r>
              <a:rPr lang="en-US" sz="1600" b="1" dirty="0" err="1"/>
              <a:t>TreeSet</a:t>
            </a:r>
            <a:r>
              <a:rPr lang="en-US" sz="1600" b="1" dirty="0"/>
              <a:t> avoids duplicates</a:t>
            </a:r>
          </a:p>
          <a:p>
            <a:pPr marL="0" indent="0">
              <a:buNone/>
            </a:pPr>
            <a:r>
              <a:rPr lang="en-US" sz="1600" dirty="0"/>
              <a:t>Before inserting, it compares:</a:t>
            </a:r>
          </a:p>
          <a:p>
            <a:pPr marL="0" indent="0">
              <a:buNone/>
            </a:pPr>
            <a:r>
              <a:rPr lang="en-US" sz="1600" dirty="0" err="1"/>
              <a:t>newElement</a:t>
            </a:r>
            <a:r>
              <a:rPr lang="en-US" sz="1600" dirty="0"/>
              <a:t> vs </a:t>
            </a:r>
            <a:r>
              <a:rPr lang="en-US" sz="1600" dirty="0" err="1"/>
              <a:t>existingElement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Using: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compareTo</a:t>
            </a:r>
            <a:r>
              <a:rPr lang="en-US" sz="1600" dirty="0"/>
              <a:t>() OR</a:t>
            </a:r>
            <a:br>
              <a:rPr lang="en-US" sz="1600" dirty="0"/>
            </a:br>
            <a:r>
              <a:rPr lang="en-US" sz="1600" dirty="0"/>
              <a:t>• Comparator</a:t>
            </a:r>
          </a:p>
          <a:p>
            <a:pPr marL="0" indent="0">
              <a:buNone/>
            </a:pPr>
            <a:r>
              <a:rPr lang="en-US" sz="1600" dirty="0"/>
              <a:t>If result = 0 → ❌ not added (duplicate)</a:t>
            </a:r>
          </a:p>
          <a:p>
            <a:pPr marL="0" indent="0"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48012963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F566-97FF-63CF-C6CF-1068AA70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66D4-BC3B-E818-F408-66585B7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the internal working of </a:t>
            </a:r>
            <a:r>
              <a:rPr sz="2800" dirty="0" err="1">
                <a:highlight>
                  <a:srgbClr val="FFFF00"/>
                </a:highlight>
              </a:rPr>
              <a:t>TreeSet</a:t>
            </a:r>
            <a:r>
              <a:rPr sz="28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D9CE-C111-6815-F6E8-3B482A84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❌ When removing elements:</a:t>
            </a:r>
          </a:p>
          <a:p>
            <a:pPr marL="0" indent="0">
              <a:buNone/>
            </a:pPr>
            <a:r>
              <a:rPr lang="en-US" sz="1600" dirty="0"/>
              <a:t>Remove </a:t>
            </a:r>
            <a:r>
              <a:rPr lang="en-US" sz="1600" b="1" dirty="0"/>
              <a:t>20</a:t>
            </a:r>
          </a:p>
          <a:p>
            <a:pPr marL="0" indent="0">
              <a:buNone/>
            </a:pPr>
            <a:r>
              <a:rPr lang="en-US" sz="1600" dirty="0"/>
              <a:t>Before:</a:t>
            </a:r>
          </a:p>
          <a:p>
            <a:pPr marL="0" indent="0">
              <a:buNone/>
            </a:pPr>
            <a:r>
              <a:rPr lang="en-US" sz="1600" dirty="0"/>
              <a:t>        40</a:t>
            </a:r>
          </a:p>
          <a:p>
            <a:pPr marL="0" indent="0">
              <a:buNone/>
            </a:pPr>
            <a:r>
              <a:rPr lang="en-US" sz="1600" dirty="0"/>
              <a:t>       /  \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b="1" dirty="0"/>
              <a:t> 20    </a:t>
            </a:r>
            <a:r>
              <a:rPr lang="en-US" sz="1600" dirty="0"/>
              <a:t>60</a:t>
            </a:r>
          </a:p>
          <a:p>
            <a:pPr marL="0" indent="0">
              <a:buNone/>
            </a:pPr>
            <a:r>
              <a:rPr lang="en-US" sz="1600" dirty="0"/>
              <a:t>    /  \</a:t>
            </a:r>
          </a:p>
          <a:p>
            <a:pPr marL="0" indent="0">
              <a:buNone/>
            </a:pPr>
            <a:r>
              <a:rPr lang="en-US" sz="1600" dirty="0"/>
              <a:t>  10   30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After re-balance:</a:t>
            </a:r>
          </a:p>
          <a:p>
            <a:pPr marL="0" indent="0">
              <a:buNone/>
            </a:pPr>
            <a:r>
              <a:rPr lang="en-US" sz="1600" dirty="0"/>
              <a:t>        40</a:t>
            </a:r>
          </a:p>
          <a:p>
            <a:pPr marL="0" indent="0">
              <a:buNone/>
            </a:pPr>
            <a:r>
              <a:rPr lang="en-US" sz="1600" dirty="0"/>
              <a:t>       /  \</a:t>
            </a:r>
          </a:p>
          <a:p>
            <a:pPr marL="0" indent="0">
              <a:buNone/>
            </a:pPr>
            <a:r>
              <a:rPr lang="en-US" sz="1600" dirty="0"/>
              <a:t>     30    60</a:t>
            </a:r>
          </a:p>
          <a:p>
            <a:pPr marL="0" indent="0">
              <a:buNone/>
            </a:pPr>
            <a:r>
              <a:rPr lang="en-US" sz="1600" dirty="0"/>
              <a:t>    /</a:t>
            </a:r>
          </a:p>
          <a:p>
            <a:pPr marL="0" indent="0">
              <a:buNone/>
            </a:pPr>
            <a:r>
              <a:rPr lang="en-US" sz="1600" dirty="0"/>
              <a:t>  10</a:t>
            </a:r>
          </a:p>
          <a:p>
            <a:pPr marL="0" indent="0">
              <a:buNone/>
            </a:pPr>
            <a:r>
              <a:rPr lang="en-US" sz="1600" dirty="0"/>
              <a:t>(Tree fixes structure automatically)</a:t>
            </a:r>
          </a:p>
        </p:txBody>
      </p:sp>
    </p:spTree>
    <p:extLst>
      <p:ext uri="{BB962C8B-B14F-4D97-AF65-F5344CB8AC3E}">
        <p14:creationId xmlns:p14="http://schemas.microsoft.com/office/powerpoint/2010/main" val="4104751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fail-fast and fail-safe iterators?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Fail-fast throws exception; fail-safe works on copy.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ArrayList vs LinkedList – performance comparison?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ArrayList is faster for reads; LinkedList for insert/delete.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Comparable vs Comparator – when to use which?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Comparable defines natural order; Comparator defines custom order.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does TreeSet maintain sorting internally?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 Red-Black Tree structure.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happens if hashCode() always returns the same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degrades to O(n).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 Serialization?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object state into byte stream.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transient keyword?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prevents fields from being serialized.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are the problems with Java Serialization?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risks, performance issues, versioning problems.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Serializable and Externalizable?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Externalizable gives full control over serialization.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When should serialization be avoided?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high-performance or security-critical systems.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start() and run()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start() creates a new thread; run() executes normally.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 the thread lifecycle states.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→ Runnable → Running → Waiting/Blocked → Terminated.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synchronization and why is it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prevents data inconsistency in multi-threaded code.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synchronized method and synchronized block?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Synchronized block gives finer control.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deadlock? How can it be prevented?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Threads wait forever; prevent via lock ordering or timeout.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does the volatile keyword guarantee?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guarantees visibility, not atomicity.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volatile and synchronized?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volatile ensures visibility; synchronized ensures mutual exclusion.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visibility and atomicity?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Visibility means updated value is seen; atomicity means operation is indivisible.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does ConcurrentHashMap achieve thread safety?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CAS and fine-grained locking.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is volatile not a replacement for synchronization?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does not guarantee atomic operations.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Explain the Singleton design pattern and its problems.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one instance; issues with threading, reflection.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do you create a thread-safe Singleton?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enum or double-checked locking.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is Enum Singleton preferred over other approaches?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safe from reflection and serialization.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Difference between Factory and Abstract Factory patterns?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Factory creates one object; Abstract Factory creates families.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Where have you used the Abstract Factory pattern in real projects?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payment gateways, notification systems, or multi-DB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3483</TotalTime>
  <Words>2525</Words>
  <Application>Microsoft Office PowerPoint</Application>
  <PresentationFormat>On-screen Show (4:3)</PresentationFormat>
  <Paragraphs>384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Wingdings</vt:lpstr>
      <vt:lpstr>Office Theme</vt:lpstr>
      <vt:lpstr>Explain OOPs principles with real project examples.</vt:lpstr>
      <vt:lpstr>Difference between abstraction and encapsulation?</vt:lpstr>
      <vt:lpstr>Difference between method overloading and method overriding?</vt:lpstr>
      <vt:lpstr>Can we override a static method? Why or why not?</vt:lpstr>
      <vt:lpstr>Difference between abstract class and interface after Java 8?</vt:lpstr>
      <vt:lpstr>Why is multiple inheritance not supported in Java classes?</vt:lpstr>
      <vt:lpstr>Explain the role of Object class in Java.</vt:lpstr>
      <vt:lpstr>Why must equals() and hashCode() be overridden together?</vt:lpstr>
      <vt:lpstr>What is the use of functional interface?</vt:lpstr>
      <vt:lpstr>How to resolve diamond problem in java in interface level?</vt:lpstr>
      <vt:lpstr>Difference between JDK, JRE, and JVM?</vt:lpstr>
      <vt:lpstr>What happens internally when you create an object in Java?</vt:lpstr>
      <vt:lpstr>Explain the static keyword in terms of memory allocation.</vt:lpstr>
      <vt:lpstr>Why is static not allowed on local variables?</vt:lpstr>
      <vt:lpstr>Explain the class loading process at a high level.</vt:lpstr>
      <vt:lpstr>Why is String immutable in Java?</vt:lpstr>
      <vt:lpstr>Difference between StringBuilder and StringBuffer?</vt:lpstr>
      <vt:lpstr>Checked vs unchecked exceptions – when do you use each?</vt:lpstr>
      <vt:lpstr>What is try-with-resources and why is it preferred?</vt:lpstr>
      <vt:lpstr>How do you design custom exceptions in Java?</vt:lpstr>
      <vt:lpstr>Difference between List, Set, and Map?</vt:lpstr>
      <vt:lpstr>Explain the internal working of HashMap.</vt:lpstr>
      <vt:lpstr>Explain the internal working of HashMap.</vt:lpstr>
      <vt:lpstr>Explain the internal working of HashMap.</vt:lpstr>
      <vt:lpstr>Explain the internal working of HashMap.</vt:lpstr>
      <vt:lpstr>Explain the internal working of HashMap.</vt:lpstr>
      <vt:lpstr>Explain the internal working of HashMap.</vt:lpstr>
      <vt:lpstr>Difference between HashMap and ConcurrentHashMap?</vt:lpstr>
      <vt:lpstr>Why does HashMap allow one null key?</vt:lpstr>
      <vt:lpstr>Explain the internal working of TreeSet.</vt:lpstr>
      <vt:lpstr>Explain the internal working of TreeSet.</vt:lpstr>
      <vt:lpstr>Explain the internal working of TreeSet.</vt:lpstr>
      <vt:lpstr>Explain the internal working of TreeSet.</vt:lpstr>
      <vt:lpstr>Explain the internal working of TreeSet.</vt:lpstr>
      <vt:lpstr>Explain the internal working of TreeSet.</vt:lpstr>
      <vt:lpstr>Difference between fail-fast and fail-safe iterators?</vt:lpstr>
      <vt:lpstr>ArrayList vs LinkedList – performance comparison?</vt:lpstr>
      <vt:lpstr>Comparable vs Comparator – when to use which?</vt:lpstr>
      <vt:lpstr>How does TreeSet maintain sorting internally?</vt:lpstr>
      <vt:lpstr>What happens if hashCode() always returns the same value?</vt:lpstr>
      <vt:lpstr>What is Java Serialization?</vt:lpstr>
      <vt:lpstr>Purpose of the transient keyword?</vt:lpstr>
      <vt:lpstr>What are the problems with Java Serialization?</vt:lpstr>
      <vt:lpstr>Difference between Serializable and Externalizable?</vt:lpstr>
      <vt:lpstr>When should serialization be avoided?</vt:lpstr>
      <vt:lpstr>Difference between start() and run() methods?</vt:lpstr>
      <vt:lpstr>Explain the thread lifecycle states.</vt:lpstr>
      <vt:lpstr>What is synchronization and why is it needed?</vt:lpstr>
      <vt:lpstr>Difference between synchronized method and synchronized block?</vt:lpstr>
      <vt:lpstr>What is deadlock? How can it be prevented?</vt:lpstr>
      <vt:lpstr>What does the volatile keyword guarantee?</vt:lpstr>
      <vt:lpstr>Difference between volatile and synchronized?</vt:lpstr>
      <vt:lpstr>Difference between visibility and atomicity?</vt:lpstr>
      <vt:lpstr>How does ConcurrentHashMap achieve thread safety?</vt:lpstr>
      <vt:lpstr>Why is volatile not a replacement for synchronization?</vt:lpstr>
      <vt:lpstr>Explain the Singleton design pattern and its problems.</vt:lpstr>
      <vt:lpstr>How do you create a thread-safe Singleton?</vt:lpstr>
      <vt:lpstr>Why is Enum Singleton preferred over other approaches?</vt:lpstr>
      <vt:lpstr>Difference between Factory and Abstract Factory patterns?</vt:lpstr>
      <vt:lpstr>Where have you used the Abstract Factory pattern in real projects?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44</cp:revision>
  <dcterms:created xsi:type="dcterms:W3CDTF">2013-01-27T09:14:16Z</dcterms:created>
  <dcterms:modified xsi:type="dcterms:W3CDTF">2026-01-28T18:25:19Z</dcterms:modified>
  <cp:category/>
</cp:coreProperties>
</file>