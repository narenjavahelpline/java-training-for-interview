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3" r:id="rId7"/>
    <p:sldId id="285" r:id="rId8"/>
    <p:sldId id="271" r:id="rId9"/>
    <p:sldId id="268" r:id="rId10"/>
    <p:sldId id="286" r:id="rId11"/>
    <p:sldId id="28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Quarkus</a:t>
            </a:r>
            <a:r>
              <a:rPr b="1" dirty="0"/>
              <a:t> vs Spring Boot</a:t>
            </a:r>
          </a:p>
        </p:txBody>
      </p:sp>
      <p:pic>
        <p:nvPicPr>
          <p:cNvPr id="1026" name="Picture 2" descr="No alternative text description for this image">
            <a:extLst>
              <a:ext uri="{FF2B5EF4-FFF2-40B4-BE49-F238E27FC236}">
                <a16:creationId xmlns:a16="http://schemas.microsoft.com/office/drawing/2014/main" id="{77A931D6-D433-EDEE-9D7D-3345CD2E01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405" y="1600200"/>
            <a:ext cx="679319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ED4BB6-23E6-5800-3D31-632574A30A71}"/>
              </a:ext>
            </a:extLst>
          </p:cNvPr>
          <p:cNvSpPr txBox="1"/>
          <p:nvPr/>
        </p:nvSpPr>
        <p:spPr>
          <a:xfrm>
            <a:off x="1175405" y="5483027"/>
            <a:ext cx="7027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Which One Should You Learn in 2026?</a:t>
            </a:r>
            <a:endParaRPr lang="en-IN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🚀 </a:t>
            </a:r>
            <a:r>
              <a:rPr lang="en-IN" b="1" dirty="0"/>
              <a:t>What You’ll Learn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Spring Boot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Quarkus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Key Differences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to Use What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Spring Boot?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🔥 Most Popular Java Framework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🏢 Widely Used in Top Companies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🧩 Auto Configuration Built-in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🌍 Huge Community Support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🚀 Easy to Learn &amp; Get Started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	💡 </a:t>
            </a:r>
            <a:r>
              <a:rPr lang="en-US" sz="2000" i="1" dirty="0"/>
              <a:t>Code less. Build faster. Scale better.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🚀 </a:t>
            </a:r>
            <a:r>
              <a:rPr lang="en-IN" b="1" dirty="0"/>
              <a:t>What is </a:t>
            </a:r>
            <a:r>
              <a:rPr lang="en-IN" b="1" dirty="0" err="1"/>
              <a:t>Quarkus</a:t>
            </a:r>
            <a:r>
              <a:rPr lang="en-IN" b="1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⚡ Super Fast Startup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⚡ Low Memory Usage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☁️ Built for Cloud &amp; Kubernetes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🧩 Reactive &amp; Non-Blocking by Design</a:t>
            </a: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r>
              <a:rPr lang="en-IN" sz="2000" dirty="0"/>
              <a:t>🐳 Perfect for Containers &amp; Serverless</a:t>
            </a: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r>
              <a:rPr lang="en-US" sz="2000" dirty="0"/>
              <a:t>💡 </a:t>
            </a:r>
            <a:r>
              <a:rPr lang="en-US" sz="2000" i="1" dirty="0"/>
              <a:t>Run Java faster. Scale smarter. Go cloud-native.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600" b="1" dirty="0"/>
              <a:t>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4800" b="1" dirty="0"/>
              <a:t>Spring Boot = 🚛 Truck</a:t>
            </a:r>
          </a:p>
          <a:p>
            <a:pPr marL="0" indent="0">
              <a:buNone/>
            </a:pPr>
            <a:br>
              <a:rPr lang="en-IN" sz="4800" dirty="0"/>
            </a:br>
            <a:r>
              <a:rPr lang="en-IN" sz="4800" b="1" dirty="0" err="1"/>
              <a:t>Quarkus</a:t>
            </a:r>
            <a:r>
              <a:rPr lang="en-IN" sz="4800" b="1" dirty="0"/>
              <a:t> = 🏍️ Bike</a:t>
            </a:r>
            <a:endParaRPr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68E5C-3EB6-9729-4675-46E45945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A6FC-160F-E763-BA2C-06F0C1A48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	Key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0222B-5168-D0C8-4E03-58B69C217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	</a:t>
            </a:r>
            <a:r>
              <a:rPr lang="en-IN" sz="2400" b="1" dirty="0"/>
              <a:t>Spring Boot vs </a:t>
            </a:r>
            <a:r>
              <a:rPr lang="en-IN" sz="2400" b="1" dirty="0" err="1"/>
              <a:t>Quarkus</a:t>
            </a:r>
            <a:endParaRPr lang="en-IN" sz="2400" dirty="0"/>
          </a:p>
          <a:p>
            <a:pPr marL="800100" lvl="2" indent="0">
              <a:buNone/>
            </a:pPr>
            <a:r>
              <a:rPr lang="en-IN" dirty="0"/>
              <a:t>Startup → </a:t>
            </a:r>
            <a:r>
              <a:rPr lang="en-IN" dirty="0" err="1"/>
              <a:t>Quarkus</a:t>
            </a:r>
            <a:r>
              <a:rPr lang="en-IN" dirty="0"/>
              <a:t> ⚡ </a:t>
            </a:r>
          </a:p>
          <a:p>
            <a:pPr marL="800100" lvl="2" indent="0">
              <a:buNone/>
            </a:pPr>
            <a:r>
              <a:rPr lang="en-IN" dirty="0"/>
              <a:t>Memory → </a:t>
            </a:r>
            <a:r>
              <a:rPr lang="en-IN" dirty="0" err="1"/>
              <a:t>Quarkus</a:t>
            </a:r>
            <a:r>
              <a:rPr lang="en-IN" dirty="0"/>
              <a:t> </a:t>
            </a:r>
          </a:p>
          <a:p>
            <a:pPr marL="800100" lvl="2" indent="0">
              <a:buNone/>
            </a:pPr>
            <a:r>
              <a:rPr lang="en-IN" dirty="0"/>
              <a:t>Community → Spring Boot 🌍 </a:t>
            </a:r>
          </a:p>
          <a:p>
            <a:pPr marL="800100" lvl="2" indent="0">
              <a:buNone/>
            </a:pPr>
            <a:r>
              <a:rPr lang="en-IN" dirty="0"/>
              <a:t>Learning → Spring Boot </a:t>
            </a:r>
          </a:p>
          <a:p>
            <a:pPr marL="800100" lvl="2" indent="0">
              <a:buNone/>
            </a:pPr>
            <a:r>
              <a:rPr lang="en-IN" dirty="0"/>
              <a:t>💡 </a:t>
            </a:r>
            <a:r>
              <a:rPr lang="en-IN" i="1" dirty="0"/>
              <a:t>Right tool depends on use case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086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BCCEA-574D-831A-0D56-21416030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81065-AF9A-DEAA-4FDC-BA4B13B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🚀 When to Use </a:t>
            </a:r>
            <a:r>
              <a:rPr lang="en-US" b="1" dirty="0"/>
              <a:t>Spring Boot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F31B9-053B-D85A-AAC5-725FF40A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Enterprise Applications</a:t>
            </a:r>
          </a:p>
          <a:p>
            <a:r>
              <a:rPr lang="en-US" sz="2800" dirty="0"/>
              <a:t>Banking / Large Systems</a:t>
            </a:r>
          </a:p>
          <a:p>
            <a:r>
              <a:rPr lang="en-US" sz="2800" dirty="0"/>
              <a:t>Rich Features Needed</a:t>
            </a:r>
          </a:p>
          <a:p>
            <a:r>
              <a:rPr lang="en-US" sz="2800" dirty="0"/>
              <a:t>Team already knows Spring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697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AA80B-1CE7-7DB9-C351-73AAD00D4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95551-647C-5CEA-1C73-3C21AC03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⚡ When to Use </a:t>
            </a:r>
            <a:r>
              <a:rPr lang="en-IN" b="1" dirty="0" err="1"/>
              <a:t>Quarkus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AAB8F-705A-0698-18BA-05E46D666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65944"/>
            <a:ext cx="4038600" cy="52218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Use </a:t>
            </a:r>
            <a:r>
              <a:rPr lang="en-IN" sz="1400" b="1" dirty="0" err="1"/>
              <a:t>Quarkus</a:t>
            </a:r>
            <a:r>
              <a:rPr lang="en-IN" sz="1400" dirty="0"/>
              <a:t> when performance and cloud-native efficiency matter.</a:t>
            </a:r>
          </a:p>
          <a:p>
            <a:pPr marL="0" indent="0">
              <a:buNone/>
            </a:pPr>
            <a:r>
              <a:rPr lang="en-IN" sz="1400" b="1" dirty="0"/>
              <a:t>✅ Best for:</a:t>
            </a:r>
          </a:p>
          <a:p>
            <a:pPr marL="0" indent="0">
              <a:buNone/>
            </a:pPr>
            <a:r>
              <a:rPr lang="en-IN" sz="1400" b="1" dirty="0"/>
              <a:t>1. Cloud-Native &amp; Kubernetes Apps</a:t>
            </a:r>
          </a:p>
          <a:p>
            <a:pPr marL="0" indent="0">
              <a:buNone/>
            </a:pPr>
            <a:r>
              <a:rPr lang="en-IN" sz="1400" dirty="0"/>
              <a:t>Containers</a:t>
            </a:r>
          </a:p>
          <a:p>
            <a:pPr marL="0" indent="0">
              <a:buNone/>
            </a:pPr>
            <a:r>
              <a:rPr lang="en-IN" sz="1400" dirty="0"/>
              <a:t>Auto-scaling microservices</a:t>
            </a:r>
          </a:p>
          <a:p>
            <a:pPr marL="0" indent="0">
              <a:buNone/>
            </a:pPr>
            <a:r>
              <a:rPr lang="en-IN" sz="1400" dirty="0"/>
              <a:t>👉 Why?</a:t>
            </a:r>
          </a:p>
          <a:p>
            <a:pPr marL="0" indent="0">
              <a:buNone/>
            </a:pPr>
            <a:r>
              <a:rPr lang="en-IN" sz="1400" dirty="0"/>
              <a:t>Designed for Kubernetes</a:t>
            </a:r>
          </a:p>
          <a:p>
            <a:pPr marL="0" indent="0">
              <a:buNone/>
            </a:pPr>
            <a:r>
              <a:rPr lang="en-IN" sz="1400" dirty="0"/>
              <a:t>Fast startup (milliseconds)</a:t>
            </a:r>
          </a:p>
          <a:p>
            <a:pPr marL="0" indent="0">
              <a:buNone/>
            </a:pP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2. Serverless / Functions</a:t>
            </a:r>
          </a:p>
          <a:p>
            <a:pPr marL="0" indent="0">
              <a:buNone/>
            </a:pPr>
            <a:r>
              <a:rPr lang="en-IN" sz="1400" dirty="0"/>
              <a:t>AWS Lambda / GCP Functions</a:t>
            </a:r>
          </a:p>
          <a:p>
            <a:pPr marL="0" indent="0">
              <a:buNone/>
            </a:pPr>
            <a:r>
              <a:rPr lang="en-IN" sz="1400" dirty="0"/>
              <a:t>👉 Benefit:</a:t>
            </a:r>
          </a:p>
          <a:p>
            <a:pPr marL="0" indent="0">
              <a:buNone/>
            </a:pPr>
            <a:r>
              <a:rPr lang="en-IN" sz="1400" dirty="0"/>
              <a:t>Low cold start time</a:t>
            </a:r>
          </a:p>
          <a:p>
            <a:pPr marL="0" indent="0">
              <a:buNone/>
            </a:pPr>
            <a:r>
              <a:rPr lang="en-IN" sz="1400" dirty="0"/>
              <a:t>Less memory usage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89C0F-3CC8-82CC-791C-2409B507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166018"/>
            <a:ext cx="4114800" cy="47929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400" b="1" dirty="0"/>
              <a:t>3. High Performance APIs</a:t>
            </a:r>
          </a:p>
          <a:p>
            <a:pPr marL="0" indent="0">
              <a:buNone/>
            </a:pPr>
            <a:r>
              <a:rPr lang="en-IN" sz="1400" dirty="0"/>
              <a:t>Reactive systems</a:t>
            </a:r>
          </a:p>
          <a:p>
            <a:pPr marL="0" indent="0">
              <a:buNone/>
            </a:pPr>
            <a:r>
              <a:rPr lang="en-IN" sz="1400" dirty="0"/>
              <a:t>Event-driven architecture</a:t>
            </a:r>
          </a:p>
          <a:p>
            <a:pPr marL="0" indent="0">
              <a:buNone/>
            </a:pPr>
            <a:r>
              <a:rPr lang="en-IN" sz="1400" dirty="0"/>
              <a:t>👉 Built with:</a:t>
            </a:r>
          </a:p>
          <a:p>
            <a:pPr marL="0" indent="0">
              <a:buNone/>
            </a:pPr>
            <a:r>
              <a:rPr lang="en-IN" sz="1400" dirty="0" err="1"/>
              <a:t>Vert.x</a:t>
            </a:r>
            <a:r>
              <a:rPr lang="en-IN" sz="1400" dirty="0"/>
              <a:t> (non-blocking)</a:t>
            </a:r>
          </a:p>
          <a:p>
            <a:pPr marL="0" indent="0">
              <a:buNone/>
            </a:pPr>
            <a:r>
              <a:rPr lang="en-IN" sz="1400" dirty="0"/>
              <a:t>Reactive programming model</a:t>
            </a:r>
          </a:p>
          <a:p>
            <a:pPr marL="0" indent="0">
              <a:buNone/>
            </a:pP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4. DevOps-Heavy Environments</a:t>
            </a:r>
          </a:p>
          <a:p>
            <a:pPr marL="0" indent="0">
              <a:buNone/>
            </a:pPr>
            <a:r>
              <a:rPr lang="en-IN" sz="1400" dirty="0"/>
              <a:t>CI/CD pipelines</a:t>
            </a:r>
          </a:p>
          <a:p>
            <a:pPr marL="0" indent="0">
              <a:buNone/>
            </a:pPr>
            <a:r>
              <a:rPr lang="en-IN" sz="1400" dirty="0"/>
              <a:t>Docker-first workflows</a:t>
            </a:r>
          </a:p>
          <a:p>
            <a:pPr marL="0" indent="0">
              <a:buNone/>
            </a:pPr>
            <a:r>
              <a:rPr lang="en-IN" sz="1400" dirty="0"/>
              <a:t>👉 Features:</a:t>
            </a:r>
          </a:p>
          <a:p>
            <a:pPr marL="0" indent="0">
              <a:buNone/>
            </a:pPr>
            <a:r>
              <a:rPr lang="en-IN" sz="1400" dirty="0"/>
              <a:t>Live reload</a:t>
            </a:r>
          </a:p>
          <a:p>
            <a:pPr marL="0" indent="0">
              <a:buNone/>
            </a:pPr>
            <a:r>
              <a:rPr lang="en-IN" sz="1400" dirty="0"/>
              <a:t>Small container images</a:t>
            </a:r>
          </a:p>
          <a:p>
            <a:pPr marL="0" indent="0">
              <a:buNone/>
            </a:pP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⚠️ Not Ideal When:</a:t>
            </a:r>
          </a:p>
          <a:p>
            <a:pPr marL="0" indent="0">
              <a:buNone/>
            </a:pPr>
            <a:r>
              <a:rPr lang="en-IN" sz="1400" dirty="0"/>
              <a:t>Your team is new to it</a:t>
            </a:r>
          </a:p>
          <a:p>
            <a:pPr marL="0" indent="0">
              <a:buNone/>
            </a:pPr>
            <a:r>
              <a:rPr lang="en-IN" sz="1400" dirty="0"/>
              <a:t>You need heavy Spring ecosystem features</a:t>
            </a:r>
          </a:p>
        </p:txBody>
      </p:sp>
    </p:spTree>
    <p:extLst>
      <p:ext uri="{BB962C8B-B14F-4D97-AF65-F5344CB8AC3E}">
        <p14:creationId xmlns:p14="http://schemas.microsoft.com/office/powerpoint/2010/main" val="68701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47624-BE50-2A53-CB6C-223931DA6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🚫 </a:t>
            </a:r>
            <a:r>
              <a:rPr lang="en-US" b="1" dirty="0"/>
              <a:t>When NOT to Use </a:t>
            </a:r>
            <a:r>
              <a:rPr lang="en-US" b="1" dirty="0" err="1"/>
              <a:t>Quarkus</a:t>
            </a:r>
            <a:r>
              <a:rPr lang="en-US" b="1" dirty="0"/>
              <a:t>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716DC-DC4B-0535-21F9-BE3BFD9A6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🏢 </a:t>
            </a:r>
            <a:r>
              <a:rPr lang="en-US" sz="2000" b="1" dirty="0"/>
              <a:t>Traditional Monolithic Applications</a:t>
            </a:r>
            <a:br>
              <a:rPr lang="en-US" sz="2000" dirty="0"/>
            </a:br>
            <a:r>
              <a:rPr lang="en-US" sz="2000" dirty="0"/>
              <a:t>Spring Boot is often simpler &amp; more mature here</a:t>
            </a:r>
          </a:p>
          <a:p>
            <a:pPr marL="0" indent="0">
              <a:buNone/>
            </a:pPr>
            <a:r>
              <a:rPr lang="en-US" sz="2000" dirty="0"/>
              <a:t>📚 </a:t>
            </a:r>
            <a:r>
              <a:rPr lang="en-US" sz="2000" b="1" dirty="0"/>
              <a:t>Need Large Ecosystem Support</a:t>
            </a:r>
            <a:br>
              <a:rPr lang="en-US" sz="2000" dirty="0"/>
            </a:br>
            <a:r>
              <a:rPr lang="en-US" sz="2000" dirty="0"/>
              <a:t>Spring has a much larger ecosystem &amp; integrations</a:t>
            </a:r>
          </a:p>
          <a:p>
            <a:pPr marL="0" indent="0">
              <a:buNone/>
            </a:pPr>
            <a:r>
              <a:rPr lang="en-US" sz="2000" dirty="0"/>
              <a:t>👨‍💻 </a:t>
            </a:r>
            <a:r>
              <a:rPr lang="en-US" sz="2000" b="1" dirty="0"/>
              <a:t>Team is Already Deep into Spring</a:t>
            </a:r>
            <a:br>
              <a:rPr lang="en-US" sz="2000" dirty="0"/>
            </a:br>
            <a:r>
              <a:rPr lang="en-US" sz="2000" dirty="0"/>
              <a:t>Switching may reduce productivity initially</a:t>
            </a:r>
          </a:p>
          <a:p>
            <a:pPr marL="0" indent="0">
              <a:buNone/>
            </a:pPr>
            <a:r>
              <a:rPr lang="en-US" sz="2000" dirty="0"/>
              <a:t>🧩 </a:t>
            </a:r>
            <a:r>
              <a:rPr lang="en-US" sz="2000" b="1" dirty="0"/>
              <a:t>Simple CRUD Applications</a:t>
            </a:r>
            <a:br>
              <a:rPr lang="en-US" sz="2000" dirty="0"/>
            </a:br>
            <a:r>
              <a:rPr lang="en-US" sz="2000" dirty="0" err="1"/>
              <a:t>Quarkus</a:t>
            </a:r>
            <a:r>
              <a:rPr lang="en-US" sz="2000" dirty="0"/>
              <a:t> might feel like over-optimization</a:t>
            </a:r>
          </a:p>
          <a:p>
            <a:pPr marL="0" indent="0">
              <a:buNone/>
            </a:pPr>
            <a:r>
              <a:rPr lang="en-US" sz="2000" dirty="0"/>
              <a:t>⏳</a:t>
            </a:r>
            <a:r>
              <a:rPr lang="en-IN" sz="2000" b="1" dirty="0"/>
              <a:t>No performance need</a:t>
            </a:r>
            <a:br>
              <a:rPr lang="en-US" sz="2000" dirty="0"/>
            </a:br>
            <a:r>
              <a:rPr lang="en-US" sz="2000" dirty="0" err="1"/>
              <a:t>Quarkus</a:t>
            </a:r>
            <a:r>
              <a:rPr lang="en-US" sz="2000" dirty="0"/>
              <a:t> strengths won’t add much value</a:t>
            </a:r>
          </a:p>
          <a:p>
            <a:pPr marL="0" indent="0">
              <a:buNone/>
            </a:pPr>
            <a:r>
              <a:rPr lang="en-US" sz="2000" dirty="0"/>
              <a:t>🔌 </a:t>
            </a:r>
            <a:r>
              <a:rPr lang="en-US" sz="2000" b="1" dirty="0"/>
              <a:t>Heavy Dependency on Spring Features</a:t>
            </a:r>
            <a:br>
              <a:rPr lang="en-US" sz="2000" dirty="0"/>
            </a:br>
            <a:r>
              <a:rPr lang="en-US" sz="2000" dirty="0"/>
              <a:t>Rewriting or adapting may take extra effort</a:t>
            </a:r>
          </a:p>
          <a:p>
            <a:pPr marL="0" indent="0">
              <a:buNone/>
            </a:pPr>
            <a:r>
              <a:rPr lang="en-US" sz="2000" dirty="0"/>
              <a:t> 💡 </a:t>
            </a:r>
            <a:r>
              <a:rPr lang="en-US" sz="2000" i="1" dirty="0"/>
              <a:t>Choose </a:t>
            </a:r>
            <a:r>
              <a:rPr lang="en-US" sz="2000" i="1" dirty="0" err="1"/>
              <a:t>Quarkus</a:t>
            </a:r>
            <a:r>
              <a:rPr lang="en-US" sz="2000" i="1" dirty="0"/>
              <a:t> for performance &amp; cloud-native needs — not for every    	project.</a:t>
            </a: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41617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CE58-057A-7A49-6898-FCF30B59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F96F-EF5A-EAB4-1EAE-2852BB2C7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Final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744B8-AF39-D99D-AC44-46A08E21A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👉 Beginner → Spring Boot</a:t>
            </a:r>
            <a:br>
              <a:rPr lang="en-IN" sz="2000" dirty="0"/>
            </a:br>
            <a:r>
              <a:rPr lang="en-IN" sz="2000" dirty="0"/>
              <a:t>👉 Cloud / Performance → </a:t>
            </a:r>
            <a:r>
              <a:rPr lang="en-IN" sz="2000" dirty="0" err="1"/>
              <a:t>Quarkus</a:t>
            </a:r>
            <a:br>
              <a:rPr lang="en-IN" sz="2000" dirty="0"/>
            </a:br>
            <a:r>
              <a:rPr lang="en-IN" sz="2000" dirty="0"/>
              <a:t>👉 Best Developers → Learn Both</a:t>
            </a:r>
          </a:p>
        </p:txBody>
      </p:sp>
    </p:spTree>
    <p:extLst>
      <p:ext uri="{BB962C8B-B14F-4D97-AF65-F5344CB8AC3E}">
        <p14:creationId xmlns:p14="http://schemas.microsoft.com/office/powerpoint/2010/main" val="1262858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E16E-A159-7AF9-CFFD-B3EEECA3D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4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N" sz="4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sz="4500" b="1" dirty="0">
                <a:solidFill>
                  <a:srgbClr val="0070C0"/>
                </a:solidFill>
              </a:rPr>
              <a:t>          Thank you….</a:t>
            </a:r>
          </a:p>
        </p:txBody>
      </p:sp>
    </p:spTree>
    <p:extLst>
      <p:ext uri="{BB962C8B-B14F-4D97-AF65-F5344CB8AC3E}">
        <p14:creationId xmlns:p14="http://schemas.microsoft.com/office/powerpoint/2010/main" val="30584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419</Words>
  <Application>Microsoft Office PowerPoint</Application>
  <PresentationFormat>On-screen Show (4:3)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Quarkus vs Spring Boot</vt:lpstr>
      <vt:lpstr>🚀 What You’ll Learn</vt:lpstr>
      <vt:lpstr>What is Spring Boot?</vt:lpstr>
      <vt:lpstr>🚀 What is Quarkus?</vt:lpstr>
      <vt:lpstr>Analogy</vt:lpstr>
      <vt:lpstr> Key Difference</vt:lpstr>
      <vt:lpstr>🚀 When to Use Spring Boot</vt:lpstr>
      <vt:lpstr>⚡ When to Use Quarkus</vt:lpstr>
      <vt:lpstr>🚫 When NOT to Use Quarkus? </vt:lpstr>
      <vt:lpstr>Final Takeaway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Narendra Sahoo</dc:creator>
  <cp:keywords/>
  <dc:description>generated using python-pptx</dc:description>
  <cp:lastModifiedBy>Narendra Sahoo</cp:lastModifiedBy>
  <cp:revision>34</cp:revision>
  <dcterms:created xsi:type="dcterms:W3CDTF">2013-01-27T09:14:16Z</dcterms:created>
  <dcterms:modified xsi:type="dcterms:W3CDTF">2026-04-06T18:50:18Z</dcterms:modified>
  <cp:category/>
</cp:coreProperties>
</file>